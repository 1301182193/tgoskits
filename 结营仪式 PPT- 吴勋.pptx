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72" r:id="rId11"/>
    <p:sldId id="281" r:id="rId12"/>
    <p:sldId id="273" r:id="rId13"/>
    <p:sldId id="274" r:id="rId14"/>
    <p:sldId id="275" r:id="rId15"/>
    <p:sldId id="282" r:id="rId16"/>
    <p:sldId id="283" r:id="rId17"/>
    <p:sldId id="284" r:id="rId18"/>
    <p:sldId id="285" r:id="rId19"/>
    <p:sldId id="289" r:id="rId20"/>
    <p:sldId id="287" r:id="rId21"/>
    <p:sldId id="288" r:id="rId22"/>
    <p:sldId id="276" r:id="rId23"/>
    <p:sldId id="277" r:id="rId24"/>
  </p:sldIdLst>
  <p:sldSz cx="18288000" cy="10287000"/>
  <p:notesSz cx="6858000" cy="9144000"/>
  <p:embeddedFontLst>
    <p:embeddedFont>
      <p:font typeface="SimHei" panose="02010609060101010101" pitchFamily="49" charset="-122"/>
      <p:regular r:id="rId26"/>
    </p:embeddedFont>
    <p:embeddedFont>
      <p:font typeface="Archivo Black" panose="020B0A03020202020B04" pitchFamily="34" charset="0"/>
      <p:regular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Montserrat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90"/>
    <p:restoredTop sz="94658"/>
  </p:normalViewPr>
  <p:slideViewPr>
    <p:cSldViewPr snapToGrid="0">
      <p:cViewPr varScale="1">
        <p:scale>
          <a:sx n="80" d="100"/>
          <a:sy n="80" d="100"/>
        </p:scale>
        <p:origin x="58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3E73FB31-80A1-B99D-AA75-7DC0C046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9:notes">
            <a:extLst>
              <a:ext uri="{FF2B5EF4-FFF2-40B4-BE49-F238E27FC236}">
                <a16:creationId xmlns:a16="http://schemas.microsoft.com/office/drawing/2014/main" id="{DBE8EF48-41A1-710A-9EC3-B8CB3FB57E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19:notes">
            <a:extLst>
              <a:ext uri="{FF2B5EF4-FFF2-40B4-BE49-F238E27FC236}">
                <a16:creationId xmlns:a16="http://schemas.microsoft.com/office/drawing/2014/main" id="{EBD01E2F-BA25-4644-DCD7-9A42807955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1722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FD1AE2A6-9375-0495-8D9B-C3166D64C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9:notes">
            <a:extLst>
              <a:ext uri="{FF2B5EF4-FFF2-40B4-BE49-F238E27FC236}">
                <a16:creationId xmlns:a16="http://schemas.microsoft.com/office/drawing/2014/main" id="{B8DD6CB7-F4BA-4354-5EE7-EBF39E105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19:notes">
            <a:extLst>
              <a:ext uri="{FF2B5EF4-FFF2-40B4-BE49-F238E27FC236}">
                <a16:creationId xmlns:a16="http://schemas.microsoft.com/office/drawing/2014/main" id="{AEAAF381-80B0-F531-84CE-37EDD73704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44801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E38C6B31-F735-34FB-9C00-F92C2CE4E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:notes">
            <a:extLst>
              <a:ext uri="{FF2B5EF4-FFF2-40B4-BE49-F238E27FC236}">
                <a16:creationId xmlns:a16="http://schemas.microsoft.com/office/drawing/2014/main" id="{A73A12A8-678B-12C8-EC66-D8FA149AA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8:notes">
            <a:extLst>
              <a:ext uri="{FF2B5EF4-FFF2-40B4-BE49-F238E27FC236}">
                <a16:creationId xmlns:a16="http://schemas.microsoft.com/office/drawing/2014/main" id="{ABF927A5-069C-877E-4DE5-EB5457B7EA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6001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36CD28F6-A414-20F0-8BA7-E7839D46F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:notes">
            <a:extLst>
              <a:ext uri="{FF2B5EF4-FFF2-40B4-BE49-F238E27FC236}">
                <a16:creationId xmlns:a16="http://schemas.microsoft.com/office/drawing/2014/main" id="{D636A22F-79C1-3E3E-82F0-2833505373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8:notes">
            <a:extLst>
              <a:ext uri="{FF2B5EF4-FFF2-40B4-BE49-F238E27FC236}">
                <a16:creationId xmlns:a16="http://schemas.microsoft.com/office/drawing/2014/main" id="{A4113111-3695-B0DC-5AA8-295C750DF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6168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D20358FC-83F4-871D-FFF0-ADAE63299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:notes">
            <a:extLst>
              <a:ext uri="{FF2B5EF4-FFF2-40B4-BE49-F238E27FC236}">
                <a16:creationId xmlns:a16="http://schemas.microsoft.com/office/drawing/2014/main" id="{74F9D4A7-FC49-1559-D6D7-EC41C9081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8:notes">
            <a:extLst>
              <a:ext uri="{FF2B5EF4-FFF2-40B4-BE49-F238E27FC236}">
                <a16:creationId xmlns:a16="http://schemas.microsoft.com/office/drawing/2014/main" id="{53BE0744-5D0B-6C54-386D-DF4296D838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3452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6B596277-CB9D-E184-F719-A7844C73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:notes">
            <a:extLst>
              <a:ext uri="{FF2B5EF4-FFF2-40B4-BE49-F238E27FC236}">
                <a16:creationId xmlns:a16="http://schemas.microsoft.com/office/drawing/2014/main" id="{C4D772FA-8345-D4F9-598A-C8D5EE7DA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8:notes">
            <a:extLst>
              <a:ext uri="{FF2B5EF4-FFF2-40B4-BE49-F238E27FC236}">
                <a16:creationId xmlns:a16="http://schemas.microsoft.com/office/drawing/2014/main" id="{9A9F998C-E5EE-8AA7-9FC8-80B6F65624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80831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3EABF0DC-969E-4232-4851-05C1E03BA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:notes">
            <a:extLst>
              <a:ext uri="{FF2B5EF4-FFF2-40B4-BE49-F238E27FC236}">
                <a16:creationId xmlns:a16="http://schemas.microsoft.com/office/drawing/2014/main" id="{28968701-AB0D-C14D-3138-0E9E3457E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8:notes">
            <a:extLst>
              <a:ext uri="{FF2B5EF4-FFF2-40B4-BE49-F238E27FC236}">
                <a16:creationId xmlns:a16="http://schemas.microsoft.com/office/drawing/2014/main" id="{18EF8400-9453-0671-3A9A-A8B2C9775B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99827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4D054484-6831-F1E4-3EE4-2F09FBA0D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:notes">
            <a:extLst>
              <a:ext uri="{FF2B5EF4-FFF2-40B4-BE49-F238E27FC236}">
                <a16:creationId xmlns:a16="http://schemas.microsoft.com/office/drawing/2014/main" id="{579D006D-9F8A-204E-A818-D787991C71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8:notes">
            <a:extLst>
              <a:ext uri="{FF2B5EF4-FFF2-40B4-BE49-F238E27FC236}">
                <a16:creationId xmlns:a16="http://schemas.microsoft.com/office/drawing/2014/main" id="{F0BD523F-A612-9EC9-81F3-BD96962F1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3635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1CE320C8-F60F-3FAF-BB79-8C582DCF4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:notes">
            <a:extLst>
              <a:ext uri="{FF2B5EF4-FFF2-40B4-BE49-F238E27FC236}">
                <a16:creationId xmlns:a16="http://schemas.microsoft.com/office/drawing/2014/main" id="{6D199A3F-C9B5-B3E9-C8DE-69F173990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8:notes">
            <a:extLst>
              <a:ext uri="{FF2B5EF4-FFF2-40B4-BE49-F238E27FC236}">
                <a16:creationId xmlns:a16="http://schemas.microsoft.com/office/drawing/2014/main" id="{09ADF067-B1FF-DEBC-E782-F7DE82A6D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8264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BC47349C-F6E1-76FB-96DF-5EBF9391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9:notes">
            <a:extLst>
              <a:ext uri="{FF2B5EF4-FFF2-40B4-BE49-F238E27FC236}">
                <a16:creationId xmlns:a16="http://schemas.microsoft.com/office/drawing/2014/main" id="{E863C543-BC99-73BB-6573-179E2CD5D7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19:notes">
            <a:extLst>
              <a:ext uri="{FF2B5EF4-FFF2-40B4-BE49-F238E27FC236}">
                <a16:creationId xmlns:a16="http://schemas.microsoft.com/office/drawing/2014/main" id="{C547AB7F-721D-F522-1498-47BC864E4D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2233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DBA5B177-34F5-B90B-8250-7A097103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9:notes">
            <a:extLst>
              <a:ext uri="{FF2B5EF4-FFF2-40B4-BE49-F238E27FC236}">
                <a16:creationId xmlns:a16="http://schemas.microsoft.com/office/drawing/2014/main" id="{FBEA5815-B02B-B7C5-D8DF-F8879E944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19:notes">
            <a:extLst>
              <a:ext uri="{FF2B5EF4-FFF2-40B4-BE49-F238E27FC236}">
                <a16:creationId xmlns:a16="http://schemas.microsoft.com/office/drawing/2014/main" id="{2954781A-DEA4-5D5E-4DD3-F3228B74C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5754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086100" y="-7524750"/>
            <a:ext cx="24469452" cy="24613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3"/>
          <p:cNvGrpSpPr/>
          <p:nvPr/>
        </p:nvGrpSpPr>
        <p:grpSpPr>
          <a:xfrm rot="-3422166">
            <a:off x="16880960" y="2271375"/>
            <a:ext cx="2228270" cy="613042"/>
            <a:chOff x="0" y="-38100"/>
            <a:chExt cx="586875" cy="161461"/>
          </a:xfrm>
        </p:grpSpPr>
        <p:sp>
          <p:nvSpPr>
            <p:cNvPr id="12" name="Google Shape;12;p3"/>
            <p:cNvSpPr/>
            <p:nvPr/>
          </p:nvSpPr>
          <p:spPr>
            <a:xfrm>
              <a:off x="0" y="0"/>
              <a:ext cx="586875" cy="123361"/>
            </a:xfrm>
            <a:custGeom>
              <a:avLst/>
              <a:gdLst/>
              <a:ahLst/>
              <a:cxnLst/>
              <a:rect l="l" t="t" r="r" b="b"/>
              <a:pathLst>
                <a:path w="586875" h="123361" extrusionOk="0">
                  <a:moveTo>
                    <a:pt x="61681" y="0"/>
                  </a:moveTo>
                  <a:lnTo>
                    <a:pt x="525195" y="0"/>
                  </a:lnTo>
                  <a:cubicBezTo>
                    <a:pt x="541554" y="0"/>
                    <a:pt x="557242" y="6498"/>
                    <a:pt x="568810" y="18066"/>
                  </a:cubicBezTo>
                  <a:cubicBezTo>
                    <a:pt x="580377" y="29633"/>
                    <a:pt x="586875" y="45322"/>
                    <a:pt x="586875" y="61681"/>
                  </a:cubicBezTo>
                  <a:lnTo>
                    <a:pt x="586875" y="61681"/>
                  </a:lnTo>
                  <a:cubicBezTo>
                    <a:pt x="586875" y="95746"/>
                    <a:pt x="559260" y="123361"/>
                    <a:pt x="525195" y="123361"/>
                  </a:cubicBezTo>
                  <a:lnTo>
                    <a:pt x="61681" y="123361"/>
                  </a:lnTo>
                  <a:cubicBezTo>
                    <a:pt x="45322" y="123361"/>
                    <a:pt x="29633" y="116863"/>
                    <a:pt x="18066" y="105296"/>
                  </a:cubicBezTo>
                  <a:cubicBezTo>
                    <a:pt x="6498" y="93728"/>
                    <a:pt x="0" y="78039"/>
                    <a:pt x="0" y="61681"/>
                  </a:cubicBezTo>
                  <a:lnTo>
                    <a:pt x="0" y="61681"/>
                  </a:lnTo>
                  <a:cubicBezTo>
                    <a:pt x="0" y="45322"/>
                    <a:pt x="6498" y="29633"/>
                    <a:pt x="18066" y="18066"/>
                  </a:cubicBezTo>
                  <a:cubicBezTo>
                    <a:pt x="29633" y="6498"/>
                    <a:pt x="45322" y="0"/>
                    <a:pt x="61681" y="0"/>
                  </a:cubicBez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3"/>
            <p:cNvSpPr txBox="1"/>
            <p:nvPr/>
          </p:nvSpPr>
          <p:spPr>
            <a:xfrm>
              <a:off x="0" y="-38100"/>
              <a:ext cx="586800" cy="16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14;p3"/>
          <p:cNvGrpSpPr/>
          <p:nvPr/>
        </p:nvGrpSpPr>
        <p:grpSpPr>
          <a:xfrm rot="-3357477">
            <a:off x="15667480" y="1790421"/>
            <a:ext cx="3908132" cy="346276"/>
            <a:chOff x="0" y="-38100"/>
            <a:chExt cx="1029300" cy="91200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1029263" cy="52997"/>
            </a:xfrm>
            <a:custGeom>
              <a:avLst/>
              <a:gdLst/>
              <a:ahLst/>
              <a:cxnLst/>
              <a:rect l="l" t="t" r="r" b="b"/>
              <a:pathLst>
                <a:path w="1029263" h="52997" extrusionOk="0">
                  <a:moveTo>
                    <a:pt x="26499" y="0"/>
                  </a:moveTo>
                  <a:lnTo>
                    <a:pt x="1002764" y="0"/>
                  </a:lnTo>
                  <a:cubicBezTo>
                    <a:pt x="1017399" y="0"/>
                    <a:pt x="1029263" y="11864"/>
                    <a:pt x="1029263" y="26499"/>
                  </a:cubicBezTo>
                  <a:lnTo>
                    <a:pt x="1029263" y="26499"/>
                  </a:lnTo>
                  <a:cubicBezTo>
                    <a:pt x="1029263" y="41133"/>
                    <a:pt x="1017399" y="52997"/>
                    <a:pt x="1002764" y="52997"/>
                  </a:cubicBezTo>
                  <a:lnTo>
                    <a:pt x="26499" y="52997"/>
                  </a:lnTo>
                  <a:cubicBezTo>
                    <a:pt x="11864" y="52997"/>
                    <a:pt x="0" y="41133"/>
                    <a:pt x="0" y="26499"/>
                  </a:cubicBezTo>
                  <a:lnTo>
                    <a:pt x="0" y="26499"/>
                  </a:lnTo>
                  <a:cubicBezTo>
                    <a:pt x="0" y="11864"/>
                    <a:pt x="11864" y="0"/>
                    <a:pt x="26499" y="0"/>
                  </a:cubicBezTo>
                  <a:close/>
                </a:path>
              </a:pathLst>
            </a:custGeom>
            <a:solidFill>
              <a:srgbClr val="627F8B">
                <a:alpha val="4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 txBox="1"/>
            <p:nvPr/>
          </p:nvSpPr>
          <p:spPr>
            <a:xfrm>
              <a:off x="0" y="-38100"/>
              <a:ext cx="1029300" cy="9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3"/>
          <p:cNvGrpSpPr/>
          <p:nvPr/>
        </p:nvGrpSpPr>
        <p:grpSpPr>
          <a:xfrm rot="-3342685">
            <a:off x="16330575" y="1803985"/>
            <a:ext cx="1634818" cy="176554"/>
            <a:chOff x="0" y="-38100"/>
            <a:chExt cx="430572" cy="46500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430572" cy="8353"/>
            </a:xfrm>
            <a:custGeom>
              <a:avLst/>
              <a:gdLst/>
              <a:ahLst/>
              <a:cxnLst/>
              <a:rect l="l" t="t" r="r" b="b"/>
              <a:pathLst>
                <a:path w="430572" h="8353" extrusionOk="0">
                  <a:moveTo>
                    <a:pt x="4177" y="0"/>
                  </a:moveTo>
                  <a:lnTo>
                    <a:pt x="426396" y="0"/>
                  </a:lnTo>
                  <a:cubicBezTo>
                    <a:pt x="427503" y="0"/>
                    <a:pt x="428566" y="440"/>
                    <a:pt x="429349" y="1223"/>
                  </a:cubicBezTo>
                  <a:cubicBezTo>
                    <a:pt x="430132" y="2007"/>
                    <a:pt x="430572" y="3069"/>
                    <a:pt x="430572" y="4177"/>
                  </a:cubicBezTo>
                  <a:lnTo>
                    <a:pt x="430572" y="4177"/>
                  </a:lnTo>
                  <a:cubicBezTo>
                    <a:pt x="430572" y="5284"/>
                    <a:pt x="430132" y="6347"/>
                    <a:pt x="429349" y="7130"/>
                  </a:cubicBezTo>
                  <a:cubicBezTo>
                    <a:pt x="428566" y="7913"/>
                    <a:pt x="427503" y="8353"/>
                    <a:pt x="426396" y="8353"/>
                  </a:cubicBezTo>
                  <a:lnTo>
                    <a:pt x="4177" y="8353"/>
                  </a:lnTo>
                  <a:cubicBezTo>
                    <a:pt x="3069" y="8353"/>
                    <a:pt x="2007" y="7913"/>
                    <a:pt x="1223" y="7130"/>
                  </a:cubicBezTo>
                  <a:cubicBezTo>
                    <a:pt x="440" y="6347"/>
                    <a:pt x="0" y="5284"/>
                    <a:pt x="0" y="4177"/>
                  </a:cubicBezTo>
                  <a:lnTo>
                    <a:pt x="0" y="4177"/>
                  </a:lnTo>
                  <a:cubicBezTo>
                    <a:pt x="0" y="3069"/>
                    <a:pt x="440" y="2007"/>
                    <a:pt x="1223" y="1223"/>
                  </a:cubicBezTo>
                  <a:cubicBezTo>
                    <a:pt x="2007" y="440"/>
                    <a:pt x="3069" y="0"/>
                    <a:pt x="41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 txBox="1"/>
            <p:nvPr/>
          </p:nvSpPr>
          <p:spPr>
            <a:xfrm>
              <a:off x="0" y="-38100"/>
              <a:ext cx="430500" cy="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2931400" y="5369700"/>
            <a:ext cx="7906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150155" y="474511"/>
            <a:ext cx="585420" cy="463014"/>
          </a:xfrm>
          <a:custGeom>
            <a:avLst/>
            <a:gdLst/>
            <a:ahLst/>
            <a:cxnLst/>
            <a:rect l="l" t="t" r="r" b="b"/>
            <a:pathLst>
              <a:path w="585420" h="463014" extrusionOk="0">
                <a:moveTo>
                  <a:pt x="0" y="0"/>
                </a:moveTo>
                <a:lnTo>
                  <a:pt x="585420" y="0"/>
                </a:lnTo>
                <a:lnTo>
                  <a:pt x="585420" y="463014"/>
                </a:lnTo>
                <a:lnTo>
                  <a:pt x="0" y="46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" name="Google Shape;22;p3"/>
          <p:cNvSpPr txBox="1"/>
          <p:nvPr/>
        </p:nvSpPr>
        <p:spPr>
          <a:xfrm>
            <a:off x="13951821" y="553618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16336640" y="553618"/>
            <a:ext cx="94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11695813" y="553618"/>
            <a:ext cx="70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9486425" y="553625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26" name="Google Shape;26;p3"/>
          <p:cNvSpPr txBox="1"/>
          <p:nvPr/>
        </p:nvSpPr>
        <p:spPr>
          <a:xfrm>
            <a:off x="1864115" y="640875"/>
            <a:ext cx="57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1277025" y="2011950"/>
            <a:ext cx="987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203219" y="-826225"/>
            <a:ext cx="10256864" cy="10287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4"/>
          <p:cNvGrpSpPr/>
          <p:nvPr/>
        </p:nvGrpSpPr>
        <p:grpSpPr>
          <a:xfrm>
            <a:off x="15720615" y="9248890"/>
            <a:ext cx="193786" cy="320147"/>
            <a:chOff x="0" y="-38100"/>
            <a:chExt cx="51038" cy="84318"/>
          </a:xfrm>
        </p:grpSpPr>
        <p:sp>
          <p:nvSpPr>
            <p:cNvPr id="31" name="Google Shape;31;p4"/>
            <p:cNvSpPr/>
            <p:nvPr/>
          </p:nvSpPr>
          <p:spPr>
            <a:xfrm>
              <a:off x="0" y="0"/>
              <a:ext cx="51038" cy="46218"/>
            </a:xfrm>
            <a:custGeom>
              <a:avLst/>
              <a:gdLst/>
              <a:ahLst/>
              <a:cxnLst/>
              <a:rect l="l" t="t" r="r" b="b"/>
              <a:pathLst>
                <a:path w="51038" h="46218" extrusionOk="0">
                  <a:moveTo>
                    <a:pt x="0" y="0"/>
                  </a:moveTo>
                  <a:lnTo>
                    <a:pt x="51038" y="0"/>
                  </a:lnTo>
                  <a:lnTo>
                    <a:pt x="51038" y="46218"/>
                  </a:lnTo>
                  <a:lnTo>
                    <a:pt x="0" y="46218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</p:sp>
        <p:sp>
          <p:nvSpPr>
            <p:cNvPr id="32" name="Google Shape;32;p4"/>
            <p:cNvSpPr txBox="1"/>
            <p:nvPr/>
          </p:nvSpPr>
          <p:spPr>
            <a:xfrm>
              <a:off x="0" y="-38100"/>
              <a:ext cx="510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33;p4"/>
          <p:cNvGrpSpPr/>
          <p:nvPr/>
        </p:nvGrpSpPr>
        <p:grpSpPr>
          <a:xfrm>
            <a:off x="15376789" y="9248890"/>
            <a:ext cx="193786" cy="320147"/>
            <a:chOff x="0" y="-38100"/>
            <a:chExt cx="51038" cy="84318"/>
          </a:xfrm>
        </p:grpSpPr>
        <p:sp>
          <p:nvSpPr>
            <p:cNvPr id="34" name="Google Shape;34;p4"/>
            <p:cNvSpPr/>
            <p:nvPr/>
          </p:nvSpPr>
          <p:spPr>
            <a:xfrm>
              <a:off x="0" y="0"/>
              <a:ext cx="51038" cy="46218"/>
            </a:xfrm>
            <a:custGeom>
              <a:avLst/>
              <a:gdLst/>
              <a:ahLst/>
              <a:cxnLst/>
              <a:rect l="l" t="t" r="r" b="b"/>
              <a:pathLst>
                <a:path w="51038" h="46218" extrusionOk="0">
                  <a:moveTo>
                    <a:pt x="0" y="0"/>
                  </a:moveTo>
                  <a:lnTo>
                    <a:pt x="51038" y="0"/>
                  </a:lnTo>
                  <a:lnTo>
                    <a:pt x="51038" y="46218"/>
                  </a:lnTo>
                  <a:lnTo>
                    <a:pt x="0" y="46218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</p:sp>
        <p:sp>
          <p:nvSpPr>
            <p:cNvPr id="35" name="Google Shape;35;p4"/>
            <p:cNvSpPr txBox="1"/>
            <p:nvPr/>
          </p:nvSpPr>
          <p:spPr>
            <a:xfrm>
              <a:off x="0" y="-38100"/>
              <a:ext cx="510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4"/>
          <p:cNvGrpSpPr/>
          <p:nvPr/>
        </p:nvGrpSpPr>
        <p:grpSpPr>
          <a:xfrm>
            <a:off x="7742354" y="8615841"/>
            <a:ext cx="2858850" cy="3467378"/>
            <a:chOff x="-161830" y="-105112"/>
            <a:chExt cx="3811800" cy="4623171"/>
          </a:xfrm>
        </p:grpSpPr>
        <p:grpSp>
          <p:nvGrpSpPr>
            <p:cNvPr id="37" name="Google Shape;37;p4"/>
            <p:cNvGrpSpPr/>
            <p:nvPr/>
          </p:nvGrpSpPr>
          <p:grpSpPr>
            <a:xfrm rot="-3422141">
              <a:off x="1013232" y="2005770"/>
              <a:ext cx="2971065" cy="817399"/>
              <a:chOff x="0" y="-38100"/>
              <a:chExt cx="586875" cy="161461"/>
            </a:xfrm>
          </p:grpSpPr>
          <p:sp>
            <p:nvSpPr>
              <p:cNvPr id="38" name="Google Shape;38;p4"/>
              <p:cNvSpPr/>
              <p:nvPr/>
            </p:nvSpPr>
            <p:spPr>
              <a:xfrm>
                <a:off x="0" y="0"/>
                <a:ext cx="586875" cy="123361"/>
              </a:xfrm>
              <a:custGeom>
                <a:avLst/>
                <a:gdLst/>
                <a:ahLst/>
                <a:cxnLst/>
                <a:rect l="l" t="t" r="r" b="b"/>
                <a:pathLst>
                  <a:path w="586875" h="123361" extrusionOk="0">
                    <a:moveTo>
                      <a:pt x="61681" y="0"/>
                    </a:moveTo>
                    <a:lnTo>
                      <a:pt x="525195" y="0"/>
                    </a:lnTo>
                    <a:cubicBezTo>
                      <a:pt x="541554" y="0"/>
                      <a:pt x="557242" y="6498"/>
                      <a:pt x="568810" y="18066"/>
                    </a:cubicBezTo>
                    <a:cubicBezTo>
                      <a:pt x="580377" y="29633"/>
                      <a:pt x="586875" y="45322"/>
                      <a:pt x="586875" y="61681"/>
                    </a:cubicBezTo>
                    <a:lnTo>
                      <a:pt x="586875" y="61681"/>
                    </a:lnTo>
                    <a:cubicBezTo>
                      <a:pt x="586875" y="95746"/>
                      <a:pt x="559260" y="123361"/>
                      <a:pt x="525195" y="123361"/>
                    </a:cubicBezTo>
                    <a:lnTo>
                      <a:pt x="61681" y="123361"/>
                    </a:lnTo>
                    <a:cubicBezTo>
                      <a:pt x="45322" y="123361"/>
                      <a:pt x="29633" y="116863"/>
                      <a:pt x="18066" y="105296"/>
                    </a:cubicBezTo>
                    <a:cubicBezTo>
                      <a:pt x="6498" y="93728"/>
                      <a:pt x="0" y="78039"/>
                      <a:pt x="0" y="61681"/>
                    </a:cubicBezTo>
                    <a:lnTo>
                      <a:pt x="0" y="61681"/>
                    </a:lnTo>
                    <a:cubicBezTo>
                      <a:pt x="0" y="45322"/>
                      <a:pt x="6498" y="29633"/>
                      <a:pt x="18066" y="18066"/>
                    </a:cubicBezTo>
                    <a:cubicBezTo>
                      <a:pt x="29633" y="6498"/>
                      <a:pt x="45322" y="0"/>
                      <a:pt x="61681" y="0"/>
                    </a:cubicBezTo>
                    <a:close/>
                  </a:path>
                </a:pathLst>
              </a:custGeom>
              <a:solidFill>
                <a:srgbClr val="4961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4"/>
              <p:cNvSpPr txBox="1"/>
              <p:nvPr/>
            </p:nvSpPr>
            <p:spPr>
              <a:xfrm>
                <a:off x="0" y="-38100"/>
                <a:ext cx="586800" cy="16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" name="Google Shape;40;p4"/>
            <p:cNvGrpSpPr/>
            <p:nvPr/>
          </p:nvGrpSpPr>
          <p:grpSpPr>
            <a:xfrm rot="-3422141">
              <a:off x="-1155913" y="1975623"/>
              <a:ext cx="5210849" cy="461702"/>
              <a:chOff x="0" y="-38100"/>
              <a:chExt cx="1029300" cy="91200"/>
            </a:xfrm>
          </p:grpSpPr>
          <p:sp>
            <p:nvSpPr>
              <p:cNvPr id="41" name="Google Shape;41;p4"/>
              <p:cNvSpPr/>
              <p:nvPr/>
            </p:nvSpPr>
            <p:spPr>
              <a:xfrm>
                <a:off x="0" y="0"/>
                <a:ext cx="1029263" cy="52997"/>
              </a:xfrm>
              <a:custGeom>
                <a:avLst/>
                <a:gdLst/>
                <a:ahLst/>
                <a:cxnLst/>
                <a:rect l="l" t="t" r="r" b="b"/>
                <a:pathLst>
                  <a:path w="1029263" h="52997" extrusionOk="0">
                    <a:moveTo>
                      <a:pt x="26499" y="0"/>
                    </a:moveTo>
                    <a:lnTo>
                      <a:pt x="1002764" y="0"/>
                    </a:lnTo>
                    <a:cubicBezTo>
                      <a:pt x="1017399" y="0"/>
                      <a:pt x="1029263" y="11864"/>
                      <a:pt x="1029263" y="26499"/>
                    </a:cubicBezTo>
                    <a:lnTo>
                      <a:pt x="1029263" y="26499"/>
                    </a:lnTo>
                    <a:cubicBezTo>
                      <a:pt x="1029263" y="41133"/>
                      <a:pt x="1017399" y="52997"/>
                      <a:pt x="1002764" y="52997"/>
                    </a:cubicBezTo>
                    <a:lnTo>
                      <a:pt x="26499" y="52997"/>
                    </a:lnTo>
                    <a:cubicBezTo>
                      <a:pt x="11864" y="52997"/>
                      <a:pt x="0" y="41133"/>
                      <a:pt x="0" y="26499"/>
                    </a:cubicBezTo>
                    <a:lnTo>
                      <a:pt x="0" y="26499"/>
                    </a:lnTo>
                    <a:cubicBezTo>
                      <a:pt x="0" y="11864"/>
                      <a:pt x="11864" y="0"/>
                      <a:pt x="26499" y="0"/>
                    </a:cubicBezTo>
                    <a:close/>
                  </a:path>
                </a:pathLst>
              </a:custGeom>
              <a:solidFill>
                <a:srgbClr val="627F8B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4"/>
              <p:cNvSpPr txBox="1"/>
              <p:nvPr/>
            </p:nvSpPr>
            <p:spPr>
              <a:xfrm>
                <a:off x="0" y="-38100"/>
                <a:ext cx="1029300" cy="9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" name="Google Shape;43;p4"/>
            <p:cNvGrpSpPr/>
            <p:nvPr/>
          </p:nvGrpSpPr>
          <p:grpSpPr>
            <a:xfrm rot="-3422141">
              <a:off x="-46271" y="1370898"/>
              <a:ext cx="2179778" cy="235407"/>
              <a:chOff x="0" y="-38100"/>
              <a:chExt cx="430572" cy="46500"/>
            </a:xfrm>
          </p:grpSpPr>
          <p:sp>
            <p:nvSpPr>
              <p:cNvPr id="44" name="Google Shape;44;p4"/>
              <p:cNvSpPr/>
              <p:nvPr/>
            </p:nvSpPr>
            <p:spPr>
              <a:xfrm>
                <a:off x="0" y="0"/>
                <a:ext cx="430572" cy="8353"/>
              </a:xfrm>
              <a:custGeom>
                <a:avLst/>
                <a:gdLst/>
                <a:ahLst/>
                <a:cxnLst/>
                <a:rect l="l" t="t" r="r" b="b"/>
                <a:pathLst>
                  <a:path w="430572" h="8353" extrusionOk="0">
                    <a:moveTo>
                      <a:pt x="4177" y="0"/>
                    </a:moveTo>
                    <a:lnTo>
                      <a:pt x="426396" y="0"/>
                    </a:lnTo>
                    <a:cubicBezTo>
                      <a:pt x="427503" y="0"/>
                      <a:pt x="428566" y="440"/>
                      <a:pt x="429349" y="1223"/>
                    </a:cubicBezTo>
                    <a:cubicBezTo>
                      <a:pt x="430132" y="2007"/>
                      <a:pt x="430572" y="3069"/>
                      <a:pt x="430572" y="4177"/>
                    </a:cubicBezTo>
                    <a:lnTo>
                      <a:pt x="430572" y="4177"/>
                    </a:lnTo>
                    <a:cubicBezTo>
                      <a:pt x="430572" y="5284"/>
                      <a:pt x="430132" y="6347"/>
                      <a:pt x="429349" y="7130"/>
                    </a:cubicBezTo>
                    <a:cubicBezTo>
                      <a:pt x="428566" y="7913"/>
                      <a:pt x="427503" y="8353"/>
                      <a:pt x="426396" y="8353"/>
                    </a:cubicBezTo>
                    <a:lnTo>
                      <a:pt x="4177" y="8353"/>
                    </a:lnTo>
                    <a:cubicBezTo>
                      <a:pt x="3069" y="8353"/>
                      <a:pt x="2007" y="7913"/>
                      <a:pt x="1223" y="7130"/>
                    </a:cubicBezTo>
                    <a:cubicBezTo>
                      <a:pt x="440" y="6347"/>
                      <a:pt x="0" y="5284"/>
                      <a:pt x="0" y="4177"/>
                    </a:cubicBezTo>
                    <a:lnTo>
                      <a:pt x="0" y="4177"/>
                    </a:lnTo>
                    <a:cubicBezTo>
                      <a:pt x="0" y="3069"/>
                      <a:pt x="440" y="2007"/>
                      <a:pt x="1223" y="1223"/>
                    </a:cubicBezTo>
                    <a:cubicBezTo>
                      <a:pt x="2007" y="440"/>
                      <a:pt x="3069" y="0"/>
                      <a:pt x="41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4"/>
              <p:cNvSpPr txBox="1"/>
              <p:nvPr/>
            </p:nvSpPr>
            <p:spPr>
              <a:xfrm>
                <a:off x="0" y="-38100"/>
                <a:ext cx="430500" cy="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1277025" y="2011950"/>
            <a:ext cx="987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340975" y="39388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150155" y="474511"/>
            <a:ext cx="585420" cy="463014"/>
          </a:xfrm>
          <a:custGeom>
            <a:avLst/>
            <a:gdLst/>
            <a:ahLst/>
            <a:cxnLst/>
            <a:rect l="l" t="t" r="r" b="b"/>
            <a:pathLst>
              <a:path w="585420" h="463014" extrusionOk="0">
                <a:moveTo>
                  <a:pt x="0" y="0"/>
                </a:moveTo>
                <a:lnTo>
                  <a:pt x="585420" y="0"/>
                </a:lnTo>
                <a:lnTo>
                  <a:pt x="585420" y="463014"/>
                </a:lnTo>
                <a:lnTo>
                  <a:pt x="0" y="46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9" name="Google Shape;49;p4"/>
          <p:cNvSpPr txBox="1"/>
          <p:nvPr/>
        </p:nvSpPr>
        <p:spPr>
          <a:xfrm>
            <a:off x="13951821" y="553618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16336640" y="553618"/>
            <a:ext cx="94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11695813" y="553618"/>
            <a:ext cx="70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9486425" y="553625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1864115" y="640875"/>
            <a:ext cx="57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257637" y="-2157225"/>
            <a:ext cx="11134252" cy="11172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5"/>
          <p:cNvGrpSpPr/>
          <p:nvPr/>
        </p:nvGrpSpPr>
        <p:grpSpPr>
          <a:xfrm>
            <a:off x="16587611" y="-101778"/>
            <a:ext cx="2474708" cy="3432204"/>
            <a:chOff x="-159826" y="-108119"/>
            <a:chExt cx="3299611" cy="4576271"/>
          </a:xfrm>
        </p:grpSpPr>
        <p:grpSp>
          <p:nvGrpSpPr>
            <p:cNvPr id="57" name="Google Shape;57;p5"/>
            <p:cNvGrpSpPr/>
            <p:nvPr/>
          </p:nvGrpSpPr>
          <p:grpSpPr>
            <a:xfrm rot="-3422141">
              <a:off x="502534" y="2590408"/>
              <a:ext cx="2971065" cy="817399"/>
              <a:chOff x="0" y="-38100"/>
              <a:chExt cx="586875" cy="161461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0" y="0"/>
                <a:ext cx="586875" cy="123361"/>
              </a:xfrm>
              <a:custGeom>
                <a:avLst/>
                <a:gdLst/>
                <a:ahLst/>
                <a:cxnLst/>
                <a:rect l="l" t="t" r="r" b="b"/>
                <a:pathLst>
                  <a:path w="586875" h="123361" extrusionOk="0">
                    <a:moveTo>
                      <a:pt x="61681" y="0"/>
                    </a:moveTo>
                    <a:lnTo>
                      <a:pt x="525195" y="0"/>
                    </a:lnTo>
                    <a:cubicBezTo>
                      <a:pt x="541554" y="0"/>
                      <a:pt x="557242" y="6498"/>
                      <a:pt x="568810" y="18066"/>
                    </a:cubicBezTo>
                    <a:cubicBezTo>
                      <a:pt x="580377" y="29633"/>
                      <a:pt x="586875" y="45322"/>
                      <a:pt x="586875" y="61681"/>
                    </a:cubicBezTo>
                    <a:lnTo>
                      <a:pt x="586875" y="61681"/>
                    </a:lnTo>
                    <a:cubicBezTo>
                      <a:pt x="586875" y="95746"/>
                      <a:pt x="559260" y="123361"/>
                      <a:pt x="525195" y="123361"/>
                    </a:cubicBezTo>
                    <a:lnTo>
                      <a:pt x="61681" y="123361"/>
                    </a:lnTo>
                    <a:cubicBezTo>
                      <a:pt x="45322" y="123361"/>
                      <a:pt x="29633" y="116863"/>
                      <a:pt x="18066" y="105296"/>
                    </a:cubicBezTo>
                    <a:cubicBezTo>
                      <a:pt x="6498" y="93728"/>
                      <a:pt x="0" y="78039"/>
                      <a:pt x="0" y="61681"/>
                    </a:cubicBezTo>
                    <a:lnTo>
                      <a:pt x="0" y="61681"/>
                    </a:lnTo>
                    <a:cubicBezTo>
                      <a:pt x="0" y="45322"/>
                      <a:pt x="6498" y="29633"/>
                      <a:pt x="18066" y="18066"/>
                    </a:cubicBezTo>
                    <a:cubicBezTo>
                      <a:pt x="29633" y="6498"/>
                      <a:pt x="45322" y="0"/>
                      <a:pt x="61681" y="0"/>
                    </a:cubicBezTo>
                    <a:close/>
                  </a:path>
                </a:pathLst>
              </a:custGeom>
              <a:solidFill>
                <a:srgbClr val="4961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5"/>
              <p:cNvSpPr txBox="1"/>
              <p:nvPr/>
            </p:nvSpPr>
            <p:spPr>
              <a:xfrm>
                <a:off x="0" y="-38100"/>
                <a:ext cx="586800" cy="16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" name="Google Shape;60;p5"/>
            <p:cNvGrpSpPr/>
            <p:nvPr/>
          </p:nvGrpSpPr>
          <p:grpSpPr>
            <a:xfrm rot="-3357464">
              <a:off x="-1115428" y="1949167"/>
              <a:ext cx="5210815" cy="461699"/>
              <a:chOff x="0" y="-38100"/>
              <a:chExt cx="1029300" cy="91200"/>
            </a:xfrm>
          </p:grpSpPr>
          <p:sp>
            <p:nvSpPr>
              <p:cNvPr id="61" name="Google Shape;61;p5"/>
              <p:cNvSpPr/>
              <p:nvPr/>
            </p:nvSpPr>
            <p:spPr>
              <a:xfrm>
                <a:off x="0" y="0"/>
                <a:ext cx="1029263" cy="52997"/>
              </a:xfrm>
              <a:custGeom>
                <a:avLst/>
                <a:gdLst/>
                <a:ahLst/>
                <a:cxnLst/>
                <a:rect l="l" t="t" r="r" b="b"/>
                <a:pathLst>
                  <a:path w="1029263" h="52997" extrusionOk="0">
                    <a:moveTo>
                      <a:pt x="26499" y="0"/>
                    </a:moveTo>
                    <a:lnTo>
                      <a:pt x="1002764" y="0"/>
                    </a:lnTo>
                    <a:cubicBezTo>
                      <a:pt x="1017399" y="0"/>
                      <a:pt x="1029263" y="11864"/>
                      <a:pt x="1029263" y="26499"/>
                    </a:cubicBezTo>
                    <a:lnTo>
                      <a:pt x="1029263" y="26499"/>
                    </a:lnTo>
                    <a:cubicBezTo>
                      <a:pt x="1029263" y="41133"/>
                      <a:pt x="1017399" y="52997"/>
                      <a:pt x="1002764" y="52997"/>
                    </a:cubicBezTo>
                    <a:lnTo>
                      <a:pt x="26499" y="52997"/>
                    </a:lnTo>
                    <a:cubicBezTo>
                      <a:pt x="11864" y="52997"/>
                      <a:pt x="0" y="41133"/>
                      <a:pt x="0" y="26499"/>
                    </a:cubicBezTo>
                    <a:lnTo>
                      <a:pt x="0" y="26499"/>
                    </a:lnTo>
                    <a:cubicBezTo>
                      <a:pt x="0" y="11864"/>
                      <a:pt x="11864" y="0"/>
                      <a:pt x="26499" y="0"/>
                    </a:cubicBezTo>
                    <a:close/>
                  </a:path>
                </a:pathLst>
              </a:custGeom>
              <a:solidFill>
                <a:srgbClr val="627F8B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5"/>
              <p:cNvSpPr txBox="1"/>
              <p:nvPr/>
            </p:nvSpPr>
            <p:spPr>
              <a:xfrm>
                <a:off x="0" y="-38100"/>
                <a:ext cx="1029300" cy="9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" name="Google Shape;63;p5"/>
            <p:cNvGrpSpPr/>
            <p:nvPr/>
          </p:nvGrpSpPr>
          <p:grpSpPr>
            <a:xfrm rot="-3342698">
              <a:off x="-231322" y="1967226"/>
              <a:ext cx="2179770" cy="235406"/>
              <a:chOff x="0" y="-38100"/>
              <a:chExt cx="430572" cy="46500"/>
            </a:xfrm>
          </p:grpSpPr>
          <p:sp>
            <p:nvSpPr>
              <p:cNvPr id="64" name="Google Shape;64;p5"/>
              <p:cNvSpPr/>
              <p:nvPr/>
            </p:nvSpPr>
            <p:spPr>
              <a:xfrm>
                <a:off x="0" y="0"/>
                <a:ext cx="430572" cy="8353"/>
              </a:xfrm>
              <a:custGeom>
                <a:avLst/>
                <a:gdLst/>
                <a:ahLst/>
                <a:cxnLst/>
                <a:rect l="l" t="t" r="r" b="b"/>
                <a:pathLst>
                  <a:path w="430572" h="8353" extrusionOk="0">
                    <a:moveTo>
                      <a:pt x="4177" y="0"/>
                    </a:moveTo>
                    <a:lnTo>
                      <a:pt x="426396" y="0"/>
                    </a:lnTo>
                    <a:cubicBezTo>
                      <a:pt x="427503" y="0"/>
                      <a:pt x="428566" y="440"/>
                      <a:pt x="429349" y="1223"/>
                    </a:cubicBezTo>
                    <a:cubicBezTo>
                      <a:pt x="430132" y="2007"/>
                      <a:pt x="430572" y="3069"/>
                      <a:pt x="430572" y="4177"/>
                    </a:cubicBezTo>
                    <a:lnTo>
                      <a:pt x="430572" y="4177"/>
                    </a:lnTo>
                    <a:cubicBezTo>
                      <a:pt x="430572" y="5284"/>
                      <a:pt x="430132" y="6347"/>
                      <a:pt x="429349" y="7130"/>
                    </a:cubicBezTo>
                    <a:cubicBezTo>
                      <a:pt x="428566" y="7913"/>
                      <a:pt x="427503" y="8353"/>
                      <a:pt x="426396" y="8353"/>
                    </a:cubicBezTo>
                    <a:lnTo>
                      <a:pt x="4177" y="8353"/>
                    </a:lnTo>
                    <a:cubicBezTo>
                      <a:pt x="3069" y="8353"/>
                      <a:pt x="2007" y="7913"/>
                      <a:pt x="1223" y="7130"/>
                    </a:cubicBezTo>
                    <a:cubicBezTo>
                      <a:pt x="440" y="6347"/>
                      <a:pt x="0" y="5284"/>
                      <a:pt x="0" y="4177"/>
                    </a:cubicBezTo>
                    <a:lnTo>
                      <a:pt x="0" y="4177"/>
                    </a:lnTo>
                    <a:cubicBezTo>
                      <a:pt x="0" y="3069"/>
                      <a:pt x="440" y="2007"/>
                      <a:pt x="1223" y="1223"/>
                    </a:cubicBezTo>
                    <a:cubicBezTo>
                      <a:pt x="2007" y="440"/>
                      <a:pt x="3069" y="0"/>
                      <a:pt x="41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5"/>
              <p:cNvSpPr txBox="1"/>
              <p:nvPr/>
            </p:nvSpPr>
            <p:spPr>
              <a:xfrm>
                <a:off x="0" y="-38100"/>
                <a:ext cx="430500" cy="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" name="Google Shape;66;p5"/>
          <p:cNvSpPr txBox="1">
            <a:spLocks noGrp="1"/>
          </p:cNvSpPr>
          <p:nvPr>
            <p:ph type="body" idx="1"/>
          </p:nvPr>
        </p:nvSpPr>
        <p:spPr>
          <a:xfrm>
            <a:off x="4704388" y="61860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150155" y="474511"/>
            <a:ext cx="585420" cy="463014"/>
          </a:xfrm>
          <a:custGeom>
            <a:avLst/>
            <a:gdLst/>
            <a:ahLst/>
            <a:cxnLst/>
            <a:rect l="l" t="t" r="r" b="b"/>
            <a:pathLst>
              <a:path w="585420" h="463014" extrusionOk="0">
                <a:moveTo>
                  <a:pt x="0" y="0"/>
                </a:moveTo>
                <a:lnTo>
                  <a:pt x="585420" y="0"/>
                </a:lnTo>
                <a:lnTo>
                  <a:pt x="585420" y="463014"/>
                </a:lnTo>
                <a:lnTo>
                  <a:pt x="0" y="46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8" name="Google Shape;68;p5"/>
          <p:cNvSpPr txBox="1"/>
          <p:nvPr/>
        </p:nvSpPr>
        <p:spPr>
          <a:xfrm>
            <a:off x="13951821" y="553618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16336640" y="553618"/>
            <a:ext cx="94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>
            <a:off x="11695813" y="553618"/>
            <a:ext cx="70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9486425" y="553625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72" name="Google Shape;72;p5"/>
          <p:cNvSpPr txBox="1"/>
          <p:nvPr/>
        </p:nvSpPr>
        <p:spPr>
          <a:xfrm>
            <a:off x="1864115" y="640875"/>
            <a:ext cx="57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277025" y="2011950"/>
            <a:ext cx="987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52550" y="-706637"/>
            <a:ext cx="11226998" cy="112599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6"/>
          <p:cNvGrpSpPr/>
          <p:nvPr/>
        </p:nvGrpSpPr>
        <p:grpSpPr>
          <a:xfrm rot="10800000">
            <a:off x="7061004" y="-1820830"/>
            <a:ext cx="2858850" cy="3467378"/>
            <a:chOff x="-161830" y="-105112"/>
            <a:chExt cx="3811800" cy="4623171"/>
          </a:xfrm>
        </p:grpSpPr>
        <p:grpSp>
          <p:nvGrpSpPr>
            <p:cNvPr id="77" name="Google Shape;77;p6"/>
            <p:cNvGrpSpPr/>
            <p:nvPr/>
          </p:nvGrpSpPr>
          <p:grpSpPr>
            <a:xfrm rot="-3422141">
              <a:off x="1013232" y="2005770"/>
              <a:ext cx="2971065" cy="817399"/>
              <a:chOff x="0" y="-38100"/>
              <a:chExt cx="586875" cy="161461"/>
            </a:xfrm>
          </p:grpSpPr>
          <p:sp>
            <p:nvSpPr>
              <p:cNvPr id="78" name="Google Shape;78;p6"/>
              <p:cNvSpPr/>
              <p:nvPr/>
            </p:nvSpPr>
            <p:spPr>
              <a:xfrm>
                <a:off x="0" y="0"/>
                <a:ext cx="586875" cy="123361"/>
              </a:xfrm>
              <a:custGeom>
                <a:avLst/>
                <a:gdLst/>
                <a:ahLst/>
                <a:cxnLst/>
                <a:rect l="l" t="t" r="r" b="b"/>
                <a:pathLst>
                  <a:path w="586875" h="123361" extrusionOk="0">
                    <a:moveTo>
                      <a:pt x="61681" y="0"/>
                    </a:moveTo>
                    <a:lnTo>
                      <a:pt x="525195" y="0"/>
                    </a:lnTo>
                    <a:cubicBezTo>
                      <a:pt x="541554" y="0"/>
                      <a:pt x="557242" y="6498"/>
                      <a:pt x="568810" y="18066"/>
                    </a:cubicBezTo>
                    <a:cubicBezTo>
                      <a:pt x="580377" y="29633"/>
                      <a:pt x="586875" y="45322"/>
                      <a:pt x="586875" y="61681"/>
                    </a:cubicBezTo>
                    <a:lnTo>
                      <a:pt x="586875" y="61681"/>
                    </a:lnTo>
                    <a:cubicBezTo>
                      <a:pt x="586875" y="95746"/>
                      <a:pt x="559260" y="123361"/>
                      <a:pt x="525195" y="123361"/>
                    </a:cubicBezTo>
                    <a:lnTo>
                      <a:pt x="61681" y="123361"/>
                    </a:lnTo>
                    <a:cubicBezTo>
                      <a:pt x="45322" y="123361"/>
                      <a:pt x="29633" y="116863"/>
                      <a:pt x="18066" y="105296"/>
                    </a:cubicBezTo>
                    <a:cubicBezTo>
                      <a:pt x="6498" y="93728"/>
                      <a:pt x="0" y="78039"/>
                      <a:pt x="0" y="61681"/>
                    </a:cubicBezTo>
                    <a:lnTo>
                      <a:pt x="0" y="61681"/>
                    </a:lnTo>
                    <a:cubicBezTo>
                      <a:pt x="0" y="45322"/>
                      <a:pt x="6498" y="29633"/>
                      <a:pt x="18066" y="18066"/>
                    </a:cubicBezTo>
                    <a:cubicBezTo>
                      <a:pt x="29633" y="6498"/>
                      <a:pt x="45322" y="0"/>
                      <a:pt x="61681" y="0"/>
                    </a:cubicBezTo>
                    <a:close/>
                  </a:path>
                </a:pathLst>
              </a:custGeom>
              <a:solidFill>
                <a:srgbClr val="4961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6"/>
              <p:cNvSpPr txBox="1"/>
              <p:nvPr/>
            </p:nvSpPr>
            <p:spPr>
              <a:xfrm>
                <a:off x="0" y="-38100"/>
                <a:ext cx="586800" cy="16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" name="Google Shape;80;p6"/>
            <p:cNvGrpSpPr/>
            <p:nvPr/>
          </p:nvGrpSpPr>
          <p:grpSpPr>
            <a:xfrm rot="-3422141">
              <a:off x="-1155913" y="1975623"/>
              <a:ext cx="5210849" cy="461702"/>
              <a:chOff x="0" y="-38100"/>
              <a:chExt cx="1029300" cy="91200"/>
            </a:xfrm>
          </p:grpSpPr>
          <p:sp>
            <p:nvSpPr>
              <p:cNvPr id="81" name="Google Shape;81;p6"/>
              <p:cNvSpPr/>
              <p:nvPr/>
            </p:nvSpPr>
            <p:spPr>
              <a:xfrm>
                <a:off x="0" y="0"/>
                <a:ext cx="1029263" cy="52997"/>
              </a:xfrm>
              <a:custGeom>
                <a:avLst/>
                <a:gdLst/>
                <a:ahLst/>
                <a:cxnLst/>
                <a:rect l="l" t="t" r="r" b="b"/>
                <a:pathLst>
                  <a:path w="1029263" h="52997" extrusionOk="0">
                    <a:moveTo>
                      <a:pt x="26499" y="0"/>
                    </a:moveTo>
                    <a:lnTo>
                      <a:pt x="1002764" y="0"/>
                    </a:lnTo>
                    <a:cubicBezTo>
                      <a:pt x="1017399" y="0"/>
                      <a:pt x="1029263" y="11864"/>
                      <a:pt x="1029263" y="26499"/>
                    </a:cubicBezTo>
                    <a:lnTo>
                      <a:pt x="1029263" y="26499"/>
                    </a:lnTo>
                    <a:cubicBezTo>
                      <a:pt x="1029263" y="41133"/>
                      <a:pt x="1017399" y="52997"/>
                      <a:pt x="1002764" y="52997"/>
                    </a:cubicBezTo>
                    <a:lnTo>
                      <a:pt x="26499" y="52997"/>
                    </a:lnTo>
                    <a:cubicBezTo>
                      <a:pt x="11864" y="52997"/>
                      <a:pt x="0" y="41133"/>
                      <a:pt x="0" y="26499"/>
                    </a:cubicBezTo>
                    <a:lnTo>
                      <a:pt x="0" y="26499"/>
                    </a:lnTo>
                    <a:cubicBezTo>
                      <a:pt x="0" y="11864"/>
                      <a:pt x="11864" y="0"/>
                      <a:pt x="26499" y="0"/>
                    </a:cubicBezTo>
                    <a:close/>
                  </a:path>
                </a:pathLst>
              </a:custGeom>
              <a:solidFill>
                <a:srgbClr val="627F8B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6"/>
              <p:cNvSpPr txBox="1"/>
              <p:nvPr/>
            </p:nvSpPr>
            <p:spPr>
              <a:xfrm>
                <a:off x="0" y="-38100"/>
                <a:ext cx="1029300" cy="9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" name="Google Shape;83;p6"/>
            <p:cNvGrpSpPr/>
            <p:nvPr/>
          </p:nvGrpSpPr>
          <p:grpSpPr>
            <a:xfrm rot="-3422141">
              <a:off x="-46271" y="1370898"/>
              <a:ext cx="2179778" cy="235407"/>
              <a:chOff x="0" y="-38100"/>
              <a:chExt cx="430572" cy="46500"/>
            </a:xfrm>
          </p:grpSpPr>
          <p:sp>
            <p:nvSpPr>
              <p:cNvPr id="84" name="Google Shape;84;p6"/>
              <p:cNvSpPr/>
              <p:nvPr/>
            </p:nvSpPr>
            <p:spPr>
              <a:xfrm>
                <a:off x="0" y="0"/>
                <a:ext cx="430572" cy="8353"/>
              </a:xfrm>
              <a:custGeom>
                <a:avLst/>
                <a:gdLst/>
                <a:ahLst/>
                <a:cxnLst/>
                <a:rect l="l" t="t" r="r" b="b"/>
                <a:pathLst>
                  <a:path w="430572" h="8353" extrusionOk="0">
                    <a:moveTo>
                      <a:pt x="4177" y="0"/>
                    </a:moveTo>
                    <a:lnTo>
                      <a:pt x="426396" y="0"/>
                    </a:lnTo>
                    <a:cubicBezTo>
                      <a:pt x="427503" y="0"/>
                      <a:pt x="428566" y="440"/>
                      <a:pt x="429349" y="1223"/>
                    </a:cubicBezTo>
                    <a:cubicBezTo>
                      <a:pt x="430132" y="2007"/>
                      <a:pt x="430572" y="3069"/>
                      <a:pt x="430572" y="4177"/>
                    </a:cubicBezTo>
                    <a:lnTo>
                      <a:pt x="430572" y="4177"/>
                    </a:lnTo>
                    <a:cubicBezTo>
                      <a:pt x="430572" y="5284"/>
                      <a:pt x="430132" y="6347"/>
                      <a:pt x="429349" y="7130"/>
                    </a:cubicBezTo>
                    <a:cubicBezTo>
                      <a:pt x="428566" y="7913"/>
                      <a:pt x="427503" y="8353"/>
                      <a:pt x="426396" y="8353"/>
                    </a:cubicBezTo>
                    <a:lnTo>
                      <a:pt x="4177" y="8353"/>
                    </a:lnTo>
                    <a:cubicBezTo>
                      <a:pt x="3069" y="8353"/>
                      <a:pt x="2007" y="7913"/>
                      <a:pt x="1223" y="7130"/>
                    </a:cubicBezTo>
                    <a:cubicBezTo>
                      <a:pt x="440" y="6347"/>
                      <a:pt x="0" y="5284"/>
                      <a:pt x="0" y="4177"/>
                    </a:cubicBezTo>
                    <a:lnTo>
                      <a:pt x="0" y="4177"/>
                    </a:lnTo>
                    <a:cubicBezTo>
                      <a:pt x="0" y="3069"/>
                      <a:pt x="440" y="2007"/>
                      <a:pt x="1223" y="1223"/>
                    </a:cubicBezTo>
                    <a:cubicBezTo>
                      <a:pt x="2007" y="440"/>
                      <a:pt x="3069" y="0"/>
                      <a:pt x="41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6"/>
              <p:cNvSpPr txBox="1"/>
              <p:nvPr/>
            </p:nvSpPr>
            <p:spPr>
              <a:xfrm>
                <a:off x="0" y="-38100"/>
                <a:ext cx="430500" cy="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" name="Google Shape;86;p6"/>
          <p:cNvSpPr txBox="1">
            <a:spLocks noGrp="1"/>
          </p:cNvSpPr>
          <p:nvPr>
            <p:ph type="title"/>
          </p:nvPr>
        </p:nvSpPr>
        <p:spPr>
          <a:xfrm>
            <a:off x="1277025" y="2011950"/>
            <a:ext cx="987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"/>
          <p:cNvSpPr txBox="1">
            <a:spLocks noGrp="1"/>
          </p:cNvSpPr>
          <p:nvPr>
            <p:ph type="body" idx="1"/>
          </p:nvPr>
        </p:nvSpPr>
        <p:spPr>
          <a:xfrm>
            <a:off x="2361250" y="4118250"/>
            <a:ext cx="5688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body" idx="2"/>
          </p:nvPr>
        </p:nvSpPr>
        <p:spPr>
          <a:xfrm>
            <a:off x="8263819" y="4118250"/>
            <a:ext cx="5688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1150155" y="474511"/>
            <a:ext cx="585420" cy="463014"/>
          </a:xfrm>
          <a:custGeom>
            <a:avLst/>
            <a:gdLst/>
            <a:ahLst/>
            <a:cxnLst/>
            <a:rect l="l" t="t" r="r" b="b"/>
            <a:pathLst>
              <a:path w="585420" h="463014" extrusionOk="0">
                <a:moveTo>
                  <a:pt x="0" y="0"/>
                </a:moveTo>
                <a:lnTo>
                  <a:pt x="585420" y="0"/>
                </a:lnTo>
                <a:lnTo>
                  <a:pt x="585420" y="463014"/>
                </a:lnTo>
                <a:lnTo>
                  <a:pt x="0" y="46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p6"/>
          <p:cNvSpPr txBox="1"/>
          <p:nvPr/>
        </p:nvSpPr>
        <p:spPr>
          <a:xfrm>
            <a:off x="13951821" y="553618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16336640" y="553618"/>
            <a:ext cx="94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11695813" y="553618"/>
            <a:ext cx="70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9486425" y="553625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1864115" y="640875"/>
            <a:ext cx="57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98100" y="-8844250"/>
            <a:ext cx="26026801" cy="26103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7"/>
          <p:cNvGrpSpPr/>
          <p:nvPr/>
        </p:nvGrpSpPr>
        <p:grpSpPr>
          <a:xfrm>
            <a:off x="16847080" y="114173"/>
            <a:ext cx="2474708" cy="3432204"/>
            <a:chOff x="-159826" y="-108119"/>
            <a:chExt cx="3299611" cy="4576271"/>
          </a:xfrm>
        </p:grpSpPr>
        <p:grpSp>
          <p:nvGrpSpPr>
            <p:cNvPr id="98" name="Google Shape;98;p7"/>
            <p:cNvGrpSpPr/>
            <p:nvPr/>
          </p:nvGrpSpPr>
          <p:grpSpPr>
            <a:xfrm rot="-3422141">
              <a:off x="502534" y="2590408"/>
              <a:ext cx="2971065" cy="817399"/>
              <a:chOff x="0" y="-38100"/>
              <a:chExt cx="586875" cy="161461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0" y="0"/>
                <a:ext cx="586875" cy="123361"/>
              </a:xfrm>
              <a:custGeom>
                <a:avLst/>
                <a:gdLst/>
                <a:ahLst/>
                <a:cxnLst/>
                <a:rect l="l" t="t" r="r" b="b"/>
                <a:pathLst>
                  <a:path w="586875" h="123361" extrusionOk="0">
                    <a:moveTo>
                      <a:pt x="61681" y="0"/>
                    </a:moveTo>
                    <a:lnTo>
                      <a:pt x="525195" y="0"/>
                    </a:lnTo>
                    <a:cubicBezTo>
                      <a:pt x="541554" y="0"/>
                      <a:pt x="557242" y="6498"/>
                      <a:pt x="568810" y="18066"/>
                    </a:cubicBezTo>
                    <a:cubicBezTo>
                      <a:pt x="580377" y="29633"/>
                      <a:pt x="586875" y="45322"/>
                      <a:pt x="586875" y="61681"/>
                    </a:cubicBezTo>
                    <a:lnTo>
                      <a:pt x="586875" y="61681"/>
                    </a:lnTo>
                    <a:cubicBezTo>
                      <a:pt x="586875" y="95746"/>
                      <a:pt x="559260" y="123361"/>
                      <a:pt x="525195" y="123361"/>
                    </a:cubicBezTo>
                    <a:lnTo>
                      <a:pt x="61681" y="123361"/>
                    </a:lnTo>
                    <a:cubicBezTo>
                      <a:pt x="45322" y="123361"/>
                      <a:pt x="29633" y="116863"/>
                      <a:pt x="18066" y="105296"/>
                    </a:cubicBezTo>
                    <a:cubicBezTo>
                      <a:pt x="6498" y="93728"/>
                      <a:pt x="0" y="78039"/>
                      <a:pt x="0" y="61681"/>
                    </a:cubicBezTo>
                    <a:lnTo>
                      <a:pt x="0" y="61681"/>
                    </a:lnTo>
                    <a:cubicBezTo>
                      <a:pt x="0" y="45322"/>
                      <a:pt x="6498" y="29633"/>
                      <a:pt x="18066" y="18066"/>
                    </a:cubicBezTo>
                    <a:cubicBezTo>
                      <a:pt x="29633" y="6498"/>
                      <a:pt x="45322" y="0"/>
                      <a:pt x="61681" y="0"/>
                    </a:cubicBezTo>
                    <a:close/>
                  </a:path>
                </a:pathLst>
              </a:custGeom>
              <a:solidFill>
                <a:srgbClr val="4961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7"/>
              <p:cNvSpPr txBox="1"/>
              <p:nvPr/>
            </p:nvSpPr>
            <p:spPr>
              <a:xfrm>
                <a:off x="0" y="-38100"/>
                <a:ext cx="586800" cy="16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" name="Google Shape;101;p7"/>
            <p:cNvGrpSpPr/>
            <p:nvPr/>
          </p:nvGrpSpPr>
          <p:grpSpPr>
            <a:xfrm rot="-3357464">
              <a:off x="-1115428" y="1949167"/>
              <a:ext cx="5210815" cy="461699"/>
              <a:chOff x="0" y="-38100"/>
              <a:chExt cx="1029300" cy="91200"/>
            </a:xfrm>
          </p:grpSpPr>
          <p:sp>
            <p:nvSpPr>
              <p:cNvPr id="102" name="Google Shape;102;p7"/>
              <p:cNvSpPr/>
              <p:nvPr/>
            </p:nvSpPr>
            <p:spPr>
              <a:xfrm>
                <a:off x="0" y="0"/>
                <a:ext cx="1029263" cy="52997"/>
              </a:xfrm>
              <a:custGeom>
                <a:avLst/>
                <a:gdLst/>
                <a:ahLst/>
                <a:cxnLst/>
                <a:rect l="l" t="t" r="r" b="b"/>
                <a:pathLst>
                  <a:path w="1029263" h="52997" extrusionOk="0">
                    <a:moveTo>
                      <a:pt x="26499" y="0"/>
                    </a:moveTo>
                    <a:lnTo>
                      <a:pt x="1002764" y="0"/>
                    </a:lnTo>
                    <a:cubicBezTo>
                      <a:pt x="1017399" y="0"/>
                      <a:pt x="1029263" y="11864"/>
                      <a:pt x="1029263" y="26499"/>
                    </a:cubicBezTo>
                    <a:lnTo>
                      <a:pt x="1029263" y="26499"/>
                    </a:lnTo>
                    <a:cubicBezTo>
                      <a:pt x="1029263" y="41133"/>
                      <a:pt x="1017399" y="52997"/>
                      <a:pt x="1002764" y="52997"/>
                    </a:cubicBezTo>
                    <a:lnTo>
                      <a:pt x="26499" y="52997"/>
                    </a:lnTo>
                    <a:cubicBezTo>
                      <a:pt x="11864" y="52997"/>
                      <a:pt x="0" y="41133"/>
                      <a:pt x="0" y="26499"/>
                    </a:cubicBezTo>
                    <a:lnTo>
                      <a:pt x="0" y="26499"/>
                    </a:lnTo>
                    <a:cubicBezTo>
                      <a:pt x="0" y="11864"/>
                      <a:pt x="11864" y="0"/>
                      <a:pt x="26499" y="0"/>
                    </a:cubicBezTo>
                    <a:close/>
                  </a:path>
                </a:pathLst>
              </a:custGeom>
              <a:solidFill>
                <a:srgbClr val="627F8B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7"/>
              <p:cNvSpPr txBox="1"/>
              <p:nvPr/>
            </p:nvSpPr>
            <p:spPr>
              <a:xfrm>
                <a:off x="0" y="-38100"/>
                <a:ext cx="1029300" cy="9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" name="Google Shape;104;p7"/>
            <p:cNvGrpSpPr/>
            <p:nvPr/>
          </p:nvGrpSpPr>
          <p:grpSpPr>
            <a:xfrm rot="-3342698">
              <a:off x="-231322" y="1967226"/>
              <a:ext cx="2179770" cy="235406"/>
              <a:chOff x="0" y="-38100"/>
              <a:chExt cx="430572" cy="46500"/>
            </a:xfrm>
          </p:grpSpPr>
          <p:sp>
            <p:nvSpPr>
              <p:cNvPr id="105" name="Google Shape;105;p7"/>
              <p:cNvSpPr/>
              <p:nvPr/>
            </p:nvSpPr>
            <p:spPr>
              <a:xfrm>
                <a:off x="0" y="0"/>
                <a:ext cx="430572" cy="8353"/>
              </a:xfrm>
              <a:custGeom>
                <a:avLst/>
                <a:gdLst/>
                <a:ahLst/>
                <a:cxnLst/>
                <a:rect l="l" t="t" r="r" b="b"/>
                <a:pathLst>
                  <a:path w="430572" h="8353" extrusionOk="0">
                    <a:moveTo>
                      <a:pt x="4177" y="0"/>
                    </a:moveTo>
                    <a:lnTo>
                      <a:pt x="426396" y="0"/>
                    </a:lnTo>
                    <a:cubicBezTo>
                      <a:pt x="427503" y="0"/>
                      <a:pt x="428566" y="440"/>
                      <a:pt x="429349" y="1223"/>
                    </a:cubicBezTo>
                    <a:cubicBezTo>
                      <a:pt x="430132" y="2007"/>
                      <a:pt x="430572" y="3069"/>
                      <a:pt x="430572" y="4177"/>
                    </a:cubicBezTo>
                    <a:lnTo>
                      <a:pt x="430572" y="4177"/>
                    </a:lnTo>
                    <a:cubicBezTo>
                      <a:pt x="430572" y="5284"/>
                      <a:pt x="430132" y="6347"/>
                      <a:pt x="429349" y="7130"/>
                    </a:cubicBezTo>
                    <a:cubicBezTo>
                      <a:pt x="428566" y="7913"/>
                      <a:pt x="427503" y="8353"/>
                      <a:pt x="426396" y="8353"/>
                    </a:cubicBezTo>
                    <a:lnTo>
                      <a:pt x="4177" y="8353"/>
                    </a:lnTo>
                    <a:cubicBezTo>
                      <a:pt x="3069" y="8353"/>
                      <a:pt x="2007" y="7913"/>
                      <a:pt x="1223" y="7130"/>
                    </a:cubicBezTo>
                    <a:cubicBezTo>
                      <a:pt x="440" y="6347"/>
                      <a:pt x="0" y="5284"/>
                      <a:pt x="0" y="4177"/>
                    </a:cubicBezTo>
                    <a:lnTo>
                      <a:pt x="0" y="4177"/>
                    </a:lnTo>
                    <a:cubicBezTo>
                      <a:pt x="0" y="3069"/>
                      <a:pt x="440" y="2007"/>
                      <a:pt x="1223" y="1223"/>
                    </a:cubicBezTo>
                    <a:cubicBezTo>
                      <a:pt x="2007" y="440"/>
                      <a:pt x="3069" y="0"/>
                      <a:pt x="41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7"/>
              <p:cNvSpPr txBox="1"/>
              <p:nvPr/>
            </p:nvSpPr>
            <p:spPr>
              <a:xfrm>
                <a:off x="0" y="-38100"/>
                <a:ext cx="430500" cy="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7" name="Google Shape;107;p7"/>
          <p:cNvSpPr txBox="1">
            <a:spLocks noGrp="1"/>
          </p:cNvSpPr>
          <p:nvPr>
            <p:ph type="title"/>
          </p:nvPr>
        </p:nvSpPr>
        <p:spPr>
          <a:xfrm>
            <a:off x="1277025" y="2011950"/>
            <a:ext cx="987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7"/>
          <p:cNvSpPr txBox="1">
            <a:spLocks noGrp="1"/>
          </p:cNvSpPr>
          <p:nvPr>
            <p:ph type="body" idx="1"/>
          </p:nvPr>
        </p:nvSpPr>
        <p:spPr>
          <a:xfrm>
            <a:off x="2443425" y="4751500"/>
            <a:ext cx="5861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body" idx="2"/>
          </p:nvPr>
        </p:nvSpPr>
        <p:spPr>
          <a:xfrm>
            <a:off x="8518776" y="4751500"/>
            <a:ext cx="58635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150155" y="474511"/>
            <a:ext cx="585420" cy="463014"/>
          </a:xfrm>
          <a:custGeom>
            <a:avLst/>
            <a:gdLst/>
            <a:ahLst/>
            <a:cxnLst/>
            <a:rect l="l" t="t" r="r" b="b"/>
            <a:pathLst>
              <a:path w="585420" h="463014" extrusionOk="0">
                <a:moveTo>
                  <a:pt x="0" y="0"/>
                </a:moveTo>
                <a:lnTo>
                  <a:pt x="585420" y="0"/>
                </a:lnTo>
                <a:lnTo>
                  <a:pt x="585420" y="463014"/>
                </a:lnTo>
                <a:lnTo>
                  <a:pt x="0" y="46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7"/>
          <p:cNvSpPr txBox="1"/>
          <p:nvPr/>
        </p:nvSpPr>
        <p:spPr>
          <a:xfrm>
            <a:off x="13951821" y="553618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16336640" y="553618"/>
            <a:ext cx="94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11695813" y="553618"/>
            <a:ext cx="70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9486425" y="553625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1864115" y="640875"/>
            <a:ext cx="57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830375" y="-891575"/>
            <a:ext cx="10859274" cy="108911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8"/>
          <p:cNvGrpSpPr/>
          <p:nvPr/>
        </p:nvGrpSpPr>
        <p:grpSpPr>
          <a:xfrm>
            <a:off x="9419295" y="9281986"/>
            <a:ext cx="193786" cy="320147"/>
            <a:chOff x="0" y="-38100"/>
            <a:chExt cx="51038" cy="84318"/>
          </a:xfrm>
        </p:grpSpPr>
        <p:sp>
          <p:nvSpPr>
            <p:cNvPr id="119" name="Google Shape;119;p8"/>
            <p:cNvSpPr/>
            <p:nvPr/>
          </p:nvSpPr>
          <p:spPr>
            <a:xfrm>
              <a:off x="0" y="0"/>
              <a:ext cx="51038" cy="46218"/>
            </a:xfrm>
            <a:custGeom>
              <a:avLst/>
              <a:gdLst/>
              <a:ahLst/>
              <a:cxnLst/>
              <a:rect l="l" t="t" r="r" b="b"/>
              <a:pathLst>
                <a:path w="51038" h="46218" extrusionOk="0">
                  <a:moveTo>
                    <a:pt x="0" y="0"/>
                  </a:moveTo>
                  <a:lnTo>
                    <a:pt x="51038" y="0"/>
                  </a:lnTo>
                  <a:lnTo>
                    <a:pt x="51038" y="46218"/>
                  </a:lnTo>
                  <a:lnTo>
                    <a:pt x="0" y="46218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</p:sp>
        <p:sp>
          <p:nvSpPr>
            <p:cNvPr id="120" name="Google Shape;120;p8"/>
            <p:cNvSpPr txBox="1"/>
            <p:nvPr/>
          </p:nvSpPr>
          <p:spPr>
            <a:xfrm>
              <a:off x="0" y="-38100"/>
              <a:ext cx="510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8"/>
          <p:cNvGrpSpPr/>
          <p:nvPr/>
        </p:nvGrpSpPr>
        <p:grpSpPr>
          <a:xfrm>
            <a:off x="9075469" y="9281986"/>
            <a:ext cx="193786" cy="320147"/>
            <a:chOff x="0" y="-38100"/>
            <a:chExt cx="51038" cy="84318"/>
          </a:xfrm>
        </p:grpSpPr>
        <p:sp>
          <p:nvSpPr>
            <p:cNvPr id="122" name="Google Shape;122;p8"/>
            <p:cNvSpPr/>
            <p:nvPr/>
          </p:nvSpPr>
          <p:spPr>
            <a:xfrm>
              <a:off x="0" y="0"/>
              <a:ext cx="51038" cy="46218"/>
            </a:xfrm>
            <a:custGeom>
              <a:avLst/>
              <a:gdLst/>
              <a:ahLst/>
              <a:cxnLst/>
              <a:rect l="l" t="t" r="r" b="b"/>
              <a:pathLst>
                <a:path w="51038" h="46218" extrusionOk="0">
                  <a:moveTo>
                    <a:pt x="0" y="0"/>
                  </a:moveTo>
                  <a:lnTo>
                    <a:pt x="51038" y="0"/>
                  </a:lnTo>
                  <a:lnTo>
                    <a:pt x="51038" y="46218"/>
                  </a:lnTo>
                  <a:lnTo>
                    <a:pt x="0" y="46218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</p:sp>
        <p:sp>
          <p:nvSpPr>
            <p:cNvPr id="123" name="Google Shape;123;p8"/>
            <p:cNvSpPr txBox="1"/>
            <p:nvPr/>
          </p:nvSpPr>
          <p:spPr>
            <a:xfrm>
              <a:off x="0" y="-38100"/>
              <a:ext cx="510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8"/>
          <p:cNvGrpSpPr/>
          <p:nvPr/>
        </p:nvGrpSpPr>
        <p:grpSpPr>
          <a:xfrm rot="-4767073">
            <a:off x="6721955" y="-1186164"/>
            <a:ext cx="2000738" cy="2774786"/>
            <a:chOff x="-129217" y="-87407"/>
            <a:chExt cx="2667740" cy="3699838"/>
          </a:xfrm>
        </p:grpSpPr>
        <p:grpSp>
          <p:nvGrpSpPr>
            <p:cNvPr id="125" name="Google Shape;125;p8"/>
            <p:cNvGrpSpPr/>
            <p:nvPr/>
          </p:nvGrpSpPr>
          <p:grpSpPr>
            <a:xfrm rot="-3422160">
              <a:off x="406290" y="2094315"/>
              <a:ext cx="2402025" cy="660845"/>
              <a:chOff x="0" y="-38100"/>
              <a:chExt cx="586875" cy="161461"/>
            </a:xfrm>
          </p:grpSpPr>
          <p:sp>
            <p:nvSpPr>
              <p:cNvPr id="126" name="Google Shape;126;p8"/>
              <p:cNvSpPr/>
              <p:nvPr/>
            </p:nvSpPr>
            <p:spPr>
              <a:xfrm>
                <a:off x="0" y="0"/>
                <a:ext cx="586875" cy="123361"/>
              </a:xfrm>
              <a:custGeom>
                <a:avLst/>
                <a:gdLst/>
                <a:ahLst/>
                <a:cxnLst/>
                <a:rect l="l" t="t" r="r" b="b"/>
                <a:pathLst>
                  <a:path w="586875" h="123361" extrusionOk="0">
                    <a:moveTo>
                      <a:pt x="61681" y="0"/>
                    </a:moveTo>
                    <a:lnTo>
                      <a:pt x="525195" y="0"/>
                    </a:lnTo>
                    <a:cubicBezTo>
                      <a:pt x="541554" y="0"/>
                      <a:pt x="557242" y="6498"/>
                      <a:pt x="568810" y="18066"/>
                    </a:cubicBezTo>
                    <a:cubicBezTo>
                      <a:pt x="580377" y="29633"/>
                      <a:pt x="586875" y="45322"/>
                      <a:pt x="586875" y="61681"/>
                    </a:cubicBezTo>
                    <a:lnTo>
                      <a:pt x="586875" y="61681"/>
                    </a:lnTo>
                    <a:cubicBezTo>
                      <a:pt x="586875" y="95746"/>
                      <a:pt x="559260" y="123361"/>
                      <a:pt x="525195" y="123361"/>
                    </a:cubicBezTo>
                    <a:lnTo>
                      <a:pt x="61681" y="123361"/>
                    </a:lnTo>
                    <a:cubicBezTo>
                      <a:pt x="45322" y="123361"/>
                      <a:pt x="29633" y="116863"/>
                      <a:pt x="18066" y="105296"/>
                    </a:cubicBezTo>
                    <a:cubicBezTo>
                      <a:pt x="6498" y="93728"/>
                      <a:pt x="0" y="78039"/>
                      <a:pt x="0" y="61681"/>
                    </a:cubicBezTo>
                    <a:lnTo>
                      <a:pt x="0" y="61681"/>
                    </a:lnTo>
                    <a:cubicBezTo>
                      <a:pt x="0" y="45322"/>
                      <a:pt x="6498" y="29633"/>
                      <a:pt x="18066" y="18066"/>
                    </a:cubicBezTo>
                    <a:cubicBezTo>
                      <a:pt x="29633" y="6498"/>
                      <a:pt x="45322" y="0"/>
                      <a:pt x="61681" y="0"/>
                    </a:cubicBezTo>
                    <a:close/>
                  </a:path>
                </a:pathLst>
              </a:custGeom>
              <a:solidFill>
                <a:srgbClr val="4961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8"/>
              <p:cNvSpPr txBox="1"/>
              <p:nvPr/>
            </p:nvSpPr>
            <p:spPr>
              <a:xfrm>
                <a:off x="0" y="-38100"/>
                <a:ext cx="586800" cy="16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8"/>
            <p:cNvGrpSpPr/>
            <p:nvPr/>
          </p:nvGrpSpPr>
          <p:grpSpPr>
            <a:xfrm rot="-3357421">
              <a:off x="-901789" y="1575873"/>
              <a:ext cx="4212885" cy="373278"/>
              <a:chOff x="0" y="-38100"/>
              <a:chExt cx="1029300" cy="91200"/>
            </a:xfrm>
          </p:grpSpPr>
          <p:sp>
            <p:nvSpPr>
              <p:cNvPr id="129" name="Google Shape;129;p8"/>
              <p:cNvSpPr/>
              <p:nvPr/>
            </p:nvSpPr>
            <p:spPr>
              <a:xfrm>
                <a:off x="0" y="0"/>
                <a:ext cx="1029263" cy="52997"/>
              </a:xfrm>
              <a:custGeom>
                <a:avLst/>
                <a:gdLst/>
                <a:ahLst/>
                <a:cxnLst/>
                <a:rect l="l" t="t" r="r" b="b"/>
                <a:pathLst>
                  <a:path w="1029263" h="52997" extrusionOk="0">
                    <a:moveTo>
                      <a:pt x="26499" y="0"/>
                    </a:moveTo>
                    <a:lnTo>
                      <a:pt x="1002764" y="0"/>
                    </a:lnTo>
                    <a:cubicBezTo>
                      <a:pt x="1017399" y="0"/>
                      <a:pt x="1029263" y="11864"/>
                      <a:pt x="1029263" y="26499"/>
                    </a:cubicBezTo>
                    <a:lnTo>
                      <a:pt x="1029263" y="26499"/>
                    </a:lnTo>
                    <a:cubicBezTo>
                      <a:pt x="1029263" y="41133"/>
                      <a:pt x="1017399" y="52997"/>
                      <a:pt x="1002764" y="52997"/>
                    </a:cubicBezTo>
                    <a:lnTo>
                      <a:pt x="26499" y="52997"/>
                    </a:lnTo>
                    <a:cubicBezTo>
                      <a:pt x="11864" y="52997"/>
                      <a:pt x="0" y="41133"/>
                      <a:pt x="0" y="26499"/>
                    </a:cubicBezTo>
                    <a:lnTo>
                      <a:pt x="0" y="26499"/>
                    </a:lnTo>
                    <a:cubicBezTo>
                      <a:pt x="0" y="11864"/>
                      <a:pt x="11864" y="0"/>
                      <a:pt x="26499" y="0"/>
                    </a:cubicBezTo>
                    <a:close/>
                  </a:path>
                </a:pathLst>
              </a:custGeom>
              <a:solidFill>
                <a:srgbClr val="627F8B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8"/>
              <p:cNvSpPr txBox="1"/>
              <p:nvPr/>
            </p:nvSpPr>
            <p:spPr>
              <a:xfrm>
                <a:off x="0" y="-38100"/>
                <a:ext cx="1029300" cy="9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" name="Google Shape;131;p8"/>
            <p:cNvGrpSpPr/>
            <p:nvPr/>
          </p:nvGrpSpPr>
          <p:grpSpPr>
            <a:xfrm rot="-3342674">
              <a:off x="-187013" y="1590476"/>
              <a:ext cx="1762293" cy="190327"/>
              <a:chOff x="0" y="-38100"/>
              <a:chExt cx="430572" cy="46500"/>
            </a:xfrm>
          </p:grpSpPr>
          <p:sp>
            <p:nvSpPr>
              <p:cNvPr id="132" name="Google Shape;132;p8"/>
              <p:cNvSpPr/>
              <p:nvPr/>
            </p:nvSpPr>
            <p:spPr>
              <a:xfrm>
                <a:off x="0" y="0"/>
                <a:ext cx="430572" cy="8353"/>
              </a:xfrm>
              <a:custGeom>
                <a:avLst/>
                <a:gdLst/>
                <a:ahLst/>
                <a:cxnLst/>
                <a:rect l="l" t="t" r="r" b="b"/>
                <a:pathLst>
                  <a:path w="430572" h="8353" extrusionOk="0">
                    <a:moveTo>
                      <a:pt x="4177" y="0"/>
                    </a:moveTo>
                    <a:lnTo>
                      <a:pt x="426396" y="0"/>
                    </a:lnTo>
                    <a:cubicBezTo>
                      <a:pt x="427503" y="0"/>
                      <a:pt x="428566" y="440"/>
                      <a:pt x="429349" y="1223"/>
                    </a:cubicBezTo>
                    <a:cubicBezTo>
                      <a:pt x="430132" y="2007"/>
                      <a:pt x="430572" y="3069"/>
                      <a:pt x="430572" y="4177"/>
                    </a:cubicBezTo>
                    <a:lnTo>
                      <a:pt x="430572" y="4177"/>
                    </a:lnTo>
                    <a:cubicBezTo>
                      <a:pt x="430572" y="5284"/>
                      <a:pt x="430132" y="6347"/>
                      <a:pt x="429349" y="7130"/>
                    </a:cubicBezTo>
                    <a:cubicBezTo>
                      <a:pt x="428566" y="7913"/>
                      <a:pt x="427503" y="8353"/>
                      <a:pt x="426396" y="8353"/>
                    </a:cubicBezTo>
                    <a:lnTo>
                      <a:pt x="4177" y="8353"/>
                    </a:lnTo>
                    <a:cubicBezTo>
                      <a:pt x="3069" y="8353"/>
                      <a:pt x="2007" y="7913"/>
                      <a:pt x="1223" y="7130"/>
                    </a:cubicBezTo>
                    <a:cubicBezTo>
                      <a:pt x="440" y="6347"/>
                      <a:pt x="0" y="5284"/>
                      <a:pt x="0" y="4177"/>
                    </a:cubicBezTo>
                    <a:lnTo>
                      <a:pt x="0" y="4177"/>
                    </a:lnTo>
                    <a:cubicBezTo>
                      <a:pt x="0" y="3069"/>
                      <a:pt x="440" y="2007"/>
                      <a:pt x="1223" y="1223"/>
                    </a:cubicBezTo>
                    <a:cubicBezTo>
                      <a:pt x="2007" y="440"/>
                      <a:pt x="3069" y="0"/>
                      <a:pt x="41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8"/>
              <p:cNvSpPr txBox="1"/>
              <p:nvPr/>
            </p:nvSpPr>
            <p:spPr>
              <a:xfrm>
                <a:off x="0" y="-38100"/>
                <a:ext cx="430500" cy="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1277025" y="2011950"/>
            <a:ext cx="987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1150155" y="474511"/>
            <a:ext cx="585420" cy="463014"/>
          </a:xfrm>
          <a:custGeom>
            <a:avLst/>
            <a:gdLst/>
            <a:ahLst/>
            <a:cxnLst/>
            <a:rect l="l" t="t" r="r" b="b"/>
            <a:pathLst>
              <a:path w="585420" h="463014" extrusionOk="0">
                <a:moveTo>
                  <a:pt x="0" y="0"/>
                </a:moveTo>
                <a:lnTo>
                  <a:pt x="585420" y="0"/>
                </a:lnTo>
                <a:lnTo>
                  <a:pt x="585420" y="463014"/>
                </a:lnTo>
                <a:lnTo>
                  <a:pt x="0" y="46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6" name="Google Shape;136;p8"/>
          <p:cNvSpPr txBox="1"/>
          <p:nvPr/>
        </p:nvSpPr>
        <p:spPr>
          <a:xfrm>
            <a:off x="13951821" y="553618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16336640" y="553618"/>
            <a:ext cx="94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138" name="Google Shape;138;p8"/>
          <p:cNvSpPr txBox="1"/>
          <p:nvPr/>
        </p:nvSpPr>
        <p:spPr>
          <a:xfrm>
            <a:off x="11695813" y="553618"/>
            <a:ext cx="70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9486425" y="553625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1864115" y="640875"/>
            <a:ext cx="57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886600" y="-9623575"/>
            <a:ext cx="26896701" cy="26804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9"/>
          <p:cNvGrpSpPr/>
          <p:nvPr/>
        </p:nvGrpSpPr>
        <p:grpSpPr>
          <a:xfrm>
            <a:off x="16134119" y="204320"/>
            <a:ext cx="3059330" cy="4242947"/>
            <a:chOff x="-197584" y="-133638"/>
            <a:chExt cx="4079107" cy="5657263"/>
          </a:xfrm>
        </p:grpSpPr>
        <p:grpSp>
          <p:nvGrpSpPr>
            <p:cNvPr id="144" name="Google Shape;144;p9"/>
            <p:cNvGrpSpPr/>
            <p:nvPr/>
          </p:nvGrpSpPr>
          <p:grpSpPr>
            <a:xfrm rot="-3422123">
              <a:off x="621258" y="3202327"/>
              <a:ext cx="3672870" cy="1010493"/>
              <a:chOff x="0" y="-38100"/>
              <a:chExt cx="586875" cy="161461"/>
            </a:xfrm>
          </p:grpSpPr>
          <p:sp>
            <p:nvSpPr>
              <p:cNvPr id="145" name="Google Shape;145;p9"/>
              <p:cNvSpPr/>
              <p:nvPr/>
            </p:nvSpPr>
            <p:spPr>
              <a:xfrm>
                <a:off x="0" y="0"/>
                <a:ext cx="586875" cy="123361"/>
              </a:xfrm>
              <a:custGeom>
                <a:avLst/>
                <a:gdLst/>
                <a:ahLst/>
                <a:cxnLst/>
                <a:rect l="l" t="t" r="r" b="b"/>
                <a:pathLst>
                  <a:path w="586875" h="123361" extrusionOk="0">
                    <a:moveTo>
                      <a:pt x="61681" y="0"/>
                    </a:moveTo>
                    <a:lnTo>
                      <a:pt x="525195" y="0"/>
                    </a:lnTo>
                    <a:cubicBezTo>
                      <a:pt x="541554" y="0"/>
                      <a:pt x="557242" y="6498"/>
                      <a:pt x="568810" y="18066"/>
                    </a:cubicBezTo>
                    <a:cubicBezTo>
                      <a:pt x="580377" y="29633"/>
                      <a:pt x="586875" y="45322"/>
                      <a:pt x="586875" y="61681"/>
                    </a:cubicBezTo>
                    <a:lnTo>
                      <a:pt x="586875" y="61681"/>
                    </a:lnTo>
                    <a:cubicBezTo>
                      <a:pt x="586875" y="95746"/>
                      <a:pt x="559260" y="123361"/>
                      <a:pt x="525195" y="123361"/>
                    </a:cubicBezTo>
                    <a:lnTo>
                      <a:pt x="61681" y="123361"/>
                    </a:lnTo>
                    <a:cubicBezTo>
                      <a:pt x="45322" y="123361"/>
                      <a:pt x="29633" y="116863"/>
                      <a:pt x="18066" y="105296"/>
                    </a:cubicBezTo>
                    <a:cubicBezTo>
                      <a:pt x="6498" y="93728"/>
                      <a:pt x="0" y="78039"/>
                      <a:pt x="0" y="61681"/>
                    </a:cubicBezTo>
                    <a:lnTo>
                      <a:pt x="0" y="61681"/>
                    </a:lnTo>
                    <a:cubicBezTo>
                      <a:pt x="0" y="45322"/>
                      <a:pt x="6498" y="29633"/>
                      <a:pt x="18066" y="18066"/>
                    </a:cubicBezTo>
                    <a:cubicBezTo>
                      <a:pt x="29633" y="6498"/>
                      <a:pt x="45322" y="0"/>
                      <a:pt x="61681" y="0"/>
                    </a:cubicBezTo>
                    <a:close/>
                  </a:path>
                </a:pathLst>
              </a:custGeom>
              <a:solidFill>
                <a:srgbClr val="4961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9"/>
              <p:cNvSpPr txBox="1"/>
              <p:nvPr/>
            </p:nvSpPr>
            <p:spPr>
              <a:xfrm>
                <a:off x="0" y="-38100"/>
                <a:ext cx="586800" cy="16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9"/>
            <p:cNvGrpSpPr/>
            <p:nvPr/>
          </p:nvGrpSpPr>
          <p:grpSpPr>
            <a:xfrm rot="-3357434">
              <a:off x="-1378894" y="2409609"/>
              <a:ext cx="6441727" cy="570770"/>
              <a:chOff x="0" y="-38100"/>
              <a:chExt cx="1029300" cy="91200"/>
            </a:xfrm>
          </p:grpSpPr>
          <p:sp>
            <p:nvSpPr>
              <p:cNvPr id="148" name="Google Shape;148;p9"/>
              <p:cNvSpPr/>
              <p:nvPr/>
            </p:nvSpPr>
            <p:spPr>
              <a:xfrm>
                <a:off x="0" y="0"/>
                <a:ext cx="1029263" cy="52997"/>
              </a:xfrm>
              <a:custGeom>
                <a:avLst/>
                <a:gdLst/>
                <a:ahLst/>
                <a:cxnLst/>
                <a:rect l="l" t="t" r="r" b="b"/>
                <a:pathLst>
                  <a:path w="1029263" h="52997" extrusionOk="0">
                    <a:moveTo>
                      <a:pt x="26499" y="0"/>
                    </a:moveTo>
                    <a:lnTo>
                      <a:pt x="1002764" y="0"/>
                    </a:lnTo>
                    <a:cubicBezTo>
                      <a:pt x="1017399" y="0"/>
                      <a:pt x="1029263" y="11864"/>
                      <a:pt x="1029263" y="26499"/>
                    </a:cubicBezTo>
                    <a:lnTo>
                      <a:pt x="1029263" y="26499"/>
                    </a:lnTo>
                    <a:cubicBezTo>
                      <a:pt x="1029263" y="41133"/>
                      <a:pt x="1017399" y="52997"/>
                      <a:pt x="1002764" y="52997"/>
                    </a:cubicBezTo>
                    <a:lnTo>
                      <a:pt x="26499" y="52997"/>
                    </a:lnTo>
                    <a:cubicBezTo>
                      <a:pt x="11864" y="52997"/>
                      <a:pt x="0" y="41133"/>
                      <a:pt x="0" y="26499"/>
                    </a:cubicBezTo>
                    <a:lnTo>
                      <a:pt x="0" y="26499"/>
                    </a:lnTo>
                    <a:cubicBezTo>
                      <a:pt x="0" y="11864"/>
                      <a:pt x="11864" y="0"/>
                      <a:pt x="26499" y="0"/>
                    </a:cubicBezTo>
                    <a:close/>
                  </a:path>
                </a:pathLst>
              </a:custGeom>
              <a:solidFill>
                <a:srgbClr val="627F8B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9"/>
              <p:cNvSpPr txBox="1"/>
              <p:nvPr/>
            </p:nvSpPr>
            <p:spPr>
              <a:xfrm>
                <a:off x="0" y="-38100"/>
                <a:ext cx="1029300" cy="9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9"/>
            <p:cNvGrpSpPr/>
            <p:nvPr/>
          </p:nvGrpSpPr>
          <p:grpSpPr>
            <a:xfrm rot="-3342641">
              <a:off x="-285947" y="2431935"/>
              <a:ext cx="2694686" cy="291012"/>
              <a:chOff x="0" y="-38100"/>
              <a:chExt cx="430572" cy="46500"/>
            </a:xfrm>
          </p:grpSpPr>
          <p:sp>
            <p:nvSpPr>
              <p:cNvPr id="151" name="Google Shape;151;p9"/>
              <p:cNvSpPr/>
              <p:nvPr/>
            </p:nvSpPr>
            <p:spPr>
              <a:xfrm>
                <a:off x="0" y="0"/>
                <a:ext cx="430572" cy="8353"/>
              </a:xfrm>
              <a:custGeom>
                <a:avLst/>
                <a:gdLst/>
                <a:ahLst/>
                <a:cxnLst/>
                <a:rect l="l" t="t" r="r" b="b"/>
                <a:pathLst>
                  <a:path w="430572" h="8353" extrusionOk="0">
                    <a:moveTo>
                      <a:pt x="4177" y="0"/>
                    </a:moveTo>
                    <a:lnTo>
                      <a:pt x="426396" y="0"/>
                    </a:lnTo>
                    <a:cubicBezTo>
                      <a:pt x="427503" y="0"/>
                      <a:pt x="428566" y="440"/>
                      <a:pt x="429349" y="1223"/>
                    </a:cubicBezTo>
                    <a:cubicBezTo>
                      <a:pt x="430132" y="2007"/>
                      <a:pt x="430572" y="3069"/>
                      <a:pt x="430572" y="4177"/>
                    </a:cubicBezTo>
                    <a:lnTo>
                      <a:pt x="430572" y="4177"/>
                    </a:lnTo>
                    <a:cubicBezTo>
                      <a:pt x="430572" y="5284"/>
                      <a:pt x="430132" y="6347"/>
                      <a:pt x="429349" y="7130"/>
                    </a:cubicBezTo>
                    <a:cubicBezTo>
                      <a:pt x="428566" y="7913"/>
                      <a:pt x="427503" y="8353"/>
                      <a:pt x="426396" y="8353"/>
                    </a:cubicBezTo>
                    <a:lnTo>
                      <a:pt x="4177" y="8353"/>
                    </a:lnTo>
                    <a:cubicBezTo>
                      <a:pt x="3069" y="8353"/>
                      <a:pt x="2007" y="7913"/>
                      <a:pt x="1223" y="7130"/>
                    </a:cubicBezTo>
                    <a:cubicBezTo>
                      <a:pt x="440" y="6347"/>
                      <a:pt x="0" y="5284"/>
                      <a:pt x="0" y="4177"/>
                    </a:cubicBezTo>
                    <a:lnTo>
                      <a:pt x="0" y="4177"/>
                    </a:lnTo>
                    <a:cubicBezTo>
                      <a:pt x="0" y="3069"/>
                      <a:pt x="440" y="2007"/>
                      <a:pt x="1223" y="1223"/>
                    </a:cubicBezTo>
                    <a:cubicBezTo>
                      <a:pt x="2007" y="440"/>
                      <a:pt x="3069" y="0"/>
                      <a:pt x="41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9"/>
              <p:cNvSpPr txBox="1"/>
              <p:nvPr/>
            </p:nvSpPr>
            <p:spPr>
              <a:xfrm>
                <a:off x="0" y="-38100"/>
                <a:ext cx="430500" cy="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3" name="Google Shape;153;p9"/>
          <p:cNvGrpSpPr/>
          <p:nvPr/>
        </p:nvGrpSpPr>
        <p:grpSpPr>
          <a:xfrm>
            <a:off x="7085442" y="904060"/>
            <a:ext cx="193786" cy="320147"/>
            <a:chOff x="0" y="-38100"/>
            <a:chExt cx="51038" cy="84318"/>
          </a:xfrm>
        </p:grpSpPr>
        <p:sp>
          <p:nvSpPr>
            <p:cNvPr id="154" name="Google Shape;154;p9"/>
            <p:cNvSpPr/>
            <p:nvPr/>
          </p:nvSpPr>
          <p:spPr>
            <a:xfrm>
              <a:off x="0" y="0"/>
              <a:ext cx="51038" cy="46218"/>
            </a:xfrm>
            <a:custGeom>
              <a:avLst/>
              <a:gdLst/>
              <a:ahLst/>
              <a:cxnLst/>
              <a:rect l="l" t="t" r="r" b="b"/>
              <a:pathLst>
                <a:path w="51038" h="46218" extrusionOk="0">
                  <a:moveTo>
                    <a:pt x="0" y="0"/>
                  </a:moveTo>
                  <a:lnTo>
                    <a:pt x="51038" y="0"/>
                  </a:lnTo>
                  <a:lnTo>
                    <a:pt x="51038" y="46218"/>
                  </a:lnTo>
                  <a:lnTo>
                    <a:pt x="0" y="46218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</p:sp>
        <p:sp>
          <p:nvSpPr>
            <p:cNvPr id="155" name="Google Shape;155;p9"/>
            <p:cNvSpPr txBox="1"/>
            <p:nvPr/>
          </p:nvSpPr>
          <p:spPr>
            <a:xfrm>
              <a:off x="0" y="-38100"/>
              <a:ext cx="510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9"/>
          <p:cNvGrpSpPr/>
          <p:nvPr/>
        </p:nvGrpSpPr>
        <p:grpSpPr>
          <a:xfrm>
            <a:off x="6741616" y="904060"/>
            <a:ext cx="193786" cy="320147"/>
            <a:chOff x="0" y="-38100"/>
            <a:chExt cx="51038" cy="84318"/>
          </a:xfrm>
        </p:grpSpPr>
        <p:sp>
          <p:nvSpPr>
            <p:cNvPr id="157" name="Google Shape;157;p9"/>
            <p:cNvSpPr/>
            <p:nvPr/>
          </p:nvSpPr>
          <p:spPr>
            <a:xfrm>
              <a:off x="0" y="0"/>
              <a:ext cx="51038" cy="46218"/>
            </a:xfrm>
            <a:custGeom>
              <a:avLst/>
              <a:gdLst/>
              <a:ahLst/>
              <a:cxnLst/>
              <a:rect l="l" t="t" r="r" b="b"/>
              <a:pathLst>
                <a:path w="51038" h="46218" extrusionOk="0">
                  <a:moveTo>
                    <a:pt x="0" y="0"/>
                  </a:moveTo>
                  <a:lnTo>
                    <a:pt x="51038" y="0"/>
                  </a:lnTo>
                  <a:lnTo>
                    <a:pt x="51038" y="46218"/>
                  </a:lnTo>
                  <a:lnTo>
                    <a:pt x="0" y="46218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</p:sp>
        <p:sp>
          <p:nvSpPr>
            <p:cNvPr id="158" name="Google Shape;158;p9"/>
            <p:cNvSpPr txBox="1"/>
            <p:nvPr/>
          </p:nvSpPr>
          <p:spPr>
            <a:xfrm>
              <a:off x="0" y="-38100"/>
              <a:ext cx="510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9"/>
          <p:cNvSpPr txBox="1">
            <a:spLocks noGrp="1"/>
          </p:cNvSpPr>
          <p:nvPr>
            <p:ph type="body" idx="1"/>
          </p:nvPr>
        </p:nvSpPr>
        <p:spPr>
          <a:xfrm>
            <a:off x="9677425" y="5260975"/>
            <a:ext cx="5111700" cy="42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9"/>
          <p:cNvSpPr txBox="1">
            <a:spLocks noGrp="1"/>
          </p:cNvSpPr>
          <p:nvPr>
            <p:ph type="body" idx="2"/>
          </p:nvPr>
        </p:nvSpPr>
        <p:spPr>
          <a:xfrm>
            <a:off x="3937325" y="5260975"/>
            <a:ext cx="5454900" cy="3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1150155" y="474511"/>
            <a:ext cx="585420" cy="463014"/>
          </a:xfrm>
          <a:custGeom>
            <a:avLst/>
            <a:gdLst/>
            <a:ahLst/>
            <a:cxnLst/>
            <a:rect l="l" t="t" r="r" b="b"/>
            <a:pathLst>
              <a:path w="585420" h="463014" extrusionOk="0">
                <a:moveTo>
                  <a:pt x="0" y="0"/>
                </a:moveTo>
                <a:lnTo>
                  <a:pt x="585420" y="0"/>
                </a:lnTo>
                <a:lnTo>
                  <a:pt x="585420" y="463014"/>
                </a:lnTo>
                <a:lnTo>
                  <a:pt x="0" y="46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2" name="Google Shape;162;p9"/>
          <p:cNvSpPr txBox="1"/>
          <p:nvPr/>
        </p:nvSpPr>
        <p:spPr>
          <a:xfrm>
            <a:off x="13951821" y="553618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16336640" y="553618"/>
            <a:ext cx="94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11695813" y="553618"/>
            <a:ext cx="70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9486425" y="553625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1864115" y="640875"/>
            <a:ext cx="57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167" name="Google Shape;167;p9"/>
          <p:cNvSpPr txBox="1">
            <a:spLocks noGrp="1"/>
          </p:cNvSpPr>
          <p:nvPr>
            <p:ph type="title"/>
          </p:nvPr>
        </p:nvSpPr>
        <p:spPr>
          <a:xfrm>
            <a:off x="1277025" y="2011950"/>
            <a:ext cx="987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156200" y="-11389675"/>
            <a:ext cx="29895799" cy="2992502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title"/>
          </p:nvPr>
        </p:nvSpPr>
        <p:spPr>
          <a:xfrm>
            <a:off x="1277025" y="2011950"/>
            <a:ext cx="987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71" name="Google Shape;171;p10"/>
          <p:cNvGrpSpPr/>
          <p:nvPr/>
        </p:nvGrpSpPr>
        <p:grpSpPr>
          <a:xfrm>
            <a:off x="4766669" y="784614"/>
            <a:ext cx="193786" cy="320147"/>
            <a:chOff x="0" y="-38100"/>
            <a:chExt cx="51038" cy="84318"/>
          </a:xfrm>
        </p:grpSpPr>
        <p:sp>
          <p:nvSpPr>
            <p:cNvPr id="172" name="Google Shape;172;p10"/>
            <p:cNvSpPr/>
            <p:nvPr/>
          </p:nvSpPr>
          <p:spPr>
            <a:xfrm>
              <a:off x="0" y="0"/>
              <a:ext cx="51038" cy="46218"/>
            </a:xfrm>
            <a:custGeom>
              <a:avLst/>
              <a:gdLst/>
              <a:ahLst/>
              <a:cxnLst/>
              <a:rect l="l" t="t" r="r" b="b"/>
              <a:pathLst>
                <a:path w="51038" h="46218" extrusionOk="0">
                  <a:moveTo>
                    <a:pt x="0" y="0"/>
                  </a:moveTo>
                  <a:lnTo>
                    <a:pt x="51038" y="0"/>
                  </a:lnTo>
                  <a:lnTo>
                    <a:pt x="51038" y="46218"/>
                  </a:lnTo>
                  <a:lnTo>
                    <a:pt x="0" y="46218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</p:sp>
        <p:sp>
          <p:nvSpPr>
            <p:cNvPr id="173" name="Google Shape;173;p10"/>
            <p:cNvSpPr txBox="1"/>
            <p:nvPr/>
          </p:nvSpPr>
          <p:spPr>
            <a:xfrm>
              <a:off x="0" y="-38100"/>
              <a:ext cx="510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10"/>
          <p:cNvGrpSpPr/>
          <p:nvPr/>
        </p:nvGrpSpPr>
        <p:grpSpPr>
          <a:xfrm>
            <a:off x="4422843" y="784614"/>
            <a:ext cx="193786" cy="320147"/>
            <a:chOff x="0" y="-38100"/>
            <a:chExt cx="51038" cy="84318"/>
          </a:xfrm>
        </p:grpSpPr>
        <p:sp>
          <p:nvSpPr>
            <p:cNvPr id="175" name="Google Shape;175;p10"/>
            <p:cNvSpPr/>
            <p:nvPr/>
          </p:nvSpPr>
          <p:spPr>
            <a:xfrm>
              <a:off x="0" y="0"/>
              <a:ext cx="51038" cy="46218"/>
            </a:xfrm>
            <a:custGeom>
              <a:avLst/>
              <a:gdLst/>
              <a:ahLst/>
              <a:cxnLst/>
              <a:rect l="l" t="t" r="r" b="b"/>
              <a:pathLst>
                <a:path w="51038" h="46218" extrusionOk="0">
                  <a:moveTo>
                    <a:pt x="0" y="0"/>
                  </a:moveTo>
                  <a:lnTo>
                    <a:pt x="51038" y="0"/>
                  </a:lnTo>
                  <a:lnTo>
                    <a:pt x="51038" y="46218"/>
                  </a:lnTo>
                  <a:lnTo>
                    <a:pt x="0" y="46218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</p:sp>
        <p:sp>
          <p:nvSpPr>
            <p:cNvPr id="176" name="Google Shape;176;p10"/>
            <p:cNvSpPr txBox="1"/>
            <p:nvPr/>
          </p:nvSpPr>
          <p:spPr>
            <a:xfrm>
              <a:off x="0" y="-38100"/>
              <a:ext cx="510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0"/>
          <p:cNvGrpSpPr/>
          <p:nvPr/>
        </p:nvGrpSpPr>
        <p:grpSpPr>
          <a:xfrm>
            <a:off x="16534704" y="-78698"/>
            <a:ext cx="2402053" cy="3331405"/>
            <a:chOff x="-155132" y="-104931"/>
            <a:chExt cx="3202737" cy="4441874"/>
          </a:xfrm>
        </p:grpSpPr>
        <p:grpSp>
          <p:nvGrpSpPr>
            <p:cNvPr id="178" name="Google Shape;178;p10"/>
            <p:cNvGrpSpPr/>
            <p:nvPr/>
          </p:nvGrpSpPr>
          <p:grpSpPr>
            <a:xfrm rot="-3422158">
              <a:off x="487769" y="2514328"/>
              <a:ext cx="2883829" cy="793399"/>
              <a:chOff x="0" y="-38100"/>
              <a:chExt cx="586875" cy="161461"/>
            </a:xfrm>
          </p:grpSpPr>
          <p:sp>
            <p:nvSpPr>
              <p:cNvPr id="179" name="Google Shape;179;p10"/>
              <p:cNvSpPr/>
              <p:nvPr/>
            </p:nvSpPr>
            <p:spPr>
              <a:xfrm>
                <a:off x="0" y="0"/>
                <a:ext cx="586875" cy="123361"/>
              </a:xfrm>
              <a:custGeom>
                <a:avLst/>
                <a:gdLst/>
                <a:ahLst/>
                <a:cxnLst/>
                <a:rect l="l" t="t" r="r" b="b"/>
                <a:pathLst>
                  <a:path w="586875" h="123361" extrusionOk="0">
                    <a:moveTo>
                      <a:pt x="61681" y="0"/>
                    </a:moveTo>
                    <a:lnTo>
                      <a:pt x="525195" y="0"/>
                    </a:lnTo>
                    <a:cubicBezTo>
                      <a:pt x="541554" y="0"/>
                      <a:pt x="557242" y="6498"/>
                      <a:pt x="568810" y="18066"/>
                    </a:cubicBezTo>
                    <a:cubicBezTo>
                      <a:pt x="580377" y="29633"/>
                      <a:pt x="586875" y="45322"/>
                      <a:pt x="586875" y="61681"/>
                    </a:cubicBezTo>
                    <a:lnTo>
                      <a:pt x="586875" y="61681"/>
                    </a:lnTo>
                    <a:cubicBezTo>
                      <a:pt x="586875" y="95746"/>
                      <a:pt x="559260" y="123361"/>
                      <a:pt x="525195" y="123361"/>
                    </a:cubicBezTo>
                    <a:lnTo>
                      <a:pt x="61681" y="123361"/>
                    </a:lnTo>
                    <a:cubicBezTo>
                      <a:pt x="45322" y="123361"/>
                      <a:pt x="29633" y="116863"/>
                      <a:pt x="18066" y="105296"/>
                    </a:cubicBezTo>
                    <a:cubicBezTo>
                      <a:pt x="6498" y="93728"/>
                      <a:pt x="0" y="78039"/>
                      <a:pt x="0" y="61681"/>
                    </a:cubicBezTo>
                    <a:lnTo>
                      <a:pt x="0" y="61681"/>
                    </a:lnTo>
                    <a:cubicBezTo>
                      <a:pt x="0" y="45322"/>
                      <a:pt x="6498" y="29633"/>
                      <a:pt x="18066" y="18066"/>
                    </a:cubicBezTo>
                    <a:cubicBezTo>
                      <a:pt x="29633" y="6498"/>
                      <a:pt x="45322" y="0"/>
                      <a:pt x="61681" y="0"/>
                    </a:cubicBezTo>
                    <a:close/>
                  </a:path>
                </a:pathLst>
              </a:custGeom>
              <a:solidFill>
                <a:srgbClr val="4961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0"/>
              <p:cNvSpPr txBox="1"/>
              <p:nvPr/>
            </p:nvSpPr>
            <p:spPr>
              <a:xfrm>
                <a:off x="0" y="-38100"/>
                <a:ext cx="586800" cy="16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10"/>
            <p:cNvGrpSpPr/>
            <p:nvPr/>
          </p:nvGrpSpPr>
          <p:grpSpPr>
            <a:xfrm rot="-3357446">
              <a:off x="-1082662" y="1891936"/>
              <a:ext cx="5057796" cy="448141"/>
              <a:chOff x="0" y="-38100"/>
              <a:chExt cx="1029300" cy="91200"/>
            </a:xfrm>
          </p:grpSpPr>
          <p:sp>
            <p:nvSpPr>
              <p:cNvPr id="182" name="Google Shape;182;p10"/>
              <p:cNvSpPr/>
              <p:nvPr/>
            </p:nvSpPr>
            <p:spPr>
              <a:xfrm>
                <a:off x="0" y="0"/>
                <a:ext cx="1029263" cy="52997"/>
              </a:xfrm>
              <a:custGeom>
                <a:avLst/>
                <a:gdLst/>
                <a:ahLst/>
                <a:cxnLst/>
                <a:rect l="l" t="t" r="r" b="b"/>
                <a:pathLst>
                  <a:path w="1029263" h="52997" extrusionOk="0">
                    <a:moveTo>
                      <a:pt x="26499" y="0"/>
                    </a:moveTo>
                    <a:lnTo>
                      <a:pt x="1002764" y="0"/>
                    </a:lnTo>
                    <a:cubicBezTo>
                      <a:pt x="1017399" y="0"/>
                      <a:pt x="1029263" y="11864"/>
                      <a:pt x="1029263" y="26499"/>
                    </a:cubicBezTo>
                    <a:lnTo>
                      <a:pt x="1029263" y="26499"/>
                    </a:lnTo>
                    <a:cubicBezTo>
                      <a:pt x="1029263" y="41133"/>
                      <a:pt x="1017399" y="52997"/>
                      <a:pt x="1002764" y="52997"/>
                    </a:cubicBezTo>
                    <a:lnTo>
                      <a:pt x="26499" y="52997"/>
                    </a:lnTo>
                    <a:cubicBezTo>
                      <a:pt x="11864" y="52997"/>
                      <a:pt x="0" y="41133"/>
                      <a:pt x="0" y="26499"/>
                    </a:cubicBezTo>
                    <a:lnTo>
                      <a:pt x="0" y="26499"/>
                    </a:lnTo>
                    <a:cubicBezTo>
                      <a:pt x="0" y="11864"/>
                      <a:pt x="11864" y="0"/>
                      <a:pt x="26499" y="0"/>
                    </a:cubicBezTo>
                    <a:close/>
                  </a:path>
                </a:pathLst>
              </a:custGeom>
              <a:solidFill>
                <a:srgbClr val="627F8B">
                  <a:alpha val="498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0"/>
              <p:cNvSpPr txBox="1"/>
              <p:nvPr/>
            </p:nvSpPr>
            <p:spPr>
              <a:xfrm>
                <a:off x="0" y="-38100"/>
                <a:ext cx="1029300" cy="9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" name="Google Shape;184;p10"/>
            <p:cNvGrpSpPr/>
            <p:nvPr/>
          </p:nvGrpSpPr>
          <p:grpSpPr>
            <a:xfrm rot="-3342640">
              <a:off x="-224512" y="1909471"/>
              <a:ext cx="2115746" cy="228496"/>
              <a:chOff x="0" y="-38100"/>
              <a:chExt cx="430572" cy="46500"/>
            </a:xfrm>
          </p:grpSpPr>
          <p:sp>
            <p:nvSpPr>
              <p:cNvPr id="185" name="Google Shape;185;p10"/>
              <p:cNvSpPr/>
              <p:nvPr/>
            </p:nvSpPr>
            <p:spPr>
              <a:xfrm>
                <a:off x="0" y="0"/>
                <a:ext cx="430572" cy="8353"/>
              </a:xfrm>
              <a:custGeom>
                <a:avLst/>
                <a:gdLst/>
                <a:ahLst/>
                <a:cxnLst/>
                <a:rect l="l" t="t" r="r" b="b"/>
                <a:pathLst>
                  <a:path w="430572" h="8353" extrusionOk="0">
                    <a:moveTo>
                      <a:pt x="4177" y="0"/>
                    </a:moveTo>
                    <a:lnTo>
                      <a:pt x="426396" y="0"/>
                    </a:lnTo>
                    <a:cubicBezTo>
                      <a:pt x="427503" y="0"/>
                      <a:pt x="428566" y="440"/>
                      <a:pt x="429349" y="1223"/>
                    </a:cubicBezTo>
                    <a:cubicBezTo>
                      <a:pt x="430132" y="2007"/>
                      <a:pt x="430572" y="3069"/>
                      <a:pt x="430572" y="4177"/>
                    </a:cubicBezTo>
                    <a:lnTo>
                      <a:pt x="430572" y="4177"/>
                    </a:lnTo>
                    <a:cubicBezTo>
                      <a:pt x="430572" y="5284"/>
                      <a:pt x="430132" y="6347"/>
                      <a:pt x="429349" y="7130"/>
                    </a:cubicBezTo>
                    <a:cubicBezTo>
                      <a:pt x="428566" y="7913"/>
                      <a:pt x="427503" y="8353"/>
                      <a:pt x="426396" y="8353"/>
                    </a:cubicBezTo>
                    <a:lnTo>
                      <a:pt x="4177" y="8353"/>
                    </a:lnTo>
                    <a:cubicBezTo>
                      <a:pt x="3069" y="8353"/>
                      <a:pt x="2007" y="7913"/>
                      <a:pt x="1223" y="7130"/>
                    </a:cubicBezTo>
                    <a:cubicBezTo>
                      <a:pt x="440" y="6347"/>
                      <a:pt x="0" y="5284"/>
                      <a:pt x="0" y="4177"/>
                    </a:cubicBezTo>
                    <a:lnTo>
                      <a:pt x="0" y="4177"/>
                    </a:lnTo>
                    <a:cubicBezTo>
                      <a:pt x="0" y="3069"/>
                      <a:pt x="440" y="2007"/>
                      <a:pt x="1223" y="1223"/>
                    </a:cubicBezTo>
                    <a:cubicBezTo>
                      <a:pt x="2007" y="440"/>
                      <a:pt x="3069" y="0"/>
                      <a:pt x="41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0"/>
              <p:cNvSpPr txBox="1"/>
              <p:nvPr/>
            </p:nvSpPr>
            <p:spPr>
              <a:xfrm>
                <a:off x="0" y="-38100"/>
                <a:ext cx="430500" cy="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7" name="Google Shape;187;p10"/>
          <p:cNvSpPr>
            <a:spLocks noGrp="1"/>
          </p:cNvSpPr>
          <p:nvPr>
            <p:ph type="pic" idx="2"/>
          </p:nvPr>
        </p:nvSpPr>
        <p:spPr>
          <a:xfrm>
            <a:off x="9486413" y="420870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10"/>
          <p:cNvSpPr txBox="1">
            <a:spLocks noGrp="1"/>
          </p:cNvSpPr>
          <p:nvPr>
            <p:ph type="body" idx="1"/>
          </p:nvPr>
        </p:nvSpPr>
        <p:spPr>
          <a:xfrm>
            <a:off x="1948438" y="49767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1150155" y="474511"/>
            <a:ext cx="585420" cy="463014"/>
          </a:xfrm>
          <a:custGeom>
            <a:avLst/>
            <a:gdLst/>
            <a:ahLst/>
            <a:cxnLst/>
            <a:rect l="l" t="t" r="r" b="b"/>
            <a:pathLst>
              <a:path w="585420" h="463014" extrusionOk="0">
                <a:moveTo>
                  <a:pt x="0" y="0"/>
                </a:moveTo>
                <a:lnTo>
                  <a:pt x="585420" y="0"/>
                </a:lnTo>
                <a:lnTo>
                  <a:pt x="585420" y="463014"/>
                </a:lnTo>
                <a:lnTo>
                  <a:pt x="0" y="46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0" name="Google Shape;190;p10"/>
          <p:cNvSpPr txBox="1"/>
          <p:nvPr/>
        </p:nvSpPr>
        <p:spPr>
          <a:xfrm>
            <a:off x="13951821" y="553618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16336640" y="553618"/>
            <a:ext cx="94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11695813" y="553618"/>
            <a:ext cx="70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193" name="Google Shape;193;p10"/>
          <p:cNvSpPr txBox="1"/>
          <p:nvPr/>
        </p:nvSpPr>
        <p:spPr>
          <a:xfrm>
            <a:off x="9486425" y="553625"/>
            <a:ext cx="83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1864115" y="640875"/>
            <a:ext cx="57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77025" y="2011950"/>
            <a:ext cx="987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5900" y="45867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–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–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»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D9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1850" y="-1260025"/>
            <a:ext cx="12434308" cy="124769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11"/>
          <p:cNvGrpSpPr/>
          <p:nvPr/>
        </p:nvGrpSpPr>
        <p:grpSpPr>
          <a:xfrm>
            <a:off x="40321" y="1353914"/>
            <a:ext cx="624331" cy="1402614"/>
            <a:chOff x="0" y="-38100"/>
            <a:chExt cx="65998" cy="148270"/>
          </a:xfrm>
        </p:grpSpPr>
        <p:sp>
          <p:nvSpPr>
            <p:cNvPr id="205" name="Google Shape;205;p11"/>
            <p:cNvSpPr/>
            <p:nvPr/>
          </p:nvSpPr>
          <p:spPr>
            <a:xfrm>
              <a:off x="0" y="0"/>
              <a:ext cx="65998" cy="110170"/>
            </a:xfrm>
            <a:custGeom>
              <a:avLst/>
              <a:gdLst/>
              <a:ahLst/>
              <a:cxnLst/>
              <a:rect l="l" t="t" r="r" b="b"/>
              <a:pathLst>
                <a:path w="65998" h="110170" extrusionOk="0">
                  <a:moveTo>
                    <a:pt x="0" y="0"/>
                  </a:moveTo>
                  <a:lnTo>
                    <a:pt x="65998" y="0"/>
                  </a:lnTo>
                  <a:lnTo>
                    <a:pt x="65998" y="110170"/>
                  </a:lnTo>
                  <a:lnTo>
                    <a:pt x="0" y="110170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Google Shape;206;p11"/>
            <p:cNvSpPr txBox="1"/>
            <p:nvPr/>
          </p:nvSpPr>
          <p:spPr>
            <a:xfrm>
              <a:off x="0" y="-38100"/>
              <a:ext cx="65998" cy="148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400FEFD-9762-DE80-910E-79CB6A303555}"/>
              </a:ext>
            </a:extLst>
          </p:cNvPr>
          <p:cNvSpPr txBox="1"/>
          <p:nvPr/>
        </p:nvSpPr>
        <p:spPr>
          <a:xfrm>
            <a:off x="2210445" y="5143500"/>
            <a:ext cx="156436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40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 从 MariaDB/MySQL 真实负载到 </a:t>
            </a:r>
            <a:r>
              <a:rPr lang="en-US" altLang="zh-CN" sz="40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StarryOS</a:t>
            </a: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 自举编译全链路分析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7480C3-2BA6-1558-9B6F-F1BA14592FD4}"/>
              </a:ext>
            </a:extLst>
          </p:cNvPr>
          <p:cNvSpPr txBox="1"/>
          <p:nvPr/>
        </p:nvSpPr>
        <p:spPr>
          <a:xfrm>
            <a:off x="1453390" y="1714335"/>
            <a:ext cx="124343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latin typeface="SimHei" panose="02010609060101010101" pitchFamily="49" charset="-122"/>
                <a:ea typeface="SimHei" panose="02010609060101010101" pitchFamily="49" charset="-122"/>
              </a:rPr>
              <a:t>StarryOS 的 Linux 兼容性完善：</a:t>
            </a:r>
          </a:p>
          <a:p>
            <a:r>
              <a:rPr lang="en-US" altLang="zh-CN" sz="6000" b="1" dirty="0">
                <a:latin typeface="SimHei" panose="02010609060101010101" pitchFamily="49" charset="-122"/>
                <a:ea typeface="SimHei" panose="02010609060101010101" pitchFamily="49" charset="-122"/>
              </a:rPr>
              <a:t>	</a:t>
            </a:r>
            <a:r>
              <a:rPr lang="zh-CN" altLang="en-US" sz="6000" b="1" dirty="0">
                <a:latin typeface="SimHei" panose="02010609060101010101" pitchFamily="49" charset="-122"/>
                <a:ea typeface="SimHei" panose="02010609060101010101" pitchFamily="49" charset="-122"/>
              </a:rPr>
              <a:t>数据库应用适配与自举编译验证</a:t>
            </a:r>
          </a:p>
          <a:p>
            <a:endParaRPr kumimoji="1" lang="zh-CN" altLang="en-US" sz="60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B256F2-DD3D-1DF6-8B0C-007F83E40611}"/>
              </a:ext>
            </a:extLst>
          </p:cNvPr>
          <p:cNvSpPr txBox="1"/>
          <p:nvPr/>
        </p:nvSpPr>
        <p:spPr>
          <a:xfrm>
            <a:off x="6911850" y="8787539"/>
            <a:ext cx="35181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吴勋</a:t>
            </a:r>
            <a:endParaRPr kumimoji="1" lang="en-US" altLang="zh-CN" sz="3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en-US" altLang="zh-CN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2026.6.28</a:t>
            </a:r>
            <a:endParaRPr kumimoji="1" lang="zh-CN" altLang="en-US" sz="3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D9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086100" y="-7524750"/>
            <a:ext cx="24469452" cy="246136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1BFC9C3-FE1E-75C9-95EF-BFE6A5DB53B1}"/>
              </a:ext>
            </a:extLst>
          </p:cNvPr>
          <p:cNvSpPr txBox="1"/>
          <p:nvPr/>
        </p:nvSpPr>
        <p:spPr>
          <a:xfrm>
            <a:off x="541867" y="626533"/>
            <a:ext cx="62653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latin typeface="SimHei" panose="02010609060101010101" pitchFamily="49" charset="-122"/>
                <a:ea typeface="SimHei" panose="02010609060101010101" pitchFamily="49" charset="-122"/>
              </a:rPr>
              <a:t>项目阶段总览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DED3BC-831C-E76D-16D3-7F18EFBC7657}"/>
              </a:ext>
            </a:extLst>
          </p:cNvPr>
          <p:cNvSpPr txBox="1"/>
          <p:nvPr/>
        </p:nvSpPr>
        <p:spPr>
          <a:xfrm>
            <a:off x="541867" y="2658534"/>
            <a:ext cx="7958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/>
              <a:t>总共 </a:t>
            </a:r>
            <a:r>
              <a:rPr kumimoji="1" lang="en-US" altLang="zh-CN" sz="3600" b="1" dirty="0"/>
              <a:t>7 </a:t>
            </a:r>
            <a:r>
              <a:rPr kumimoji="1" lang="zh-CN" altLang="en-US" sz="3600" b="1" dirty="0"/>
              <a:t>个</a:t>
            </a:r>
            <a:r>
              <a:rPr kumimoji="1" lang="en-US" altLang="zh-CN" sz="3600" b="1" dirty="0"/>
              <a:t> PR</a:t>
            </a:r>
            <a:r>
              <a:rPr kumimoji="1" lang="zh-CN" altLang="en-US" sz="3600" b="1" dirty="0"/>
              <a:t>均已合入 </a:t>
            </a:r>
            <a:r>
              <a:rPr kumimoji="1" lang="en-US" altLang="zh-CN" sz="3600" b="1" dirty="0"/>
              <a:t>dev</a:t>
            </a:r>
            <a:r>
              <a:rPr kumimoji="1" lang="zh-CN" altLang="en-US" sz="3600" b="1" dirty="0"/>
              <a:t> 分支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7D2425-BB05-70F0-92EE-CF0316323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426966"/>
              </p:ext>
            </p:extLst>
          </p:nvPr>
        </p:nvGraphicFramePr>
        <p:xfrm>
          <a:off x="270933" y="3891868"/>
          <a:ext cx="17746133" cy="5473704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590801">
                  <a:extLst>
                    <a:ext uri="{9D8B030D-6E8A-4147-A177-3AD203B41FA5}">
                      <a16:colId xmlns:a16="http://schemas.microsoft.com/office/drawing/2014/main" val="3119751234"/>
                    </a:ext>
                  </a:extLst>
                </a:gridCol>
                <a:gridCol w="15155332">
                  <a:extLst>
                    <a:ext uri="{9D8B030D-6E8A-4147-A177-3AD203B41FA5}">
                      <a16:colId xmlns:a16="http://schemas.microsoft.com/office/drawing/2014/main" val="756723505"/>
                    </a:ext>
                  </a:extLst>
                </a:gridCol>
              </a:tblGrid>
              <a:tr h="6842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PR </a:t>
                      </a:r>
                      <a:r>
                        <a:rPr lang="zh-CN" altLang="en-US" sz="3200" dirty="0"/>
                        <a:t>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具体内容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960259"/>
                  </a:ext>
                </a:extLst>
              </a:tr>
              <a:tr h="6842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671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/>
                        <a:t>为信号机制添加测例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868133"/>
                  </a:ext>
                </a:extLst>
              </a:tr>
              <a:tr h="6842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784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/>
                        <a:t>为基础</a:t>
                      </a:r>
                      <a:r>
                        <a:rPr lang="en-US" altLang="zh-CN" sz="2800" dirty="0"/>
                        <a:t> IO</a:t>
                      </a:r>
                      <a:r>
                        <a:rPr lang="zh-CN" altLang="en-US" sz="2800" dirty="0"/>
                        <a:t> 添加测例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031571"/>
                  </a:ext>
                </a:extLst>
              </a:tr>
              <a:tr h="6842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906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/>
                        <a:t>在</a:t>
                      </a:r>
                      <a:r>
                        <a:rPr lang="en-US" altLang="zh-CN" sz="2800" dirty="0"/>
                        <a:t> Alpine</a:t>
                      </a:r>
                      <a:r>
                        <a:rPr lang="zh-CN" altLang="en-US" sz="2800" dirty="0"/>
                        <a:t> 环境下，支持了</a:t>
                      </a:r>
                      <a:r>
                        <a:rPr lang="en-US" altLang="zh-CN" sz="2800" dirty="0"/>
                        <a:t> MariaDB</a:t>
                      </a:r>
                      <a:r>
                        <a:rPr lang="zh-CN" altLang="en-US" sz="2800" dirty="0"/>
                        <a:t>，兼容实现</a:t>
                      </a:r>
                      <a:r>
                        <a:rPr lang="en-US" altLang="zh-CN" sz="2800" dirty="0"/>
                        <a:t> AIO</a:t>
                      </a:r>
                      <a:r>
                        <a:rPr lang="zh-CN" altLang="en-US" sz="2800" dirty="0"/>
                        <a:t> 系统调用，并添加测例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9713821"/>
                  </a:ext>
                </a:extLst>
              </a:tr>
              <a:tr h="6842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1147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/>
                        <a:t>在</a:t>
                      </a:r>
                      <a:r>
                        <a:rPr lang="en-US" altLang="zh-CN" sz="2800" dirty="0"/>
                        <a:t> Debian</a:t>
                      </a:r>
                      <a:r>
                        <a:rPr lang="zh-CN" altLang="en-US" sz="2800" dirty="0"/>
                        <a:t> 环境下，支持了</a:t>
                      </a:r>
                      <a:r>
                        <a:rPr lang="en-US" altLang="zh-CN" sz="2800" dirty="0"/>
                        <a:t> MySQL</a:t>
                      </a:r>
                      <a:r>
                        <a:rPr lang="zh-CN" altLang="en-US" sz="2800" dirty="0"/>
                        <a:t>，实现</a:t>
                      </a:r>
                      <a:r>
                        <a:rPr lang="en-US" altLang="zh-CN" sz="2800" dirty="0"/>
                        <a:t> AIO</a:t>
                      </a:r>
                      <a:r>
                        <a:rPr lang="zh-CN" altLang="en-US" sz="2800" dirty="0"/>
                        <a:t> 兼容子系统，并进一步完善测例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409928"/>
                  </a:ext>
                </a:extLst>
              </a:tr>
              <a:tr h="6842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1165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/>
                        <a:t>完善</a:t>
                      </a:r>
                      <a:r>
                        <a:rPr lang="en-US" altLang="zh-CN" sz="2800" dirty="0"/>
                        <a:t> AIO</a:t>
                      </a:r>
                      <a:r>
                        <a:rPr lang="zh-CN" altLang="en-US" sz="2800" dirty="0"/>
                        <a:t> 的调用边界并完善测例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99546"/>
                  </a:ext>
                </a:extLst>
              </a:tr>
              <a:tr h="6842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1225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/>
                        <a:t>发现导致自举编译卡死的</a:t>
                      </a:r>
                      <a:r>
                        <a:rPr lang="en-US" altLang="zh-CN" sz="2800" dirty="0"/>
                        <a:t> bug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6706015"/>
                  </a:ext>
                </a:extLst>
              </a:tr>
              <a:tr h="6842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1333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/>
                        <a:t>实现完整的</a:t>
                      </a:r>
                      <a:r>
                        <a:rPr lang="en-US" altLang="zh-CN" sz="2800" dirty="0"/>
                        <a:t> macOS</a:t>
                      </a:r>
                      <a:r>
                        <a:rPr lang="zh-CN" altLang="en-US" sz="2800" dirty="0"/>
                        <a:t> </a:t>
                      </a:r>
                      <a:r>
                        <a:rPr lang="en-US" altLang="zh-CN" sz="2800" dirty="0"/>
                        <a:t>self-build</a:t>
                      </a:r>
                      <a:r>
                        <a:rPr lang="zh-CN" altLang="en-US" sz="2800" dirty="0"/>
                        <a:t>，为</a:t>
                      </a:r>
                      <a:r>
                        <a:rPr lang="en-US" altLang="zh-CN" sz="2800" dirty="0"/>
                        <a:t> </a:t>
                      </a:r>
                      <a:r>
                        <a:rPr lang="en-US" altLang="zh-CN" sz="2800" dirty="0" err="1"/>
                        <a:t>xtask</a:t>
                      </a:r>
                      <a:r>
                        <a:rPr lang="zh-CN" altLang="en-US" sz="2800" dirty="0"/>
                        <a:t> 增加</a:t>
                      </a:r>
                      <a:r>
                        <a:rPr lang="en-US" altLang="zh-CN" sz="2800" dirty="0"/>
                        <a:t> resize</a:t>
                      </a:r>
                      <a:r>
                        <a:rPr lang="zh-CN" altLang="en-US" sz="2800" dirty="0"/>
                        <a:t> 功能，支持以非</a:t>
                      </a:r>
                      <a:r>
                        <a:rPr lang="en-US" altLang="zh-CN" sz="2800" dirty="0"/>
                        <a:t> snapshot</a:t>
                      </a:r>
                      <a:r>
                        <a:rPr lang="zh-CN" altLang="en-US" sz="2800" dirty="0"/>
                        <a:t> 模式打开</a:t>
                      </a:r>
                      <a:r>
                        <a:rPr lang="en-US" altLang="zh-CN" sz="2800" dirty="0"/>
                        <a:t> App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3928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D9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44419" y="342175"/>
            <a:ext cx="10256864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3AA2443-225C-E80D-F221-B352E3483204}"/>
              </a:ext>
            </a:extLst>
          </p:cNvPr>
          <p:cNvSpPr txBox="1"/>
          <p:nvPr/>
        </p:nvSpPr>
        <p:spPr>
          <a:xfrm>
            <a:off x="643466" y="846667"/>
            <a:ext cx="7992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/>
              <a:t>方案一  为</a:t>
            </a:r>
            <a:r>
              <a:rPr kumimoji="1" lang="en-US" altLang="zh-CN" sz="3600" b="1" dirty="0"/>
              <a:t> </a:t>
            </a:r>
            <a:r>
              <a:rPr kumimoji="1" lang="en-US" altLang="zh-CN" sz="3600" b="1" dirty="0" err="1"/>
              <a:t>syscall</a:t>
            </a:r>
            <a:r>
              <a:rPr kumimoji="1" lang="zh-CN" altLang="en-US" sz="3600" b="1" dirty="0"/>
              <a:t> 添加测例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E000A2E-7822-36BE-D7DC-0F26F3819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892681"/>
              </p:ext>
            </p:extLst>
          </p:nvPr>
        </p:nvGraphicFramePr>
        <p:xfrm>
          <a:off x="3048000" y="1845090"/>
          <a:ext cx="12192000" cy="7947334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709334">
                  <a:extLst>
                    <a:ext uri="{9D8B030D-6E8A-4147-A177-3AD203B41FA5}">
                      <a16:colId xmlns:a16="http://schemas.microsoft.com/office/drawing/2014/main" val="2801201192"/>
                    </a:ext>
                  </a:extLst>
                </a:gridCol>
                <a:gridCol w="9482666">
                  <a:extLst>
                    <a:ext uri="{9D8B030D-6E8A-4147-A177-3AD203B41FA5}">
                      <a16:colId xmlns:a16="http://schemas.microsoft.com/office/drawing/2014/main" val="2894191075"/>
                    </a:ext>
                  </a:extLst>
                </a:gridCol>
              </a:tblGrid>
              <a:tr h="7673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 err="1"/>
                        <a:t>syscall</a:t>
                      </a:r>
                      <a:endParaRPr lang="zh-CN" altLang="en-US" sz="32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覆盖范围</a:t>
                      </a:r>
                      <a:endParaRPr lang="zh-CN" altLang="en-US" sz="32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7989592"/>
                  </a:ext>
                </a:extLst>
              </a:tr>
              <a:tr h="1041049">
                <a:tc>
                  <a:txBody>
                    <a:bodyPr/>
                    <a:lstStyle/>
                    <a:p>
                      <a:pPr algn="ctr"/>
                      <a:r>
                        <a:rPr lang="en" altLang="zh-CN" sz="2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rt_sigaction</a:t>
                      </a:r>
                      <a:endParaRPr lang="zh-CN" altLang="en-US" sz="2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验证实时信号 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handler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安装与递送，覆盖 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SA_RESETHAND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SA_SIGINFO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SA_NODEFER/SA_NOMASK 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等 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flag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语义，以及非法信号、非法指针、过小 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sigsetsize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 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等错误路径</a:t>
                      </a:r>
                      <a:endParaRPr lang="zh-CN" altLang="en-US" sz="1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20454"/>
                  </a:ext>
                </a:extLst>
              </a:tr>
              <a:tr h="767365">
                <a:tc>
                  <a:txBody>
                    <a:bodyPr/>
                    <a:lstStyle/>
                    <a:p>
                      <a:pPr algn="ctr"/>
                      <a:r>
                        <a:rPr lang="en" altLang="zh-CN" sz="2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rt_sigprocmask</a:t>
                      </a:r>
                      <a:endParaRPr lang="zh-CN" altLang="en-US" sz="2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验证 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SIG_BLOCK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SIG_UNBLOCK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SIG_SETMASK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，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覆盖 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signal mask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pending signal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递送、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old mask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查询和非法参数</a:t>
                      </a:r>
                      <a:endParaRPr lang="zh-CN" altLang="en-US" sz="1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915433"/>
                  </a:ext>
                </a:extLst>
              </a:tr>
              <a:tr h="767365">
                <a:tc>
                  <a:txBody>
                    <a:bodyPr/>
                    <a:lstStyle/>
                    <a:p>
                      <a:pPr algn="ctr"/>
                      <a:r>
                        <a:rPr lang="en" altLang="zh-CN" sz="2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rt_sigpending</a:t>
                      </a:r>
                      <a:endParaRPr lang="zh-CN" altLang="en-US" sz="2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验证阻塞信号进入 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pending set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解除阻塞后递送，以及非法 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pending set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指针返回 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EFAULT</a:t>
                      </a:r>
                      <a:endParaRPr lang="zh-CN" altLang="en-US" sz="1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45777"/>
                  </a:ext>
                </a:extLst>
              </a:tr>
              <a:tr h="767365">
                <a:tc>
                  <a:txBody>
                    <a:bodyPr/>
                    <a:lstStyle/>
                    <a:p>
                      <a:pPr algn="ctr"/>
                      <a:r>
                        <a:rPr lang="en" altLang="zh-CN" sz="2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kill / </a:t>
                      </a:r>
                      <a:r>
                        <a:rPr lang="en" altLang="zh-CN" sz="2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tgkill</a:t>
                      </a:r>
                      <a:endParaRPr lang="zh-CN" altLang="en-US" sz="2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验证进程级和线程级信号发送、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signal 0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探测、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SA_SIGINFO 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下 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si_signo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 / 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si_pid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 / 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si_code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 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字段，以及非法 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pid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/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tid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/signal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错误路径</a:t>
                      </a:r>
                      <a:endParaRPr lang="zh-CN" altLang="en-US" sz="1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99"/>
                  </a:ext>
                </a:extLst>
              </a:tr>
              <a:tr h="767365">
                <a:tc>
                  <a:txBody>
                    <a:bodyPr/>
                    <a:lstStyle/>
                    <a:p>
                      <a:pPr algn="ctr"/>
                      <a:r>
                        <a:rPr lang="en" altLang="zh-CN" sz="2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tkill</a:t>
                      </a:r>
                      <a:endParaRPr lang="zh-CN" altLang="en-US" sz="2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验证旧版线程定向信号发送 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syscall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，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包括 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signal 0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探测、向当前线程发送信号、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siginfo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校验和错误路径</a:t>
                      </a:r>
                      <a:endParaRPr lang="zh-CN" altLang="en-US" sz="1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540482"/>
                  </a:ext>
                </a:extLst>
              </a:tr>
              <a:tr h="767365">
                <a:tc>
                  <a:txBody>
                    <a:bodyPr/>
                    <a:lstStyle/>
                    <a:p>
                      <a:pPr algn="ctr"/>
                      <a:r>
                        <a:rPr lang="en" altLang="zh-CN" sz="2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read</a:t>
                      </a:r>
                      <a:endParaRPr lang="zh-CN" altLang="en-US" sz="2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覆盖普通文件读取、短文件读取、空文件读取、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EOF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count = 0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，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以及非法 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fd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未打开 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fd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只写 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fd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上读取等错误路径</a:t>
                      </a:r>
                      <a:endParaRPr lang="zh-CN" altLang="en-US" sz="1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316299"/>
                  </a:ext>
                </a:extLst>
              </a:tr>
              <a:tr h="767365">
                <a:tc>
                  <a:txBody>
                    <a:bodyPr/>
                    <a:lstStyle/>
                    <a:p>
                      <a:pPr algn="ctr"/>
                      <a:r>
                        <a:rPr lang="en" altLang="zh-CN" sz="2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write</a:t>
                      </a:r>
                      <a:endParaRPr lang="zh-CN" altLang="en-US" sz="2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覆盖普通文件写入、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offset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推进、写后读回、多种写入长度、覆盖写入，以及非法 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fd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未打开 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fd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只读 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fd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上写入等错误路径</a:t>
                      </a:r>
                      <a:endParaRPr lang="zh-CN" altLang="en-US" sz="1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929011"/>
                  </a:ext>
                </a:extLst>
              </a:tr>
              <a:tr h="767365">
                <a:tc>
                  <a:txBody>
                    <a:bodyPr/>
                    <a:lstStyle/>
                    <a:p>
                      <a:pPr algn="ctr"/>
                      <a:r>
                        <a:rPr lang="en" altLang="zh-CN" sz="2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lseek</a:t>
                      </a:r>
                      <a:endParaRPr lang="zh-CN" altLang="en-US" sz="2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覆盖 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SEEK_SET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SEEK_CUR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SEEK_END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，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seek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到 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EOF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后写入形成 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sparse file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，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以及非法 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offset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非法 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whence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pipe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上 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lseek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 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等错误路径</a:t>
                      </a:r>
                      <a:endParaRPr lang="zh-CN" altLang="en-US" sz="1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937343"/>
                  </a:ext>
                </a:extLst>
              </a:tr>
              <a:tr h="767365">
                <a:tc>
                  <a:txBody>
                    <a:bodyPr/>
                    <a:lstStyle/>
                    <a:p>
                      <a:pPr algn="ctr"/>
                      <a:r>
                        <a:rPr lang="en" altLang="zh-CN" sz="2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close</a:t>
                      </a:r>
                      <a:endParaRPr lang="zh-CN" altLang="en-US" sz="2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覆盖普通文件、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pipe/socket 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fd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关闭，关闭后继续使用 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fd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返回 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EBADF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，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以及非法 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fd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未打开 </a:t>
                      </a:r>
                      <a:r>
                        <a:rPr lang="en" altLang="zh-CN" sz="18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fd</a:t>
                      </a:r>
                      <a:r>
                        <a:rPr lang="zh-CN" altLang="e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、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重复 </a:t>
                      </a:r>
                      <a:r>
                        <a:rPr lang="en" altLang="zh-CN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close </a:t>
                      </a:r>
                      <a:r>
                        <a:rPr lang="zh-CN" altLang="en-US" sz="18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等错误路径</a:t>
                      </a:r>
                      <a:endParaRPr lang="zh-CN" altLang="en-US" sz="18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9703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D9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5098" y="-442725"/>
            <a:ext cx="13132011" cy="111724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F940704-9BB4-027B-E017-008D00807FA2}"/>
              </a:ext>
            </a:extLst>
          </p:cNvPr>
          <p:cNvSpPr txBox="1"/>
          <p:nvPr/>
        </p:nvSpPr>
        <p:spPr>
          <a:xfrm>
            <a:off x="643466" y="846667"/>
            <a:ext cx="7992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/>
              <a:t>方案二  适配</a:t>
            </a:r>
            <a:r>
              <a:rPr kumimoji="1" lang="en-US" altLang="zh-CN" sz="3600" b="1" dirty="0"/>
              <a:t> MariaDB/MySQL</a:t>
            </a:r>
            <a:endParaRPr kumimoji="1" lang="zh-CN" altLang="en-US" sz="3600" b="1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BD3851D-5815-ED3B-5ADE-073F1503E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723498"/>
              </p:ext>
            </p:extLst>
          </p:nvPr>
        </p:nvGraphicFramePr>
        <p:xfrm>
          <a:off x="1308097" y="2961791"/>
          <a:ext cx="15976599" cy="6704008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4195236">
                  <a:extLst>
                    <a:ext uri="{9D8B030D-6E8A-4147-A177-3AD203B41FA5}">
                      <a16:colId xmlns:a16="http://schemas.microsoft.com/office/drawing/2014/main" val="3885807319"/>
                    </a:ext>
                  </a:extLst>
                </a:gridCol>
                <a:gridCol w="4855632">
                  <a:extLst>
                    <a:ext uri="{9D8B030D-6E8A-4147-A177-3AD203B41FA5}">
                      <a16:colId xmlns:a16="http://schemas.microsoft.com/office/drawing/2014/main" val="3133136558"/>
                    </a:ext>
                  </a:extLst>
                </a:gridCol>
                <a:gridCol w="6925731">
                  <a:extLst>
                    <a:ext uri="{9D8B030D-6E8A-4147-A177-3AD203B41FA5}">
                      <a16:colId xmlns:a16="http://schemas.microsoft.com/office/drawing/2014/main" val="1830655418"/>
                    </a:ext>
                  </a:extLst>
                </a:gridCol>
              </a:tblGrid>
              <a:tr h="7602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effectLst/>
                        </a:rPr>
                        <a:t>问题</a:t>
                      </a:r>
                      <a:endParaRPr lang="zh-CN" altLang="en-US" sz="2400" b="1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effectLst/>
                        </a:rPr>
                        <a:t>涉及的部分</a:t>
                      </a:r>
                      <a:endParaRPr lang="zh-CN" altLang="en-US" sz="2400" b="1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effectLst/>
                        </a:rPr>
                        <a:t>修复内容</a:t>
                      </a:r>
                      <a:endParaRPr lang="zh-CN" altLang="en-US" sz="2400" b="1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04774844"/>
                  </a:ext>
                </a:extLst>
              </a:tr>
              <a:tr h="1109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 err="1">
                          <a:effectLst/>
                        </a:rPr>
                        <a:t>InnoDB</a:t>
                      </a:r>
                      <a:r>
                        <a:rPr lang="en" sz="2400" dirty="0">
                          <a:effectLst/>
                        </a:rPr>
                        <a:t> </a:t>
                      </a:r>
                      <a:r>
                        <a:rPr lang="zh-CN" altLang="en-US" sz="2400" dirty="0">
                          <a:effectLst/>
                        </a:rPr>
                        <a:t>读取 </a:t>
                      </a:r>
                      <a:r>
                        <a:rPr lang="en" sz="2400" dirty="0">
                          <a:effectLst/>
                        </a:rPr>
                        <a:t>ibdata1 </a:t>
                      </a:r>
                      <a:r>
                        <a:rPr lang="zh-CN" altLang="en-US" sz="2400" dirty="0">
                          <a:effectLst/>
                        </a:rPr>
                        <a:t>短读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 err="1">
                          <a:effectLst/>
                        </a:rPr>
                        <a:t>axfs</a:t>
                      </a:r>
                      <a:r>
                        <a:rPr lang="en-US" altLang="zh-CN" sz="2400" dirty="0">
                          <a:effectLst/>
                        </a:rPr>
                        <a:t>-ng/.../</a:t>
                      </a:r>
                      <a:r>
                        <a:rPr lang="en-US" altLang="zh-CN" sz="2400" dirty="0" err="1">
                          <a:effectLst/>
                        </a:rPr>
                        <a:t>file.rs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effectLst/>
                        </a:rPr>
                        <a:t>为 </a:t>
                      </a:r>
                      <a:r>
                        <a:rPr lang="en" sz="2400">
                          <a:effectLst/>
                        </a:rPr>
                        <a:t>FileBackend::Direct::read_at </a:t>
                      </a:r>
                      <a:r>
                        <a:rPr lang="zh-CN" altLang="en-US" sz="2400">
                          <a:effectLst/>
                        </a:rPr>
                        <a:t>增加循环读取，避免底层一次短读直接暴露给用户态</a:t>
                      </a:r>
                      <a:endParaRPr lang="zh-CN" altLang="en-US" sz="24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15083715"/>
                  </a:ext>
                </a:extLst>
              </a:tr>
              <a:tr h="1109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 err="1">
                          <a:effectLst/>
                        </a:rPr>
                        <a:t>InnoDB</a:t>
                      </a:r>
                      <a:r>
                        <a:rPr lang="en" sz="2400" dirty="0">
                          <a:effectLst/>
                        </a:rPr>
                        <a:t> </a:t>
                      </a:r>
                      <a:r>
                        <a:rPr lang="zh-CN" altLang="en-US" sz="2400" dirty="0">
                          <a:effectLst/>
                        </a:rPr>
                        <a:t>写入 </a:t>
                      </a:r>
                      <a:r>
                        <a:rPr lang="en" sz="2400" dirty="0">
                          <a:effectLst/>
                        </a:rPr>
                        <a:t>ibtmp1 </a:t>
                      </a:r>
                      <a:r>
                        <a:rPr lang="zh-CN" altLang="en-US" sz="2400" dirty="0">
                          <a:effectLst/>
                        </a:rPr>
                        <a:t>短写 </a:t>
                      </a:r>
                      <a:r>
                        <a:rPr lang="en-US" altLang="zh-CN" sz="2400" dirty="0">
                          <a:effectLst/>
                        </a:rPr>
                        <a:t> </a:t>
                      </a:r>
                      <a:r>
                        <a:rPr lang="en" sz="2400" dirty="0">
                          <a:effectLst/>
                        </a:rPr>
                        <a:t>I/O error</a:t>
                      </a:r>
                      <a:endParaRPr lang="en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 err="1">
                          <a:effectLst/>
                        </a:rPr>
                        <a:t>axfs</a:t>
                      </a:r>
                      <a:r>
                        <a:rPr lang="en-US" altLang="zh-CN" sz="2400" dirty="0">
                          <a:effectLst/>
                        </a:rPr>
                        <a:t>-ng/.../</a:t>
                      </a:r>
                      <a:r>
                        <a:rPr lang="en-US" altLang="zh-CN" sz="2400" dirty="0" err="1">
                          <a:effectLst/>
                        </a:rPr>
                        <a:t>file.rs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为 </a:t>
                      </a:r>
                      <a:r>
                        <a:rPr lang="en" sz="2400" dirty="0" err="1">
                          <a:effectLst/>
                        </a:rPr>
                        <a:t>FileBackend</a:t>
                      </a:r>
                      <a:r>
                        <a:rPr lang="en" sz="2400" dirty="0">
                          <a:effectLst/>
                        </a:rPr>
                        <a:t>::Direct::</a:t>
                      </a:r>
                      <a:r>
                        <a:rPr lang="en" sz="2400" dirty="0" err="1">
                          <a:effectLst/>
                        </a:rPr>
                        <a:t>write_at</a:t>
                      </a:r>
                      <a:r>
                        <a:rPr lang="en" sz="2400" dirty="0">
                          <a:effectLst/>
                        </a:rPr>
                        <a:t> </a:t>
                      </a:r>
                      <a:r>
                        <a:rPr lang="zh-CN" altLang="en-US" sz="2400" dirty="0">
                          <a:effectLst/>
                        </a:rPr>
                        <a:t>增加循环写入，确保普通文件大块写入尽量写满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51601544"/>
                  </a:ext>
                </a:extLst>
              </a:tr>
              <a:tr h="13022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Linux native AIO </a:t>
                      </a:r>
                      <a:r>
                        <a:rPr lang="zh-CN" altLang="en-US" sz="2400" dirty="0">
                          <a:effectLst/>
                        </a:rPr>
                        <a:t>缺失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 err="1">
                          <a:effectLst/>
                        </a:rPr>
                        <a:t>syscall</a:t>
                      </a:r>
                      <a:r>
                        <a:rPr lang="en" sz="2400" dirty="0">
                          <a:effectLst/>
                        </a:rPr>
                        <a:t>/fs/</a:t>
                      </a:r>
                      <a:r>
                        <a:rPr lang="en" sz="2400" dirty="0" err="1">
                          <a:effectLst/>
                        </a:rPr>
                        <a:t>aio.rs</a:t>
                      </a:r>
                      <a:endParaRPr lang="en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补齐最小可用封装出 </a:t>
                      </a:r>
                      <a:r>
                        <a:rPr lang="en" sz="2400" dirty="0" err="1">
                          <a:effectLst/>
                        </a:rPr>
                        <a:t>io_setup、io_destroy、io_submit、io_getevents、io_cancel</a:t>
                      </a:r>
                      <a:r>
                        <a:rPr lang="zh-CN" altLang="en-US" sz="2400" dirty="0">
                          <a:effectLst/>
                        </a:rPr>
                        <a:t>。实际上是在异步</a:t>
                      </a:r>
                      <a:r>
                        <a:rPr lang="en-US" altLang="zh-CN" sz="2400" dirty="0">
                          <a:effectLst/>
                        </a:rPr>
                        <a:t> IO</a:t>
                      </a:r>
                      <a:r>
                        <a:rPr lang="zh-CN" altLang="en-US" sz="2400" dirty="0">
                          <a:effectLst/>
                        </a:rPr>
                        <a:t> 里面调用同步</a:t>
                      </a:r>
                      <a:r>
                        <a:rPr lang="en-US" altLang="zh-CN" sz="2400" dirty="0">
                          <a:effectLst/>
                        </a:rPr>
                        <a:t> IO</a:t>
                      </a:r>
                      <a:endParaRPr lang="en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147971058"/>
                  </a:ext>
                </a:extLst>
              </a:tr>
              <a:tr h="1109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 err="1">
                          <a:effectLst/>
                        </a:rPr>
                        <a:t>mmap</a:t>
                      </a:r>
                      <a:r>
                        <a:rPr lang="en" sz="2400" dirty="0">
                          <a:effectLst/>
                        </a:rPr>
                        <a:t> flag </a:t>
                      </a:r>
                      <a:r>
                        <a:rPr lang="zh-CN" altLang="en-US" sz="2400" dirty="0">
                          <a:effectLst/>
                        </a:rPr>
                        <a:t>不兼容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 err="1">
                          <a:effectLst/>
                        </a:rPr>
                        <a:t>syscall</a:t>
                      </a:r>
                      <a:r>
                        <a:rPr lang="en-US" altLang="zh-CN" sz="2400" dirty="0">
                          <a:effectLst/>
                        </a:rPr>
                        <a:t>/mm/</a:t>
                      </a:r>
                      <a:r>
                        <a:rPr lang="en-US" altLang="zh-CN" sz="2400" dirty="0" err="1">
                          <a:effectLst/>
                        </a:rPr>
                        <a:t>mmap.rs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支持识别 </a:t>
                      </a:r>
                      <a:r>
                        <a:rPr lang="en" sz="2400" dirty="0">
                          <a:effectLst/>
                        </a:rPr>
                        <a:t>MAP_SHARED_VALIDATE，</a:t>
                      </a:r>
                      <a:r>
                        <a:rPr lang="zh-CN" altLang="en-US" sz="2400" dirty="0">
                          <a:effectLst/>
                        </a:rPr>
                        <a:t>对 </a:t>
                      </a:r>
                      <a:r>
                        <a:rPr lang="en" sz="2400" dirty="0">
                          <a:effectLst/>
                        </a:rPr>
                        <a:t>MAP_SYNC </a:t>
                      </a:r>
                      <a:r>
                        <a:rPr lang="zh-CN" altLang="en-US" sz="2400" dirty="0">
                          <a:effectLst/>
                        </a:rPr>
                        <a:t>返回 </a:t>
                      </a:r>
                      <a:r>
                        <a:rPr lang="en" sz="2400" dirty="0">
                          <a:effectLst/>
                        </a:rPr>
                        <a:t>EOPNOTSUPP，</a:t>
                      </a:r>
                      <a:r>
                        <a:rPr lang="zh-CN" altLang="en-US" sz="2400" dirty="0">
                          <a:effectLst/>
                        </a:rPr>
                        <a:t>允许用户态正常回退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0704384"/>
                  </a:ext>
                </a:extLst>
              </a:tr>
              <a:tr h="909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 err="1">
                          <a:effectLst/>
                        </a:rPr>
                        <a:t>prctl</a:t>
                      </a:r>
                      <a:r>
                        <a:rPr lang="en" sz="2400" dirty="0">
                          <a:effectLst/>
                        </a:rPr>
                        <a:t>(PR_SET_THP_DISABLE) </a:t>
                      </a:r>
                      <a:r>
                        <a:rPr lang="zh-CN" altLang="en-US" sz="2400" dirty="0">
                          <a:effectLst/>
                        </a:rPr>
                        <a:t>缺失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 err="1">
                          <a:effectLst/>
                        </a:rPr>
                        <a:t>syscall</a:t>
                      </a:r>
                      <a:r>
                        <a:rPr lang="en-US" altLang="zh-CN" sz="2400" dirty="0">
                          <a:effectLst/>
                        </a:rPr>
                        <a:t>/task/</a:t>
                      </a:r>
                      <a:r>
                        <a:rPr lang="en-US" altLang="zh-CN" sz="2400" dirty="0" err="1">
                          <a:effectLst/>
                        </a:rPr>
                        <a:t>ctl.rs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实现 </a:t>
                      </a:r>
                      <a:r>
                        <a:rPr lang="en" sz="2400" dirty="0">
                          <a:effectLst/>
                        </a:rPr>
                        <a:t>PR_SET_THP_DISABLE / PR_GET_THP_DISABLE，</a:t>
                      </a:r>
                      <a:r>
                        <a:rPr lang="zh-CN" altLang="en-US" sz="2400" dirty="0">
                          <a:effectLst/>
                        </a:rPr>
                        <a:t>并在 </a:t>
                      </a:r>
                      <a:r>
                        <a:rPr lang="en" sz="2400" dirty="0">
                          <a:effectLst/>
                        </a:rPr>
                        <a:t>clone </a:t>
                      </a:r>
                      <a:r>
                        <a:rPr lang="zh-CN" altLang="en-US" sz="2400" dirty="0">
                          <a:effectLst/>
                        </a:rPr>
                        <a:t>时继承状态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7779117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EEA9C22D-DF44-4360-F60D-D604D3651998}"/>
              </a:ext>
            </a:extLst>
          </p:cNvPr>
          <p:cNvSpPr txBox="1"/>
          <p:nvPr/>
        </p:nvSpPr>
        <p:spPr>
          <a:xfrm>
            <a:off x="1100667" y="1761067"/>
            <a:ext cx="629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在 </a:t>
            </a:r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Alpine</a:t>
            </a:r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 环境下适配</a:t>
            </a:r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 MariaDB</a:t>
            </a:r>
            <a:endParaRPr kumimoji="1" lang="zh-CN" altLang="en-US" sz="32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D9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2550" y="-706637"/>
            <a:ext cx="11226998" cy="112599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A583F97-1D0A-0816-5D15-507F30FA3429}"/>
              </a:ext>
            </a:extLst>
          </p:cNvPr>
          <p:cNvSpPr txBox="1"/>
          <p:nvPr/>
        </p:nvSpPr>
        <p:spPr>
          <a:xfrm>
            <a:off x="1100667" y="1761067"/>
            <a:ext cx="629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在 </a:t>
            </a:r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Debian</a:t>
            </a:r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 环境下适配</a:t>
            </a:r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 MySQL</a:t>
            </a:r>
            <a:endParaRPr kumimoji="1" lang="zh-CN" altLang="en-US" sz="32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95A9EB-2E43-8CB7-226B-8DE7813906AF}"/>
              </a:ext>
            </a:extLst>
          </p:cNvPr>
          <p:cNvSpPr txBox="1"/>
          <p:nvPr/>
        </p:nvSpPr>
        <p:spPr>
          <a:xfrm>
            <a:off x="643466" y="846667"/>
            <a:ext cx="7992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/>
              <a:t>方案二  适配</a:t>
            </a:r>
            <a:r>
              <a:rPr kumimoji="1" lang="en-US" altLang="zh-CN" sz="3600" b="1" dirty="0"/>
              <a:t> MariaDB/MySQL</a:t>
            </a:r>
            <a:endParaRPr kumimoji="1" lang="zh-CN" altLang="en-US" sz="3600" b="1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0777160-F6CA-E1DC-8D66-37599C529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769997"/>
              </p:ext>
            </p:extLst>
          </p:nvPr>
        </p:nvGraphicFramePr>
        <p:xfrm>
          <a:off x="821266" y="3046302"/>
          <a:ext cx="16645467" cy="6781738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5469467">
                  <a:extLst>
                    <a:ext uri="{9D8B030D-6E8A-4147-A177-3AD203B41FA5}">
                      <a16:colId xmlns:a16="http://schemas.microsoft.com/office/drawing/2014/main" val="3885807319"/>
                    </a:ext>
                  </a:extLst>
                </a:gridCol>
                <a:gridCol w="3581401">
                  <a:extLst>
                    <a:ext uri="{9D8B030D-6E8A-4147-A177-3AD203B41FA5}">
                      <a16:colId xmlns:a16="http://schemas.microsoft.com/office/drawing/2014/main" val="3133136558"/>
                    </a:ext>
                  </a:extLst>
                </a:gridCol>
                <a:gridCol w="7594599">
                  <a:extLst>
                    <a:ext uri="{9D8B030D-6E8A-4147-A177-3AD203B41FA5}">
                      <a16:colId xmlns:a16="http://schemas.microsoft.com/office/drawing/2014/main" val="1830655418"/>
                    </a:ext>
                  </a:extLst>
                </a:gridCol>
              </a:tblGrid>
              <a:tr h="8185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effectLst/>
                        </a:rPr>
                        <a:t>问题</a:t>
                      </a:r>
                      <a:endParaRPr lang="zh-CN" altLang="en-US" sz="2400" b="1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effectLst/>
                        </a:rPr>
                        <a:t>涉及的部分</a:t>
                      </a:r>
                      <a:endParaRPr lang="zh-CN" altLang="en-US" sz="2400" b="1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effectLst/>
                        </a:rPr>
                        <a:t>修复内容</a:t>
                      </a:r>
                      <a:endParaRPr lang="zh-CN" altLang="en-US" sz="2400" b="1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04774844"/>
                  </a:ext>
                </a:extLst>
              </a:tr>
              <a:tr h="1194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MySQL </a:t>
                      </a:r>
                      <a:r>
                        <a:rPr lang="en-US" sz="2400" dirty="0" err="1">
                          <a:effectLst/>
                        </a:rPr>
                        <a:t>初始化失败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 err="1">
                          <a:effectLst/>
                        </a:rPr>
                        <a:t>axfs</a:t>
                      </a:r>
                      <a:r>
                        <a:rPr lang="en-US" altLang="zh-CN" sz="2400" dirty="0">
                          <a:effectLst/>
                        </a:rPr>
                        <a:t>-ng/.../</a:t>
                      </a:r>
                      <a:r>
                        <a:rPr lang="en-US" altLang="zh-CN" sz="2400" dirty="0" err="1">
                          <a:effectLst/>
                        </a:rPr>
                        <a:t>file.rs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支持 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AIO </a:t>
                      </a: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请求排队、完成事件写回、等待队列唤醒、</a:t>
                      </a:r>
                      <a:r>
                        <a:rPr lang="en" altLang="zh-CN" sz="2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eventfd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</a:t>
                      </a: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通知和 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poll </a:t>
                      </a: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请求。真实具有异步语义。</a:t>
                      </a:r>
                      <a:endParaRPr lang="zh-CN" altLang="en-US" sz="2400" b="0" i="0" u="none" strike="noStrike" cap="none" dirty="0">
                        <a:solidFill>
                          <a:schemeClr val="dk1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+mn-cs"/>
                        <a:sym typeface="Arial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15083715"/>
                  </a:ext>
                </a:extLst>
              </a:tr>
              <a:tr h="1194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 err="1">
                          <a:effectLst/>
                        </a:rPr>
                        <a:t>epoll</a:t>
                      </a:r>
                      <a:r>
                        <a:rPr lang="en-US" altLang="zh-CN" sz="2400" dirty="0">
                          <a:effectLst/>
                        </a:rPr>
                        <a:t> </a:t>
                      </a:r>
                      <a:r>
                        <a:rPr lang="en-US" altLang="zh-CN" sz="2400" dirty="0" err="1">
                          <a:effectLst/>
                        </a:rPr>
                        <a:t>syscall</a:t>
                      </a:r>
                      <a:r>
                        <a:rPr lang="en-US" altLang="zh-CN" sz="2400" dirty="0">
                          <a:effectLst/>
                        </a:rPr>
                        <a:t> </a:t>
                      </a:r>
                      <a:r>
                        <a:rPr lang="zh-CN" altLang="en-US" sz="2400" dirty="0">
                          <a:effectLst/>
                        </a:rPr>
                        <a:t>未实现</a:t>
                      </a:r>
                      <a:r>
                        <a:rPr lang="en-US" altLang="zh-CN" sz="2400" dirty="0">
                          <a:effectLst/>
                        </a:rPr>
                        <a:t> </a:t>
                      </a:r>
                      <a:endParaRPr lang="en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 err="1">
                          <a:effectLst/>
                        </a:rPr>
                        <a:t>axfs</a:t>
                      </a:r>
                      <a:r>
                        <a:rPr lang="en-US" altLang="zh-CN" sz="2400" dirty="0">
                          <a:effectLst/>
                        </a:rPr>
                        <a:t>-ng/.../</a:t>
                      </a:r>
                      <a:r>
                        <a:rPr lang="en-US" altLang="zh-CN" sz="2400" dirty="0" err="1">
                          <a:effectLst/>
                        </a:rPr>
                        <a:t>file.rs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兼容旧 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ABI </a:t>
                      </a: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和 </a:t>
                      </a:r>
                      <a:r>
                        <a:rPr lang="en" altLang="zh-CN" sz="2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libc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</a:t>
                      </a: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探测路径，匹配 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Linux </a:t>
                      </a: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参数校验</a:t>
                      </a:r>
                      <a:endParaRPr lang="zh-CN" altLang="en-US" sz="2400" b="0" i="0" u="none" strike="noStrike" cap="none" dirty="0">
                        <a:solidFill>
                          <a:schemeClr val="dk1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+mn-cs"/>
                        <a:sym typeface="Arial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51601544"/>
                  </a:ext>
                </a:extLst>
              </a:tr>
              <a:tr h="1402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effectLst/>
                        </a:rPr>
                        <a:t>NUMA</a:t>
                      </a:r>
                      <a:r>
                        <a:rPr lang="zh-CN" altLang="en-US" sz="2400" dirty="0">
                          <a:effectLst/>
                        </a:rPr>
                        <a:t> </a:t>
                      </a:r>
                      <a:r>
                        <a:rPr lang="en-US" altLang="zh-CN" sz="2400" dirty="0" err="1">
                          <a:effectLst/>
                        </a:rPr>
                        <a:t>mempolicy</a:t>
                      </a:r>
                      <a:r>
                        <a:rPr lang="zh-CN" altLang="en-US" sz="2400" dirty="0">
                          <a:effectLst/>
                        </a:rPr>
                        <a:t> </a:t>
                      </a:r>
                      <a:r>
                        <a:rPr lang="en-US" altLang="zh-CN" sz="2400" dirty="0" err="1">
                          <a:effectLst/>
                        </a:rPr>
                        <a:t>syscall</a:t>
                      </a:r>
                      <a:r>
                        <a:rPr lang="en-US" altLang="zh-CN" sz="2400" dirty="0">
                          <a:effectLst/>
                        </a:rPr>
                        <a:t> </a:t>
                      </a:r>
                      <a:r>
                        <a:rPr lang="zh-CN" altLang="en-US" sz="2400" dirty="0">
                          <a:effectLst/>
                        </a:rPr>
                        <a:t>未实现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400" dirty="0" err="1">
                          <a:effectLst/>
                        </a:rPr>
                        <a:t>syscall</a:t>
                      </a:r>
                      <a:r>
                        <a:rPr lang="en" sz="2400" dirty="0">
                          <a:effectLst/>
                        </a:rPr>
                        <a:t>/fs/</a:t>
                      </a:r>
                      <a:r>
                        <a:rPr lang="en" sz="2400" dirty="0" err="1">
                          <a:effectLst/>
                        </a:rPr>
                        <a:t>aio.rs</a:t>
                      </a:r>
                      <a:endParaRPr lang="en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兼容 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MySQL/</a:t>
                      </a:r>
                      <a:r>
                        <a:rPr lang="en" altLang="zh-CN" sz="2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glibc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/</a:t>
                      </a:r>
                      <a:r>
                        <a:rPr lang="en" altLang="zh-CN" sz="2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numa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</a:t>
                      </a: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探测</a:t>
                      </a:r>
                      <a:endParaRPr lang="en" sz="2400" b="0" i="0" u="none" strike="noStrike" cap="none" dirty="0">
                        <a:solidFill>
                          <a:schemeClr val="dk1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+mn-cs"/>
                        <a:sym typeface="Arial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147971058"/>
                  </a:ext>
                </a:extLst>
              </a:tr>
              <a:tr h="119412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altLang="zh-CN" sz="2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fallocate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hole punch</a:t>
                      </a:r>
                      <a:endParaRPr lang="zh-CN" altLang="en-US" sz="2400" b="0" i="0" u="none" strike="noStrike" cap="none" dirty="0">
                        <a:solidFill>
                          <a:schemeClr val="dk1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+mn-cs"/>
                        <a:sym typeface="Arial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 err="1">
                          <a:effectLst/>
                        </a:rPr>
                        <a:t>syscall</a:t>
                      </a:r>
                      <a:r>
                        <a:rPr lang="en-US" altLang="zh-CN" sz="2400" dirty="0">
                          <a:effectLst/>
                        </a:rPr>
                        <a:t>/mm/</a:t>
                      </a:r>
                      <a:r>
                        <a:rPr lang="en-US" altLang="zh-CN" sz="2400" dirty="0" err="1">
                          <a:effectLst/>
                        </a:rPr>
                        <a:t>mmap.rs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覆盖数据库文件空间管理路径</a:t>
                      </a:r>
                      <a:endParaRPr lang="zh-CN" altLang="en-US" sz="2400" b="0" i="0" u="none" strike="noStrike" cap="none" dirty="0">
                        <a:solidFill>
                          <a:schemeClr val="dk1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+mn-cs"/>
                        <a:sym typeface="Arial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0704384"/>
                  </a:ext>
                </a:extLst>
              </a:tr>
              <a:tr h="97879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MySQL </a:t>
                      </a:r>
                      <a:r>
                        <a:rPr lang="zh-CN" altLang="e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的</a:t>
                      </a: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</a:t>
                      </a:r>
                      <a:r>
                        <a:rPr lang="en" altLang="zh-CN" sz="2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ioctl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</a:t>
                      </a: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探测失败</a:t>
                      </a:r>
                      <a:endParaRPr lang="zh-CN" altLang="en-US" sz="2400" b="0" i="0" u="none" strike="noStrike" cap="none" dirty="0">
                        <a:solidFill>
                          <a:schemeClr val="dk1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+mn-cs"/>
                        <a:sym typeface="Arial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 err="1">
                          <a:effectLst/>
                        </a:rPr>
                        <a:t>syscall</a:t>
                      </a:r>
                      <a:r>
                        <a:rPr lang="en-US" altLang="zh-CN" sz="2400" dirty="0">
                          <a:effectLst/>
                        </a:rPr>
                        <a:t>/task/</a:t>
                      </a:r>
                      <a:r>
                        <a:rPr lang="en-US" altLang="zh-CN" sz="2400" dirty="0" err="1">
                          <a:effectLst/>
                        </a:rPr>
                        <a:t>ctl.rs</a:t>
                      </a:r>
                      <a:endParaRPr lang="zh-CN" altLang="en-US" sz="24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避免 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MySQL </a:t>
                      </a: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初始化因探测 </a:t>
                      </a:r>
                      <a:r>
                        <a:rPr lang="en" altLang="zh-CN" sz="2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ioctl</a:t>
                      </a:r>
                      <a:r>
                        <a:rPr lang="en" altLang="zh-CN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</a:t>
                      </a:r>
                      <a:r>
                        <a:rPr lang="zh-CN" altLang="en-US" sz="2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失败</a:t>
                      </a:r>
                      <a:endParaRPr lang="zh-CN" altLang="en-US" sz="2400" b="0" i="0" u="none" strike="noStrike" cap="none" dirty="0">
                        <a:solidFill>
                          <a:schemeClr val="dk1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+mn-cs"/>
                        <a:sym typeface="Arial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777911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D9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062633" y="-8336250"/>
            <a:ext cx="26026801" cy="26103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965C708-A302-7C19-E97A-4680E4BD8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564182"/>
              </p:ext>
            </p:extLst>
          </p:nvPr>
        </p:nvGraphicFramePr>
        <p:xfrm>
          <a:off x="1845733" y="1626237"/>
          <a:ext cx="14596533" cy="8660763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362416789"/>
                    </a:ext>
                  </a:extLst>
                </a:gridCol>
                <a:gridCol w="3234267">
                  <a:extLst>
                    <a:ext uri="{9D8B030D-6E8A-4147-A177-3AD203B41FA5}">
                      <a16:colId xmlns:a16="http://schemas.microsoft.com/office/drawing/2014/main" val="3745596354"/>
                    </a:ext>
                  </a:extLst>
                </a:gridCol>
                <a:gridCol w="10346266">
                  <a:extLst>
                    <a:ext uri="{9D8B030D-6E8A-4147-A177-3AD203B41FA5}">
                      <a16:colId xmlns:a16="http://schemas.microsoft.com/office/drawing/2014/main" val="3616267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effectLst/>
                        </a:rPr>
                        <a:t>序号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effectLst/>
                        </a:rPr>
                        <a:t>测试主题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effectLst/>
                        </a:rPr>
                        <a:t>覆盖内容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44215079"/>
                  </a:ext>
                </a:extLst>
              </a:tr>
              <a:tr h="5889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创建数据库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创建 </a:t>
                      </a:r>
                      <a:r>
                        <a:rPr lang="en" sz="2400">
                          <a:effectLst/>
                        </a:rPr>
                        <a:t>starry_mysql_test </a:t>
                      </a:r>
                      <a:r>
                        <a:rPr lang="zh-CN" altLang="en-US" sz="2400">
                          <a:effectLst/>
                        </a:rPr>
                        <a:t>并检查字符集和 </a:t>
                      </a:r>
                      <a:r>
                        <a:rPr lang="en" sz="2400">
                          <a:effectLst/>
                        </a:rPr>
                        <a:t>collation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31365816"/>
                  </a:ext>
                </a:extLst>
              </a:tr>
              <a:tr h="5889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创建 </a:t>
                      </a:r>
                      <a:r>
                        <a:rPr lang="en" sz="2400">
                          <a:effectLst/>
                        </a:rPr>
                        <a:t>users </a:t>
                      </a:r>
                      <a:r>
                        <a:rPr lang="zh-CN" altLang="en-US" sz="2400">
                          <a:effectLst/>
                        </a:rPr>
                        <a:t>表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创建带约束、唯一索引和 </a:t>
                      </a:r>
                      <a:r>
                        <a:rPr lang="en" sz="2400">
                          <a:effectLst/>
                        </a:rPr>
                        <a:t>CHECK </a:t>
                      </a:r>
                      <a:r>
                        <a:rPr lang="zh-CN" altLang="en-US" sz="2400">
                          <a:effectLst/>
                        </a:rPr>
                        <a:t>的 </a:t>
                      </a:r>
                      <a:r>
                        <a:rPr lang="en" sz="2400">
                          <a:effectLst/>
                        </a:rPr>
                        <a:t>InnoDB </a:t>
                      </a:r>
                      <a:r>
                        <a:rPr lang="zh-CN" altLang="en-US" sz="2400">
                          <a:effectLst/>
                        </a:rPr>
                        <a:t>表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05835349"/>
                  </a:ext>
                </a:extLst>
              </a:tr>
              <a:tr h="435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插入 </a:t>
                      </a:r>
                      <a:r>
                        <a:rPr lang="en" sz="2400">
                          <a:effectLst/>
                        </a:rPr>
                        <a:t>users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多行插入并按状态聚合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246919524"/>
                  </a:ext>
                </a:extLst>
              </a:tr>
              <a:tr h="5889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条件查询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使用范围过滤、</a:t>
                      </a:r>
                      <a:r>
                        <a:rPr lang="en" sz="2400">
                          <a:effectLst/>
                        </a:rPr>
                        <a:t>IN、</a:t>
                      </a:r>
                      <a:r>
                        <a:rPr lang="zh-CN" altLang="en-US" sz="2400">
                          <a:effectLst/>
                        </a:rPr>
                        <a:t>排序、</a:t>
                      </a:r>
                      <a:r>
                        <a:rPr lang="en" sz="2400">
                          <a:effectLst/>
                        </a:rPr>
                        <a:t>LIMIT </a:t>
                      </a:r>
                      <a:r>
                        <a:rPr lang="zh-CN" altLang="en-US" sz="2400">
                          <a:effectLst/>
                        </a:rPr>
                        <a:t>和 </a:t>
                      </a:r>
                      <a:r>
                        <a:rPr lang="en" sz="2400">
                          <a:effectLst/>
                        </a:rPr>
                        <a:t>GROUP_CONCAT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27620757"/>
                  </a:ext>
                </a:extLst>
              </a:tr>
              <a:tr h="5889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更新数据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更新 </a:t>
                      </a:r>
                      <a:r>
                        <a:rPr lang="en" sz="2400">
                          <a:effectLst/>
                        </a:rPr>
                        <a:t>age、score、status </a:t>
                      </a:r>
                      <a:r>
                        <a:rPr lang="zh-CN" altLang="en-US" sz="2400">
                          <a:effectLst/>
                        </a:rPr>
                        <a:t>和 </a:t>
                      </a:r>
                      <a:r>
                        <a:rPr lang="en" sz="2400">
                          <a:effectLst/>
                        </a:rPr>
                        <a:t>timestamp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67858738"/>
                  </a:ext>
                </a:extLst>
              </a:tr>
              <a:tr h="435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二级索引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创建复合索引并执行 </a:t>
                      </a:r>
                      <a:r>
                        <a:rPr lang="en" sz="2400">
                          <a:effectLst/>
                        </a:rPr>
                        <a:t>EXPLAIN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120712552"/>
                  </a:ext>
                </a:extLst>
              </a:tr>
              <a:tr h="5889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7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创建 </a:t>
                      </a:r>
                      <a:r>
                        <a:rPr lang="en" sz="2400">
                          <a:effectLst/>
                        </a:rPr>
                        <a:t>orders </a:t>
                      </a:r>
                      <a:r>
                        <a:rPr lang="zh-CN" altLang="en-US" sz="2400">
                          <a:effectLst/>
                        </a:rPr>
                        <a:t>表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创建外键、二级索引和 </a:t>
                      </a:r>
                      <a:r>
                        <a:rPr lang="en" sz="2400">
                          <a:effectLst/>
                        </a:rPr>
                        <a:t>InnoDB orders </a:t>
                      </a:r>
                      <a:r>
                        <a:rPr lang="zh-CN" altLang="en-US" sz="2400">
                          <a:effectLst/>
                        </a:rPr>
                        <a:t>表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79092191"/>
                  </a:ext>
                </a:extLst>
              </a:tr>
              <a:tr h="5889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插入 </a:t>
                      </a:r>
                      <a:r>
                        <a:rPr lang="en" sz="2400" dirty="0">
                          <a:effectLst/>
                        </a:rPr>
                        <a:t>orders </a:t>
                      </a:r>
                      <a:r>
                        <a:rPr lang="zh-CN" altLang="en-US" sz="2400" dirty="0">
                          <a:effectLst/>
                        </a:rPr>
                        <a:t>与 </a:t>
                      </a:r>
                      <a:r>
                        <a:rPr lang="en" sz="2400" dirty="0">
                          <a:effectLst/>
                        </a:rPr>
                        <a:t>JOIN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插入订单并执行 </a:t>
                      </a:r>
                      <a:r>
                        <a:rPr lang="en" sz="2400">
                          <a:effectLst/>
                        </a:rPr>
                        <a:t>INNER/LEFT JOIN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629414604"/>
                  </a:ext>
                </a:extLst>
              </a:tr>
              <a:tr h="435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聚合查询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按订单状态、日期、城市统计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390738060"/>
                  </a:ext>
                </a:extLst>
              </a:tr>
              <a:tr h="435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10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COMMIT </a:t>
                      </a:r>
                      <a:r>
                        <a:rPr lang="zh-CN" altLang="en-US" sz="2400">
                          <a:effectLst/>
                        </a:rPr>
                        <a:t>事务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插入用户和订单后提交并验证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999144053"/>
                  </a:ext>
                </a:extLst>
              </a:tr>
              <a:tr h="5889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11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ROLLBACK </a:t>
                      </a:r>
                      <a:r>
                        <a:rPr lang="zh-CN" altLang="en-US" sz="2400">
                          <a:effectLst/>
                        </a:rPr>
                        <a:t>事务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插入、删除、更新后回滚并验证未生效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707940053"/>
                  </a:ext>
                </a:extLst>
              </a:tr>
              <a:tr h="435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12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临时表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创建临时汇总表和数字表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05039093"/>
                  </a:ext>
                </a:extLst>
              </a:tr>
              <a:tr h="5889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13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视图和 </a:t>
                      </a:r>
                      <a:r>
                        <a:rPr lang="en" sz="2400">
                          <a:effectLst/>
                        </a:rPr>
                        <a:t>schema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创建视图并查询 </a:t>
                      </a:r>
                      <a:r>
                        <a:rPr lang="en" sz="2400">
                          <a:effectLst/>
                        </a:rPr>
                        <a:t>information_schema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766340605"/>
                  </a:ext>
                </a:extLst>
              </a:tr>
              <a:tr h="435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14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一致性报告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写入 </a:t>
                      </a:r>
                      <a:r>
                        <a:rPr lang="en" sz="2400">
                          <a:effectLst/>
                        </a:rPr>
                        <a:t>audit_log </a:t>
                      </a:r>
                      <a:r>
                        <a:rPr lang="zh-CN" altLang="en-US" sz="2400">
                          <a:effectLst/>
                        </a:rPr>
                        <a:t>并执行多维统计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168749350"/>
                  </a:ext>
                </a:extLst>
              </a:tr>
              <a:tr h="5889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effectLst/>
                        </a:rPr>
                        <a:t>15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重启持久化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重启 </a:t>
                      </a:r>
                      <a:r>
                        <a:rPr lang="en" sz="2400" dirty="0" err="1">
                          <a:effectLst/>
                        </a:rPr>
                        <a:t>mysqld</a:t>
                      </a:r>
                      <a:r>
                        <a:rPr lang="en" sz="2400" dirty="0">
                          <a:effectLst/>
                        </a:rPr>
                        <a:t> </a:t>
                      </a:r>
                      <a:r>
                        <a:rPr lang="zh-CN" altLang="en-US" sz="2400" dirty="0">
                          <a:effectLst/>
                        </a:rPr>
                        <a:t>后验证数据、视图和回滚结果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394287002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FE060721-4EA7-518B-E9FE-F9E8A16FC36F}"/>
              </a:ext>
            </a:extLst>
          </p:cNvPr>
          <p:cNvSpPr txBox="1"/>
          <p:nvPr/>
        </p:nvSpPr>
        <p:spPr>
          <a:xfrm>
            <a:off x="-1" y="905995"/>
            <a:ext cx="7450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对</a:t>
            </a:r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 MariaDB</a:t>
            </a:r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 和 </a:t>
            </a:r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MySQL</a:t>
            </a:r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 的功能测试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D9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30375" y="-891575"/>
            <a:ext cx="10859274" cy="108911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D1D4193-26BB-74B8-AB41-98E6A9D182C4}"/>
              </a:ext>
            </a:extLst>
          </p:cNvPr>
          <p:cNvSpPr txBox="1"/>
          <p:nvPr/>
        </p:nvSpPr>
        <p:spPr>
          <a:xfrm>
            <a:off x="579163" y="727670"/>
            <a:ext cx="1085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/>
              <a:t>方案二 在</a:t>
            </a:r>
            <a:r>
              <a:rPr kumimoji="1" lang="en-US" altLang="zh-CN" sz="3600" b="1" dirty="0"/>
              <a:t> macOS</a:t>
            </a:r>
            <a:r>
              <a:rPr kumimoji="1" lang="zh-CN" altLang="en-US" sz="3600" b="1" dirty="0"/>
              <a:t> 环境下支持</a:t>
            </a:r>
            <a:r>
              <a:rPr kumimoji="1" lang="en-US" altLang="zh-CN" sz="3600" b="1" dirty="0"/>
              <a:t> </a:t>
            </a:r>
            <a:r>
              <a:rPr kumimoji="1" lang="en-US" altLang="zh-CN" sz="3600" b="1" dirty="0" err="1"/>
              <a:t>StarryOS</a:t>
            </a:r>
            <a:r>
              <a:rPr kumimoji="1" lang="en-US" altLang="zh-CN" sz="3600" b="1" dirty="0"/>
              <a:t> </a:t>
            </a:r>
            <a:r>
              <a:rPr kumimoji="1" lang="zh-CN" altLang="en-US" sz="3600" b="1" dirty="0"/>
              <a:t>的自举编译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FE2ED1F-0203-BE7D-FBA3-B8984273DC1D}"/>
              </a:ext>
            </a:extLst>
          </p:cNvPr>
          <p:cNvGrpSpPr/>
          <p:nvPr/>
        </p:nvGrpSpPr>
        <p:grpSpPr>
          <a:xfrm>
            <a:off x="182018" y="2855947"/>
            <a:ext cx="17923963" cy="2287553"/>
            <a:chOff x="76171" y="4545694"/>
            <a:chExt cx="17923963" cy="2287553"/>
          </a:xfrm>
        </p:grpSpPr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CB089DD2-D619-9966-0467-CA11382C0592}"/>
                </a:ext>
              </a:extLst>
            </p:cNvPr>
            <p:cNvSpPr/>
            <p:nvPr/>
          </p:nvSpPr>
          <p:spPr>
            <a:xfrm>
              <a:off x="14042432" y="4554011"/>
              <a:ext cx="3957702" cy="226798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highlight>
                  <a:srgbClr val="00FFFF"/>
                </a:highlight>
              </a:endParaRPr>
            </a:p>
          </p:txBody>
        </p:sp>
        <p:sp>
          <p:nvSpPr>
            <p:cNvPr id="3" name="圆角矩形 2">
              <a:extLst>
                <a:ext uri="{FF2B5EF4-FFF2-40B4-BE49-F238E27FC236}">
                  <a16:creationId xmlns:a16="http://schemas.microsoft.com/office/drawing/2014/main" id="{30AD00AD-97A0-C3F3-6B34-62A784C8F647}"/>
                </a:ext>
              </a:extLst>
            </p:cNvPr>
            <p:cNvSpPr/>
            <p:nvPr/>
          </p:nvSpPr>
          <p:spPr>
            <a:xfrm>
              <a:off x="76171" y="4545694"/>
              <a:ext cx="3957702" cy="226798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highlight>
                  <a:srgbClr val="00FFFF"/>
                </a:highlight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08780D6-04F7-7771-1B23-FD204731886D}"/>
                </a:ext>
              </a:extLst>
            </p:cNvPr>
            <p:cNvSpPr txBox="1"/>
            <p:nvPr/>
          </p:nvSpPr>
          <p:spPr>
            <a:xfrm>
              <a:off x="515038" y="5144531"/>
              <a:ext cx="31558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拉取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Alpine</a:t>
              </a:r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rootfs</a:t>
              </a:r>
              <a:endPara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并扩容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3101BD1-D4CE-9C25-95D1-F327DCED44F0}"/>
                </a:ext>
              </a:extLst>
            </p:cNvPr>
            <p:cNvSpPr txBox="1"/>
            <p:nvPr/>
          </p:nvSpPr>
          <p:spPr>
            <a:xfrm>
              <a:off x="14774333" y="5079521"/>
              <a:ext cx="272626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将编译产物从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rootfs</a:t>
              </a:r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中取出，使用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qemu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启动</a:t>
              </a: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58BBEFA2-718B-4B0C-3770-4E67BBFCEF6E}"/>
                </a:ext>
              </a:extLst>
            </p:cNvPr>
            <p:cNvSpPr/>
            <p:nvPr/>
          </p:nvSpPr>
          <p:spPr>
            <a:xfrm>
              <a:off x="4838828" y="4565263"/>
              <a:ext cx="3957702" cy="226798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highlight>
                  <a:srgbClr val="00FFFF"/>
                </a:highlight>
              </a:endParaRPr>
            </a:p>
          </p:txBody>
        </p:sp>
        <p:sp>
          <p:nvSpPr>
            <p:cNvPr id="17" name="圆角矩形 16">
              <a:extLst>
                <a:ext uri="{FF2B5EF4-FFF2-40B4-BE49-F238E27FC236}">
                  <a16:creationId xmlns:a16="http://schemas.microsoft.com/office/drawing/2014/main" id="{F14A539F-5EFE-2D9F-5E97-EA3F6820AA9C}"/>
                </a:ext>
              </a:extLst>
            </p:cNvPr>
            <p:cNvSpPr/>
            <p:nvPr/>
          </p:nvSpPr>
          <p:spPr>
            <a:xfrm>
              <a:off x="9440630" y="4565263"/>
              <a:ext cx="3957702" cy="226798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highlight>
                  <a:srgbClr val="00FFFF"/>
                </a:highlight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490F972-9C2C-6349-9DE0-FCCD7B4E8880}"/>
                </a:ext>
              </a:extLst>
            </p:cNvPr>
            <p:cNvSpPr txBox="1"/>
            <p:nvPr/>
          </p:nvSpPr>
          <p:spPr>
            <a:xfrm>
              <a:off x="5160607" y="4914425"/>
              <a:ext cx="322265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kumimoji="1" sz="24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r>
                <a:rPr lang="zh-CN" altLang="en-US" dirty="0"/>
                <a:t>将仓库的源码打包，注入</a:t>
              </a:r>
              <a:r>
                <a:rPr lang="en-US" altLang="zh-CN" dirty="0"/>
                <a:t> </a:t>
              </a:r>
              <a:r>
                <a:rPr lang="en-US" altLang="zh-CN" dirty="0" err="1"/>
                <a:t>rootfs</a:t>
              </a:r>
              <a:r>
                <a:rPr lang="zh-CN" altLang="en-US" dirty="0"/>
                <a:t>。</a:t>
              </a:r>
              <a:endParaRPr lang="en-US" altLang="zh-CN" dirty="0"/>
            </a:p>
            <a:p>
              <a:r>
                <a:rPr lang="zh-CN" altLang="en-US" dirty="0"/>
                <a:t>在</a:t>
              </a:r>
              <a:r>
                <a:rPr lang="en-US" altLang="zh-CN" dirty="0"/>
                <a:t> host</a:t>
              </a:r>
              <a:r>
                <a:rPr lang="zh-CN" altLang="en-US" dirty="0"/>
                <a:t> </a:t>
              </a:r>
              <a:r>
                <a:rPr lang="en-US" altLang="zh-CN" dirty="0" err="1"/>
                <a:t>os</a:t>
              </a:r>
              <a:r>
                <a:rPr lang="zh-CN" altLang="en-US" dirty="0"/>
                <a:t> 注入编译工具链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CF9E302-AC64-02C4-C9A2-F309C33C84C3}"/>
                </a:ext>
              </a:extLst>
            </p:cNvPr>
            <p:cNvSpPr txBox="1"/>
            <p:nvPr/>
          </p:nvSpPr>
          <p:spPr>
            <a:xfrm>
              <a:off x="10072465" y="5144531"/>
              <a:ext cx="26924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启动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StarryOS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并执行编译脚本</a:t>
              </a:r>
            </a:p>
          </p:txBody>
        </p:sp>
        <p:sp>
          <p:nvSpPr>
            <p:cNvPr id="21" name="下箭头 20">
              <a:extLst>
                <a:ext uri="{FF2B5EF4-FFF2-40B4-BE49-F238E27FC236}">
                  <a16:creationId xmlns:a16="http://schemas.microsoft.com/office/drawing/2014/main" id="{1955BC8D-4CC5-1C65-F6D4-3BF73225006B}"/>
                </a:ext>
              </a:extLst>
            </p:cNvPr>
            <p:cNvSpPr/>
            <p:nvPr/>
          </p:nvSpPr>
          <p:spPr>
            <a:xfrm rot="16200000">
              <a:off x="3967854" y="5470533"/>
              <a:ext cx="1169359" cy="43493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下箭头 21">
              <a:extLst>
                <a:ext uri="{FF2B5EF4-FFF2-40B4-BE49-F238E27FC236}">
                  <a16:creationId xmlns:a16="http://schemas.microsoft.com/office/drawing/2014/main" id="{F9853D1E-7C12-A69A-2EBE-E280EEAFB8C4}"/>
                </a:ext>
              </a:extLst>
            </p:cNvPr>
            <p:cNvSpPr/>
            <p:nvPr/>
          </p:nvSpPr>
          <p:spPr>
            <a:xfrm rot="16200000">
              <a:off x="8559320" y="5470533"/>
              <a:ext cx="1169359" cy="43493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下箭头 22">
              <a:extLst>
                <a:ext uri="{FF2B5EF4-FFF2-40B4-BE49-F238E27FC236}">
                  <a16:creationId xmlns:a16="http://schemas.microsoft.com/office/drawing/2014/main" id="{9B161527-3C39-E1F7-DEB8-2464B81A0751}"/>
                </a:ext>
              </a:extLst>
            </p:cNvPr>
            <p:cNvSpPr/>
            <p:nvPr/>
          </p:nvSpPr>
          <p:spPr>
            <a:xfrm rot="16200000">
              <a:off x="13175687" y="5470533"/>
              <a:ext cx="1169359" cy="43493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54CCEB3E-601F-A281-9BA6-415F6F49EB23}"/>
              </a:ext>
            </a:extLst>
          </p:cNvPr>
          <p:cNvSpPr txBox="1"/>
          <p:nvPr/>
        </p:nvSpPr>
        <p:spPr>
          <a:xfrm>
            <a:off x="620885" y="6295303"/>
            <a:ext cx="156641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最终结果：正常启动进入</a:t>
            </a:r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3200" dirty="0" err="1">
                <a:latin typeface="SimHei" panose="02010609060101010101" pitchFamily="49" charset="-122"/>
                <a:ea typeface="SimHei" panose="02010609060101010101" pitchFamily="49" charset="-122"/>
              </a:rPr>
              <a:t>StarryOS</a:t>
            </a:r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命令行界面</a:t>
            </a:r>
            <a:endParaRPr kumimoji="1" lang="en-US" altLang="zh-CN" sz="32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共编译 </a:t>
            </a:r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420 </a:t>
            </a:r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个</a:t>
            </a:r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 crates</a:t>
            </a:r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，耗时约 </a:t>
            </a:r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1200s</a:t>
            </a:r>
            <a:endParaRPr kumimoji="1" lang="zh-CN" altLang="en-US" sz="32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27" name="图片 26" descr="文本&#10;&#10;AI 生成的内容可能不正确。">
            <a:extLst>
              <a:ext uri="{FF2B5EF4-FFF2-40B4-BE49-F238E27FC236}">
                <a16:creationId xmlns:a16="http://schemas.microsoft.com/office/drawing/2014/main" id="{BF19AC5E-9BB9-7402-540A-AA095EAB1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85" y="7789049"/>
            <a:ext cx="13725604" cy="1926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AD9"/>
        </a:solidFill>
        <a:effectLst/>
      </p:bgPr>
    </p:bg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56200" y="-11313475"/>
            <a:ext cx="29895799" cy="299250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A0C955D-F6BD-41FB-E47F-D742116C3A2B}"/>
              </a:ext>
            </a:extLst>
          </p:cNvPr>
          <p:cNvSpPr txBox="1"/>
          <p:nvPr/>
        </p:nvSpPr>
        <p:spPr>
          <a:xfrm>
            <a:off x="838201" y="2455391"/>
            <a:ext cx="17449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新建分支，并切换到第 </a:t>
            </a:r>
            <a:r>
              <a:rPr kumimoji="1" lang="en-US" altLang="zh-CN" sz="2400" dirty="0"/>
              <a:t>198 </a:t>
            </a:r>
            <a:r>
              <a:rPr kumimoji="1" lang="zh-CN" altLang="en-US" sz="2400" dirty="0"/>
              <a:t>号</a:t>
            </a:r>
            <a:r>
              <a:rPr kumimoji="1" lang="en-US" altLang="zh-CN" sz="2400" dirty="0"/>
              <a:t> PR </a:t>
            </a:r>
            <a:r>
              <a:rPr kumimoji="1" lang="zh-CN" altLang="en-US" sz="2400" dirty="0"/>
              <a:t>合入的地方（杨同学的第一个</a:t>
            </a:r>
            <a:r>
              <a:rPr kumimoji="1" lang="en-US" altLang="zh-CN" sz="2400" dirty="0"/>
              <a:t> PR</a:t>
            </a:r>
            <a:r>
              <a:rPr kumimoji="1" lang="zh-CN" altLang="en-US" sz="2400" dirty="0"/>
              <a:t> 是 </a:t>
            </a:r>
            <a:r>
              <a:rPr kumimoji="1" lang="en-US" altLang="zh-CN" sz="2400" dirty="0"/>
              <a:t>200</a:t>
            </a:r>
            <a:r>
              <a:rPr kumimoji="1" lang="zh-CN" altLang="en-US" sz="2400" dirty="0"/>
              <a:t> 号</a:t>
            </a:r>
            <a:r>
              <a:rPr kumimoji="1" lang="en-US" altLang="zh-CN" sz="2400" dirty="0"/>
              <a:t> PR</a:t>
            </a:r>
            <a:r>
              <a:rPr kumimoji="1" lang="zh-CN" altLang="en-US" sz="2400" dirty="0"/>
              <a:t>，</a:t>
            </a:r>
            <a:r>
              <a:rPr kumimoji="1" lang="en-US" altLang="zh-CN" sz="2400" dirty="0"/>
              <a:t>199 </a:t>
            </a:r>
            <a:r>
              <a:rPr kumimoji="1" lang="zh-CN" altLang="en-US" sz="2400" dirty="0"/>
              <a:t>号</a:t>
            </a:r>
            <a:r>
              <a:rPr kumimoji="1" lang="en-US" altLang="zh-CN" sz="2400" dirty="0"/>
              <a:t> PR </a:t>
            </a:r>
            <a:r>
              <a:rPr kumimoji="1" lang="zh-CN" altLang="en-US" sz="2400" dirty="0"/>
              <a:t>没有合入，遂选择 </a:t>
            </a:r>
            <a:r>
              <a:rPr kumimoji="1" lang="en-US" altLang="zh-CN" sz="2400" dirty="0"/>
              <a:t>198 </a:t>
            </a:r>
            <a:r>
              <a:rPr kumimoji="1" lang="zh-CN" altLang="en-US" sz="2400" dirty="0"/>
              <a:t>号</a:t>
            </a:r>
            <a:r>
              <a:rPr kumimoji="1" lang="en-US" altLang="zh-CN" sz="2400" dirty="0"/>
              <a:t> PR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ps:198 </a:t>
            </a:r>
            <a:r>
              <a:rPr kumimoji="1" lang="zh-CN" altLang="en-US" sz="2400" dirty="0"/>
              <a:t>号</a:t>
            </a:r>
            <a:r>
              <a:rPr kumimoji="1" lang="en-US" altLang="zh-CN" sz="2400" dirty="0"/>
              <a:t> PR</a:t>
            </a:r>
            <a:r>
              <a:rPr kumimoji="1" lang="zh-CN" altLang="en-US" sz="2400" dirty="0"/>
              <a:t> 距离 </a:t>
            </a:r>
            <a:r>
              <a:rPr kumimoji="1" lang="en-US" altLang="zh-CN" sz="2400" dirty="0"/>
              <a:t>1333</a:t>
            </a:r>
            <a:r>
              <a:rPr kumimoji="1" lang="zh-CN" altLang="en-US" sz="2400" dirty="0"/>
              <a:t> 号</a:t>
            </a:r>
            <a:r>
              <a:rPr kumimoji="1" lang="en-US" altLang="zh-CN" sz="2400" dirty="0"/>
              <a:t> PR</a:t>
            </a:r>
            <a:r>
              <a:rPr kumimoji="1" lang="zh-CN" altLang="en-US" sz="2400" dirty="0"/>
              <a:t>（含自举编译 </a:t>
            </a:r>
            <a:r>
              <a:rPr kumimoji="1" lang="en-US" altLang="zh-CN" sz="2400" dirty="0"/>
              <a:t>app</a:t>
            </a:r>
            <a:r>
              <a:rPr kumimoji="1" lang="zh-CN" altLang="en-US" sz="2400" dirty="0"/>
              <a:t> 合入的</a:t>
            </a:r>
            <a:r>
              <a:rPr kumimoji="1" lang="en-US" altLang="zh-CN" sz="2400" dirty="0"/>
              <a:t> PR</a:t>
            </a:r>
            <a:r>
              <a:rPr kumimoji="1" lang="zh-CN" altLang="en-US" sz="2400" dirty="0"/>
              <a:t>），中间有 </a:t>
            </a:r>
            <a:r>
              <a:rPr kumimoji="1" lang="en-US" altLang="zh-CN" sz="2400" dirty="0"/>
              <a:t>833 </a:t>
            </a:r>
            <a:r>
              <a:rPr kumimoji="1" lang="zh-CN" altLang="en-US" sz="2400" dirty="0"/>
              <a:t>个</a:t>
            </a:r>
            <a:r>
              <a:rPr kumimoji="1" lang="en-US" altLang="zh-CN" sz="2400" dirty="0"/>
              <a:t> PR</a:t>
            </a:r>
            <a:endParaRPr kumimoji="1"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A69148-C1E6-4B46-AFB1-AE580B2432B3}"/>
              </a:ext>
            </a:extLst>
          </p:cNvPr>
          <p:cNvSpPr txBox="1"/>
          <p:nvPr/>
        </p:nvSpPr>
        <p:spPr>
          <a:xfrm>
            <a:off x="1094012" y="6385530"/>
            <a:ext cx="16557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沿用</a:t>
            </a:r>
            <a:r>
              <a:rPr kumimoji="1" lang="en-US" altLang="zh-CN" sz="2400" dirty="0"/>
              <a:t> apps/</a:t>
            </a:r>
            <a:r>
              <a:rPr kumimoji="1" lang="en-US" altLang="zh-CN" sz="2400" dirty="0" err="1"/>
              <a:t>macos</a:t>
            </a:r>
            <a:r>
              <a:rPr kumimoji="1" lang="en-US" altLang="zh-CN" sz="2400" dirty="0"/>
              <a:t>-self-build</a:t>
            </a:r>
            <a:r>
              <a:rPr kumimoji="1" lang="zh-CN" altLang="en-US" sz="2400" dirty="0"/>
              <a:t> 思想编写的另一套脚本，可以复用根文件系统（无需重复注入 </a:t>
            </a:r>
            <a:r>
              <a:rPr kumimoji="1" lang="en-US" altLang="zh-CN" sz="2400" dirty="0"/>
              <a:t>3.6GB</a:t>
            </a:r>
            <a:r>
              <a:rPr kumimoji="1" lang="zh-CN" altLang="en-US" sz="2400" dirty="0"/>
              <a:t> 的编译工具链和源码包）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在没有</a:t>
            </a:r>
            <a:r>
              <a:rPr kumimoji="1" lang="en-US" altLang="zh-CN" sz="2400" dirty="0"/>
              <a:t> </a:t>
            </a:r>
            <a:r>
              <a:rPr kumimoji="1" lang="en-US" altLang="zh-CN" sz="2400" dirty="0" err="1"/>
              <a:t>xtask</a:t>
            </a:r>
            <a:r>
              <a:rPr kumimoji="1" lang="en-US" altLang="zh-CN" sz="2400" dirty="0"/>
              <a:t> apps</a:t>
            </a:r>
            <a:r>
              <a:rPr kumimoji="1" lang="zh-CN" altLang="en-US" sz="2400" dirty="0"/>
              <a:t> 支持的情况下也可以直接进行编译的脚本（使用</a:t>
            </a:r>
            <a:r>
              <a:rPr kumimoji="1" lang="en-US" altLang="zh-CN" sz="2400" dirty="0"/>
              <a:t> </a:t>
            </a:r>
            <a:r>
              <a:rPr kumimoji="1" lang="en-US" altLang="zh-CN" sz="2400" dirty="0" err="1"/>
              <a:t>qemu</a:t>
            </a:r>
            <a:r>
              <a:rPr kumimoji="1" lang="zh-CN" altLang="en-US" sz="2400" dirty="0"/>
              <a:t> 的命令在</a:t>
            </a:r>
            <a:r>
              <a:rPr kumimoji="1" lang="en-US" altLang="zh-CN" sz="2400" dirty="0"/>
              <a:t> </a:t>
            </a:r>
            <a:r>
              <a:rPr kumimoji="1" lang="en-US" altLang="zh-CN" sz="2400" dirty="0" err="1"/>
              <a:t>guestOS</a:t>
            </a:r>
            <a:r>
              <a:rPr kumimoji="1" lang="en-US" altLang="zh-CN" sz="2400" dirty="0"/>
              <a:t> </a:t>
            </a:r>
            <a:r>
              <a:rPr kumimoji="1" lang="zh-CN" altLang="en-US" sz="2400" dirty="0"/>
              <a:t>内运行编译脚本）</a:t>
            </a:r>
            <a:endParaRPr kumimoji="1" lang="en-US" altLang="zh-CN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B65CF9-C1D0-8191-99DC-D1BBE3436CE3}"/>
              </a:ext>
            </a:extLst>
          </p:cNvPr>
          <p:cNvSpPr txBox="1"/>
          <p:nvPr/>
        </p:nvSpPr>
        <p:spPr>
          <a:xfrm>
            <a:off x="636814" y="698707"/>
            <a:ext cx="7450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自举编译的完整修复链路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3667F2-21E5-35F9-376A-34F5F1433F13}"/>
              </a:ext>
            </a:extLst>
          </p:cNvPr>
          <p:cNvSpPr txBox="1"/>
          <p:nvPr/>
        </p:nvSpPr>
        <p:spPr>
          <a:xfrm>
            <a:off x="329291" y="1993726"/>
            <a:ext cx="2334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1" dirty="0"/>
              <a:t>背景：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3ED4E8-8AD5-D707-BA10-9FC6A0EFADD9}"/>
              </a:ext>
            </a:extLst>
          </p:cNvPr>
          <p:cNvSpPr txBox="1"/>
          <p:nvPr/>
        </p:nvSpPr>
        <p:spPr>
          <a:xfrm>
            <a:off x="212271" y="5600700"/>
            <a:ext cx="1763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1" dirty="0"/>
              <a:t>方法：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D9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45923" y="-9078452"/>
            <a:ext cx="26896701" cy="268047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8D59456-AF98-7DE4-25D1-0A6AB03C8B5F}"/>
              </a:ext>
            </a:extLst>
          </p:cNvPr>
          <p:cNvSpPr txBox="1"/>
          <p:nvPr/>
        </p:nvSpPr>
        <p:spPr>
          <a:xfrm>
            <a:off x="1191984" y="1022578"/>
            <a:ext cx="15495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问题描述：在</a:t>
            </a:r>
            <a:r>
              <a:rPr kumimoji="1" lang="en-US" altLang="zh-CN" sz="2400" dirty="0"/>
              <a:t>HVF </a:t>
            </a:r>
            <a:r>
              <a:rPr kumimoji="1" lang="zh-CN" altLang="en-US" sz="2400" dirty="0"/>
              <a:t>环境下，</a:t>
            </a:r>
            <a:r>
              <a:rPr kumimoji="1" lang="en-US" altLang="zh-CN" sz="2400" dirty="0" err="1"/>
              <a:t>qemu</a:t>
            </a:r>
            <a:r>
              <a:rPr kumimoji="1" lang="zh-CN" altLang="en-US" sz="2400" dirty="0"/>
              <a:t> 无法正确启动。</a:t>
            </a:r>
            <a:r>
              <a:rPr kumimoji="1" lang="en" altLang="zh-CN" sz="2400" b="1" dirty="0"/>
              <a:t>ARM</a:t>
            </a:r>
            <a:r>
              <a:rPr kumimoji="1" lang="zh-CN" altLang="en-US" sz="2400" dirty="0"/>
              <a:t>文档中描述：</a:t>
            </a:r>
            <a:r>
              <a:rPr kumimoji="1" lang="en-US" altLang="zh-CN" sz="2400" dirty="0"/>
              <a:t>guest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OS </a:t>
            </a:r>
            <a:r>
              <a:rPr kumimoji="1" lang="zh-CN" altLang="en-US" sz="2400" dirty="0"/>
              <a:t>必须使用</a:t>
            </a:r>
            <a:r>
              <a:rPr kumimoji="1" lang="en-US" altLang="zh-CN" sz="2400" dirty="0"/>
              <a:t> CNTV</a:t>
            </a:r>
            <a:r>
              <a:rPr kumimoji="1" lang="zh-CN" altLang="en-US" sz="2400" dirty="0"/>
              <a:t>（虚拟计时器），</a:t>
            </a:r>
            <a:r>
              <a:rPr kumimoji="1" lang="en-US" altLang="zh-CN" sz="2400" dirty="0"/>
              <a:t>	</a:t>
            </a:r>
            <a:r>
              <a:rPr kumimoji="1" lang="zh-CN" altLang="en-US" sz="2400" dirty="0"/>
              <a:t>之前是默认使用</a:t>
            </a:r>
            <a:r>
              <a:rPr kumimoji="1" lang="en-US" altLang="zh-CN" sz="2400" dirty="0"/>
              <a:t> CNTHP</a:t>
            </a:r>
            <a:r>
              <a:rPr kumimoji="1" lang="zh-CN" altLang="en-US" sz="2400" dirty="0"/>
              <a:t>系列寄存器（</a:t>
            </a:r>
            <a:r>
              <a:rPr kumimoji="1" lang="en-US" altLang="zh-CN" sz="2400" dirty="0"/>
              <a:t>ARM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EL2 </a:t>
            </a:r>
            <a:r>
              <a:rPr kumimoji="1" lang="zh-CN" altLang="en-US" sz="2400" dirty="0"/>
              <a:t>特权级 </a:t>
            </a:r>
            <a:r>
              <a:rPr kumimoji="1" lang="en-US" altLang="zh-CN" sz="2400" dirty="0"/>
              <a:t>Hypervisor</a:t>
            </a:r>
            <a:r>
              <a:rPr kumimoji="1" lang="zh-CN" altLang="en-US" sz="2400" dirty="0"/>
              <a:t> 使用的物理计时器）</a:t>
            </a:r>
            <a:endParaRPr kumimoji="1" lang="en-US" altLang="zh-CN" sz="2400" dirty="0"/>
          </a:p>
          <a:p>
            <a:endParaRPr kumimoji="1"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16048B-0E24-643C-098F-5DA98529A176}"/>
              </a:ext>
            </a:extLst>
          </p:cNvPr>
          <p:cNvSpPr txBox="1"/>
          <p:nvPr/>
        </p:nvSpPr>
        <p:spPr>
          <a:xfrm>
            <a:off x="1191984" y="2196647"/>
            <a:ext cx="1481001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sz="2400" dirty="0"/>
              <a:t>报错</a:t>
            </a:r>
            <a:r>
              <a:rPr lang="zh-CN" altLang="en-US" sz="2400" dirty="0"/>
              <a:t>原文：</a:t>
            </a:r>
            <a:endParaRPr lang="en-US" altLang="zh-CN" sz="2400" dirty="0"/>
          </a:p>
          <a:p>
            <a:r>
              <a:rPr lang="en" altLang="zh-CN" sz="2400" dirty="0"/>
              <a:t>Assertion failed: (</a:t>
            </a:r>
            <a:r>
              <a:rPr lang="en" altLang="zh-CN" sz="2400" dirty="0" err="1"/>
              <a:t>isv</a:t>
            </a:r>
            <a:r>
              <a:rPr lang="en" altLang="zh-CN" sz="2400" dirty="0"/>
              <a:t>), function </a:t>
            </a:r>
            <a:r>
              <a:rPr lang="en" altLang="zh-CN" sz="2400" dirty="0" err="1"/>
              <a:t>hvf_handle_exception</a:t>
            </a:r>
            <a:r>
              <a:rPr lang="en" altLang="zh-CN" sz="2400" dirty="0"/>
              <a:t>, file </a:t>
            </a:r>
            <a:r>
              <a:rPr lang="en" altLang="zh-CN" sz="2400" dirty="0" err="1"/>
              <a:t>hvf.c</a:t>
            </a:r>
            <a:r>
              <a:rPr lang="en" altLang="zh-CN" sz="2400" dirty="0"/>
              <a:t>, line 2275.</a:t>
            </a:r>
          </a:p>
          <a:p>
            <a:r>
              <a:rPr lang="en" altLang="zh-CN" sz="2400" dirty="0"/>
              <a:t>Error: Assertion failed: (</a:t>
            </a:r>
            <a:r>
              <a:rPr lang="en" altLang="zh-CN" sz="2400" dirty="0" err="1"/>
              <a:t>isv</a:t>
            </a:r>
            <a:r>
              <a:rPr lang="en" altLang="zh-CN" sz="2400" dirty="0"/>
              <a:t>), function </a:t>
            </a:r>
            <a:r>
              <a:rPr lang="en" altLang="zh-CN" sz="2400" dirty="0" err="1"/>
              <a:t>hvf_handle_exception</a:t>
            </a:r>
            <a:r>
              <a:rPr lang="en" altLang="zh-CN" sz="2400" dirty="0"/>
              <a:t>, file </a:t>
            </a:r>
            <a:r>
              <a:rPr lang="en" altLang="zh-CN" sz="2400" dirty="0" err="1"/>
              <a:t>hvf.c</a:t>
            </a:r>
            <a:r>
              <a:rPr lang="en" altLang="zh-CN" sz="2400" dirty="0"/>
              <a:t>, line 2275.</a:t>
            </a:r>
          </a:p>
          <a:p>
            <a:endParaRPr kumimoji="1"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247F85-4637-CA8F-7D11-F81AF0D6B2FB}"/>
              </a:ext>
            </a:extLst>
          </p:cNvPr>
          <p:cNvSpPr txBox="1"/>
          <p:nvPr/>
        </p:nvSpPr>
        <p:spPr>
          <a:xfrm>
            <a:off x="1216479" y="7896416"/>
            <a:ext cx="158550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思考：上述报错仅指明 </a:t>
            </a:r>
            <a:r>
              <a:rPr lang="en" altLang="zh-CN" sz="2800" dirty="0" err="1"/>
              <a:t>hvf_handle_exception</a:t>
            </a:r>
            <a:r>
              <a:rPr lang="zh-CN" altLang="en" sz="2800" dirty="0"/>
              <a:t>即</a:t>
            </a:r>
            <a:r>
              <a:rPr kumimoji="1" lang="en-US" altLang="zh-CN" sz="2800" dirty="0"/>
              <a:t>GIC</a:t>
            </a:r>
            <a:r>
              <a:rPr kumimoji="1" lang="zh-CN" altLang="en-US" sz="2800" dirty="0"/>
              <a:t>中断分发器存在问题，并未明确指出之前使用</a:t>
            </a:r>
            <a:r>
              <a:rPr kumimoji="1" lang="en-US" altLang="zh-CN" sz="2800" dirty="0"/>
              <a:t> CNTHP</a:t>
            </a:r>
            <a:r>
              <a:rPr kumimoji="1" lang="zh-CN" altLang="en-US" sz="2800" dirty="0"/>
              <a:t> 存在问题，</a:t>
            </a:r>
            <a:r>
              <a:rPr kumimoji="1" lang="en-US" altLang="zh-CN" sz="2800" dirty="0"/>
              <a:t>Apple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HVF</a:t>
            </a:r>
            <a:r>
              <a:rPr kumimoji="1" lang="zh-CN" altLang="en-US" sz="2800" dirty="0"/>
              <a:t> 的文档也没有说必须使用</a:t>
            </a:r>
            <a:r>
              <a:rPr kumimoji="1" lang="en-US" altLang="zh-CN" sz="2800" dirty="0"/>
              <a:t> CNTV</a:t>
            </a:r>
            <a:r>
              <a:rPr kumimoji="1" lang="zh-CN" altLang="en-US" sz="2800" dirty="0"/>
              <a:t>。只是在</a:t>
            </a:r>
            <a:r>
              <a:rPr kumimoji="1" lang="en-US" altLang="zh-CN" sz="2800" dirty="0"/>
              <a:t> ARM</a:t>
            </a:r>
            <a:r>
              <a:rPr kumimoji="1" lang="zh-CN" altLang="en-US" sz="2800" dirty="0"/>
              <a:t> 规范里，</a:t>
            </a:r>
            <a:r>
              <a:rPr kumimoji="1" lang="en-US" altLang="zh-CN" sz="2800" dirty="0"/>
              <a:t>guest </a:t>
            </a:r>
            <a:r>
              <a:rPr kumimoji="1" lang="en-US" altLang="zh-CN" sz="2800" dirty="0" err="1"/>
              <a:t>os</a:t>
            </a:r>
            <a:r>
              <a:rPr kumimoji="1" lang="en-US" altLang="zh-CN" sz="2800" dirty="0"/>
              <a:t> </a:t>
            </a:r>
            <a:r>
              <a:rPr kumimoji="1" lang="zh-CN" altLang="en-US" sz="2800" dirty="0"/>
              <a:t>在</a:t>
            </a:r>
            <a:r>
              <a:rPr kumimoji="1" lang="en-US" altLang="zh-CN" sz="2800" dirty="0"/>
              <a:t> Hypervisor </a:t>
            </a:r>
            <a:r>
              <a:rPr kumimoji="1" lang="zh-CN" altLang="en-US" sz="2800" dirty="0"/>
              <a:t>里面应该使用</a:t>
            </a:r>
            <a:r>
              <a:rPr kumimoji="1" lang="en-US" altLang="zh-CN" sz="2800" dirty="0"/>
              <a:t> CNTV</a:t>
            </a:r>
            <a:r>
              <a:rPr kumimoji="1" lang="zh-CN" altLang="en-US" sz="2800" dirty="0"/>
              <a:t>，从而具有“独属于自己的时钟”，防止因为上下文切换之后，</a:t>
            </a:r>
            <a:r>
              <a:rPr kumimoji="1" lang="en-US" altLang="zh-CN" sz="2800" dirty="0"/>
              <a:t>guest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OS </a:t>
            </a:r>
            <a:r>
              <a:rPr kumimoji="1" lang="zh-CN" altLang="en-US" sz="2800" dirty="0"/>
              <a:t>内部的时间出现莫名增加这种被污染的情况。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7EE744-945E-88AD-EB8D-8DF5F78E3017}"/>
              </a:ext>
            </a:extLst>
          </p:cNvPr>
          <p:cNvSpPr txBox="1"/>
          <p:nvPr/>
        </p:nvSpPr>
        <p:spPr>
          <a:xfrm>
            <a:off x="1191984" y="4525537"/>
            <a:ext cx="158550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修复：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1️⃣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以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Hypervisor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启动时使用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EL2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文件中的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CNTHP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系列 寄存器，以非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Hypervisor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启动时使用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CNTV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系列寄存器。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lvl="0"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2️⃣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将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GICv2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的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MMIO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路径读写中断状态，切换为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GICv3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使用 </a:t>
            </a:r>
            <a:r>
              <a:rPr lang="en" altLang="zh-CN" sz="2400" dirty="0"/>
              <a:t>ICC_*_EL1</a:t>
            </a:r>
            <a:r>
              <a:rPr lang="zh-CN" altLang="en-US" sz="2400" dirty="0"/>
              <a:t> 系列系统寄存器读写中断状态</a:t>
            </a:r>
            <a:endParaRPr lang="en-US" altLang="zh-CN" sz="2400" dirty="0"/>
          </a:p>
          <a:p>
            <a:pPr lvl="0">
              <a:defRPr/>
            </a:pPr>
            <a:endParaRPr kumimoji="1" lang="en-US" altLang="zh-CN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AC31F4-A41F-C0C3-18BD-72E0EA48315A}"/>
              </a:ext>
            </a:extLst>
          </p:cNvPr>
          <p:cNvSpPr txBox="1"/>
          <p:nvPr/>
        </p:nvSpPr>
        <p:spPr>
          <a:xfrm>
            <a:off x="1191984" y="5833587"/>
            <a:ext cx="15471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结果：当前报错信息消失，开始出现问题二的报错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D1FB45-ABF9-D6C4-6FF5-234E229CC599}"/>
              </a:ext>
            </a:extLst>
          </p:cNvPr>
          <p:cNvSpPr txBox="1"/>
          <p:nvPr/>
        </p:nvSpPr>
        <p:spPr>
          <a:xfrm>
            <a:off x="342899" y="228600"/>
            <a:ext cx="58996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/>
              <a:t>问题一：</a:t>
            </a:r>
            <a:r>
              <a:rPr lang="en" altLang="zh-CN" sz="2800" b="1" dirty="0"/>
              <a:t>HVF timer / GIC </a:t>
            </a:r>
            <a:r>
              <a:rPr lang="zh-CN" altLang="en-US" sz="2800" b="1" dirty="0"/>
              <a:t>路径</a:t>
            </a:r>
            <a:endParaRPr lang="zh-CN" altLang="en-US" sz="2800" dirty="0"/>
          </a:p>
          <a:p>
            <a:pPr algn="l"/>
            <a:endParaRPr kumimoji="1" lang="zh-CN" altLang="en-US" sz="2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AD9"/>
        </a:solidFill>
        <a:effectLst/>
      </p:bgPr>
    </p:bg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66882" y="-853438"/>
            <a:ext cx="14107380" cy="1412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4B2FCD5-33E9-7D67-3605-5426E00F2619}"/>
              </a:ext>
            </a:extLst>
          </p:cNvPr>
          <p:cNvSpPr txBox="1"/>
          <p:nvPr/>
        </p:nvSpPr>
        <p:spPr>
          <a:xfrm>
            <a:off x="1530804" y="554502"/>
            <a:ext cx="15226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于是接下来进行了消融实验：</a:t>
            </a:r>
            <a:endParaRPr kumimoji="1" lang="en-US" altLang="zh-CN" sz="2400" dirty="0"/>
          </a:p>
          <a:p>
            <a:r>
              <a:rPr kumimoji="1" lang="en-US" altLang="zh-CN" sz="2400" dirty="0"/>
              <a:t>①</a:t>
            </a:r>
            <a:r>
              <a:rPr kumimoji="1" lang="zh-CN" altLang="en-US" sz="2400" dirty="0"/>
              <a:t>只使用</a:t>
            </a:r>
            <a:r>
              <a:rPr kumimoji="1" lang="en-US" altLang="zh-CN" sz="2400" dirty="0"/>
              <a:t> CNTV</a:t>
            </a:r>
            <a:r>
              <a:rPr kumimoji="1" lang="zh-CN" altLang="en-US" sz="2400" dirty="0"/>
              <a:t>  不打开</a:t>
            </a:r>
            <a:r>
              <a:rPr kumimoji="1" lang="en-US" altLang="zh-CN" sz="2400" dirty="0"/>
              <a:t> GICv3 	②</a:t>
            </a:r>
            <a:r>
              <a:rPr kumimoji="1" lang="zh-CN" altLang="en-US" sz="2400" dirty="0"/>
              <a:t>不使用</a:t>
            </a:r>
            <a:r>
              <a:rPr kumimoji="1" lang="en-US" altLang="zh-CN" sz="2400" dirty="0"/>
              <a:t> CNTV</a:t>
            </a:r>
            <a:r>
              <a:rPr kumimoji="1" lang="zh-CN" altLang="en-US" sz="2400" dirty="0"/>
              <a:t> 只打开</a:t>
            </a:r>
            <a:r>
              <a:rPr kumimoji="1" lang="en-US" altLang="zh-CN" sz="2400" dirty="0"/>
              <a:t> GICv3</a:t>
            </a:r>
            <a:r>
              <a:rPr kumimoji="1" lang="zh-CN" altLang="en-US" sz="2400" dirty="0"/>
              <a:t>    以查看是否存在多余修复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677311-E7CE-B19E-6807-417DBFE317C0}"/>
              </a:ext>
            </a:extLst>
          </p:cNvPr>
          <p:cNvSpPr txBox="1"/>
          <p:nvPr/>
        </p:nvSpPr>
        <p:spPr>
          <a:xfrm>
            <a:off x="1530804" y="1903512"/>
            <a:ext cx="9691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①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不使用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CNTV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只打开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GICv3 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FF0A8D-B78D-4E3E-5D73-A7B0E2D9195B}"/>
              </a:ext>
            </a:extLst>
          </p:cNvPr>
          <p:cNvSpPr txBox="1"/>
          <p:nvPr/>
        </p:nvSpPr>
        <p:spPr>
          <a:xfrm>
            <a:off x="1890031" y="3755235"/>
            <a:ext cx="119239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报错原文：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Assertion failed: (isv), function hvf_handle_exception, file hvf.c, line 2275.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48BEF4-F6E1-CEE2-75F3-8B53AC05989D}"/>
              </a:ext>
            </a:extLst>
          </p:cNvPr>
          <p:cNvSpPr txBox="1"/>
          <p:nvPr/>
        </p:nvSpPr>
        <p:spPr>
          <a:xfrm>
            <a:off x="1890031" y="5976291"/>
            <a:ext cx="12446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和不使用</a:t>
            </a:r>
            <a:r>
              <a:rPr kumimoji="1" lang="en-US" altLang="zh-CN" sz="2400" dirty="0"/>
              <a:t> CNTV</a:t>
            </a:r>
            <a:r>
              <a:rPr kumimoji="1" lang="zh-CN" altLang="en-US" sz="2400" dirty="0"/>
              <a:t> 并且不打开</a:t>
            </a:r>
            <a:r>
              <a:rPr kumimoji="1" lang="en-US" altLang="zh-CN" sz="2400" dirty="0"/>
              <a:t> GICv3</a:t>
            </a:r>
            <a:r>
              <a:rPr kumimoji="1" lang="zh-CN" altLang="en-US" sz="2400" dirty="0"/>
              <a:t>  的报错信息相同，暂时没有实际价值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C4503B68-9D43-D963-4B72-AD01E9A86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29">
            <a:extLst>
              <a:ext uri="{FF2B5EF4-FFF2-40B4-BE49-F238E27FC236}">
                <a16:creationId xmlns:a16="http://schemas.microsoft.com/office/drawing/2014/main" id="{0EC12D3A-A4DB-649C-66EE-917F7D6D208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406160" y="-11147876"/>
            <a:ext cx="29679900" cy="297089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D2E4689E-F5FF-2010-08CB-D413455C3CB2}"/>
              </a:ext>
            </a:extLst>
          </p:cNvPr>
          <p:cNvGrpSpPr/>
          <p:nvPr/>
        </p:nvGrpSpPr>
        <p:grpSpPr>
          <a:xfrm>
            <a:off x="2722497" y="1087200"/>
            <a:ext cx="15642772" cy="9075518"/>
            <a:chOff x="457201" y="760628"/>
            <a:chExt cx="15642772" cy="9075518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E8FD24B-3ED7-6D86-8D4D-7936E1DB5F18}"/>
                </a:ext>
              </a:extLst>
            </p:cNvPr>
            <p:cNvSpPr txBox="1"/>
            <p:nvPr/>
          </p:nvSpPr>
          <p:spPr>
            <a:xfrm>
              <a:off x="457201" y="9035927"/>
              <a:ext cx="15642772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dirty="0"/>
                <a:t>HVF</a:t>
              </a:r>
              <a:r>
                <a:rPr kumimoji="1" lang="zh-CN" altLang="en-US" sz="2800" dirty="0"/>
                <a:t> 的思想：将</a:t>
              </a:r>
              <a:r>
                <a:rPr lang="en" altLang="zh-CN" sz="2800" dirty="0"/>
                <a:t>guest vCPU</a:t>
              </a:r>
              <a:r>
                <a:rPr lang="zh-CN" altLang="en" sz="2800" dirty="0"/>
                <a:t>的</a:t>
              </a:r>
              <a:r>
                <a:rPr lang="zh-CN" altLang="en-US" sz="2800" dirty="0"/>
                <a:t>指令直接在 </a:t>
              </a:r>
              <a:r>
                <a:rPr lang="en" altLang="zh-CN" sz="2800" dirty="0"/>
                <a:t>Apple CPU </a:t>
              </a:r>
              <a:r>
                <a:rPr lang="zh-CN" altLang="en-US" sz="2800" dirty="0"/>
                <a:t>原生执行。</a:t>
              </a:r>
              <a:endParaRPr lang="en-US" altLang="zh-CN" sz="2800" dirty="0"/>
            </a:p>
            <a:p>
              <a:endParaRPr kumimoji="1" lang="zh-CN" altLang="en-US" sz="1800" dirty="0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05D47CE-3AAD-FAAD-C2AA-24BD978A1243}"/>
                </a:ext>
              </a:extLst>
            </p:cNvPr>
            <p:cNvSpPr txBox="1"/>
            <p:nvPr/>
          </p:nvSpPr>
          <p:spPr>
            <a:xfrm>
              <a:off x="457201" y="760628"/>
              <a:ext cx="120668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/>
                <a:t>②</a:t>
              </a:r>
              <a:r>
                <a:rPr kumimoji="1" lang="zh-CN" altLang="en-US" sz="2400" dirty="0"/>
                <a:t> 只使用</a:t>
              </a:r>
              <a:r>
                <a:rPr kumimoji="1" lang="en-US" altLang="zh-CN" sz="2400" dirty="0"/>
                <a:t> CNTV</a:t>
              </a:r>
              <a:r>
                <a:rPr kumimoji="1" lang="zh-CN" altLang="en-US" sz="2400" dirty="0"/>
                <a:t> 不打开 </a:t>
              </a:r>
              <a:r>
                <a:rPr kumimoji="1" lang="en-US" altLang="zh-CN" sz="2400" dirty="0"/>
                <a:t>GICv3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3E700D4-67EC-F920-A1CE-24A9E0DB3992}"/>
                </a:ext>
              </a:extLst>
            </p:cNvPr>
            <p:cNvSpPr txBox="1"/>
            <p:nvPr/>
          </p:nvSpPr>
          <p:spPr>
            <a:xfrm>
              <a:off x="457201" y="1810353"/>
              <a:ext cx="1423851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dirty="0"/>
                <a:t>报错原文：</a:t>
              </a:r>
              <a:endParaRPr kumimoji="1" lang="en-US" altLang="zh-CN" sz="2400" dirty="0"/>
            </a:p>
            <a:p>
              <a:r>
                <a:rPr lang="en" altLang="zh-CN" sz="2400" dirty="0"/>
                <a:t>	Unhandled synchronous exception Some(Unknown) @ </a:t>
              </a:r>
              <a:r>
                <a:rPr lang="en" altLang="zh-CN" sz="2400" b="1" dirty="0"/>
                <a:t>0xffff00004025e830</a:t>
              </a:r>
              <a:r>
                <a:rPr lang="en" altLang="zh-CN" sz="2400" dirty="0"/>
                <a:t>:</a:t>
              </a:r>
            </a:p>
            <a:p>
              <a:r>
                <a:rPr lang="en" altLang="zh-CN" sz="2400" dirty="0"/>
                <a:t>	ESR=0x2000000 (EC 0b000000, FAR: VA:0x0 ISS 0x0)</a:t>
              </a:r>
            </a:p>
            <a:p>
              <a:endParaRPr kumimoji="1" lang="zh-CN" altLang="en-US" sz="24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BF76243-47B4-4B51-ED45-C0ADAD0BF108}"/>
                </a:ext>
              </a:extLst>
            </p:cNvPr>
            <p:cNvSpPr txBox="1"/>
            <p:nvPr/>
          </p:nvSpPr>
          <p:spPr>
            <a:xfrm>
              <a:off x="457202" y="3559629"/>
              <a:ext cx="14866658" cy="3262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2400" dirty="0"/>
                <a:t>Codex</a:t>
              </a:r>
              <a:r>
                <a:rPr lang="zh-CN" altLang="en-US" sz="2400" dirty="0"/>
                <a:t> 对编译产物进行反编译搜索：</a:t>
              </a:r>
              <a:endParaRPr lang="en" altLang="zh-CN" sz="2400" dirty="0"/>
            </a:p>
            <a:p>
              <a:r>
                <a:rPr lang="en" altLang="zh-CN" sz="2400" dirty="0"/>
                <a:t>	rust-</a:t>
              </a:r>
              <a:r>
                <a:rPr lang="en" altLang="zh-CN" sz="2400" dirty="0" err="1"/>
                <a:t>objdump</a:t>
              </a:r>
              <a:r>
                <a:rPr lang="en" altLang="zh-CN" sz="2400" dirty="0"/>
                <a:t> -d --</a:t>
              </a:r>
              <a:r>
                <a:rPr lang="en" altLang="zh-CN" sz="2400" dirty="0" err="1"/>
                <a:t>demangle</a:t>
              </a:r>
              <a:r>
                <a:rPr lang="en" altLang="zh-CN" sz="2400" dirty="0"/>
                <a:t> \</a:t>
              </a:r>
            </a:p>
            <a:p>
              <a:r>
                <a:rPr lang="en" altLang="zh-CN" sz="2400" dirty="0"/>
                <a:t>  	target/aarch64-unknown-none-softfloat/release/</a:t>
              </a:r>
              <a:r>
                <a:rPr lang="en" altLang="zh-CN" sz="2400" dirty="0" err="1"/>
                <a:t>starryos</a:t>
              </a:r>
              <a:r>
                <a:rPr lang="en" altLang="zh-CN" sz="2400" dirty="0"/>
                <a:t> \</a:t>
              </a:r>
            </a:p>
            <a:p>
              <a:r>
                <a:rPr lang="en" altLang="zh-CN" sz="2400" dirty="0"/>
                <a:t> 	 | </a:t>
              </a:r>
              <a:r>
                <a:rPr lang="en" altLang="zh-CN" sz="2400" dirty="0" err="1"/>
                <a:t>rg</a:t>
              </a:r>
              <a:r>
                <a:rPr lang="en" altLang="zh-CN" sz="2400" dirty="0"/>
                <a:t> -n -C 8 'ffff00004025e830|4025e830|25e830’</a:t>
              </a:r>
            </a:p>
            <a:p>
              <a:endParaRPr lang="en" altLang="zh-CN" sz="2400" dirty="0"/>
            </a:p>
            <a:p>
              <a:endParaRPr lang="en" altLang="zh-CN" sz="2400" dirty="0"/>
            </a:p>
            <a:p>
              <a:endParaRPr lang="en-US" altLang="zh-CN" sz="2400" dirty="0"/>
            </a:p>
            <a:p>
              <a:endParaRPr lang="en-US" altLang="zh-CN" sz="2400" dirty="0"/>
            </a:p>
            <a:p>
              <a:endParaRPr kumimoji="1"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295FA42-0CF3-7DA8-1058-35B846D45B9E}"/>
                </a:ext>
              </a:extLst>
            </p:cNvPr>
            <p:cNvSpPr txBox="1"/>
            <p:nvPr/>
          </p:nvSpPr>
          <p:spPr>
            <a:xfrm>
              <a:off x="457201" y="5472423"/>
              <a:ext cx="1188719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" sz="2400" dirty="0"/>
                <a:t>命中</a:t>
              </a:r>
              <a:r>
                <a:rPr lang="zh-CN" altLang="en-US" sz="2400" dirty="0"/>
                <a:t>以下指令：</a:t>
              </a:r>
              <a:endParaRPr lang="en" altLang="zh-CN" sz="2400" dirty="0"/>
            </a:p>
            <a:p>
              <a:r>
                <a:rPr lang="en" altLang="zh-CN" sz="2400" dirty="0"/>
                <a:t>	ffff00004025e82c: d51be229      </a:t>
              </a:r>
              <a:r>
                <a:rPr lang="en" altLang="zh-CN" sz="2400" dirty="0" err="1"/>
                <a:t>msr</a:t>
              </a:r>
              <a:r>
                <a:rPr lang="en" altLang="zh-CN" sz="2400" dirty="0"/>
                <a:t> CNTP_CTL_EL0, x9</a:t>
              </a:r>
            </a:p>
            <a:p>
              <a:r>
                <a:rPr lang="en" altLang="zh-CN" sz="2400" b="1" dirty="0"/>
                <a:t>	ffff00004025e830: d51be208      </a:t>
              </a:r>
              <a:r>
                <a:rPr lang="en" altLang="zh-CN" sz="2400" b="1" dirty="0" err="1"/>
                <a:t>msr</a:t>
              </a:r>
              <a:r>
                <a:rPr lang="en" altLang="zh-CN" sz="2400" b="1" dirty="0"/>
                <a:t> CNTP_TVAL_EL0, x8</a:t>
              </a:r>
            </a:p>
            <a:p>
              <a:r>
                <a:rPr lang="en" altLang="zh-CN" sz="2400" dirty="0"/>
                <a:t>	ffff00004025e844: 528003c0      mov w0, #0x1e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58B406A-D718-234D-B2D4-EF5CCDDE50E2}"/>
                </a:ext>
              </a:extLst>
            </p:cNvPr>
            <p:cNvSpPr txBox="1"/>
            <p:nvPr/>
          </p:nvSpPr>
          <p:spPr>
            <a:xfrm>
              <a:off x="457201" y="7246245"/>
              <a:ext cx="1537334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初步理解：</a:t>
              </a:r>
              <a:endParaRPr lang="en-US" altLang="zh-CN" sz="2400" dirty="0"/>
            </a:p>
            <a:p>
              <a:r>
                <a:rPr lang="en" altLang="zh-CN" sz="2400" dirty="0"/>
                <a:t>	 </a:t>
              </a:r>
              <a:r>
                <a:rPr lang="en" altLang="zh-CN" sz="2400" b="1" dirty="0" err="1"/>
                <a:t>msr</a:t>
              </a:r>
              <a:r>
                <a:rPr lang="en" altLang="zh-CN" sz="2400" b="1" dirty="0"/>
                <a:t> CNTP_TVAL_EL0, x8</a:t>
              </a:r>
              <a:r>
                <a:rPr lang="zh-CN" altLang="en-US" sz="2400" b="1" dirty="0"/>
                <a:t> </a:t>
              </a:r>
              <a:r>
                <a:rPr lang="zh-CN" altLang="en-US" sz="2400" dirty="0"/>
                <a:t>对应源码 </a:t>
              </a:r>
              <a:r>
                <a:rPr lang="en" altLang="zh-CN" sz="2400" b="1" dirty="0"/>
                <a:t>CNTP_CTL_EL0.write(CNTP_CTL_EL0::ENABLE::SET);</a:t>
              </a:r>
            </a:p>
            <a:p>
              <a:r>
                <a:rPr lang="en-US" altLang="zh-CN" sz="2400" dirty="0"/>
                <a:t>	</a:t>
              </a:r>
              <a:r>
                <a:rPr lang="zh-CN" altLang="en-US" sz="2400" dirty="0"/>
                <a:t>这是一条修改物理计时器的寄存器的指令，修改会影响宿主机，因此</a:t>
              </a:r>
              <a:r>
                <a:rPr lang="en-US" altLang="zh-CN" sz="2400" dirty="0"/>
                <a:t> HVF</a:t>
              </a:r>
              <a:r>
                <a:rPr lang="zh-CN" altLang="en-US" sz="2400" dirty="0"/>
                <a:t> 并未将</a:t>
              </a:r>
              <a:r>
                <a:rPr lang="en-US" altLang="zh-CN" sz="2400" dirty="0"/>
                <a:t> CNTP </a:t>
              </a:r>
              <a:r>
                <a:rPr lang="zh-CN" altLang="en-US" sz="2400" dirty="0"/>
                <a:t>系列物理计时器暴露出来，所以报错</a:t>
              </a:r>
              <a:endParaRPr kumimoji="1"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32937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AD9"/>
        </a:solidFill>
        <a:effectLst/>
      </p:bgPr>
    </p:bg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976;p29">
            <a:extLst>
              <a:ext uri="{FF2B5EF4-FFF2-40B4-BE49-F238E27FC236}">
                <a16:creationId xmlns:a16="http://schemas.microsoft.com/office/drawing/2014/main" id="{4BCF30AB-1B7F-CBE0-F848-D7C310195C5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695950" y="-16324033"/>
            <a:ext cx="29679900" cy="297089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92E97EB-264B-F868-243C-DA39FE305097}"/>
              </a:ext>
            </a:extLst>
          </p:cNvPr>
          <p:cNvSpPr txBox="1"/>
          <p:nvPr/>
        </p:nvSpPr>
        <p:spPr>
          <a:xfrm>
            <a:off x="1216478" y="296340"/>
            <a:ext cx="15855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3200" b="1" dirty="0"/>
              <a:t>可事实真的是这样吗：这是</a:t>
            </a:r>
            <a:r>
              <a:rPr kumimoji="1" lang="en-US" altLang="zh-CN" sz="3200" b="1" dirty="0"/>
              <a:t> HVF</a:t>
            </a:r>
            <a:r>
              <a:rPr kumimoji="1" lang="zh-CN" altLang="en-US" sz="3200" b="1" dirty="0"/>
              <a:t> 的保护行为，未暴露 </a:t>
            </a:r>
            <a:r>
              <a:rPr kumimoji="1" lang="en-US" altLang="zh-CN" sz="3200" b="1" dirty="0"/>
              <a:t>CNTP</a:t>
            </a:r>
            <a:r>
              <a:rPr kumimoji="1" lang="zh-CN" altLang="en-US" sz="3200" b="1" dirty="0"/>
              <a:t> 系列寄存器，导致的报错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6EF244-C87A-474F-A9AD-09FEE1300C35}"/>
              </a:ext>
            </a:extLst>
          </p:cNvPr>
          <p:cNvSpPr txBox="1"/>
          <p:nvPr/>
        </p:nvSpPr>
        <p:spPr>
          <a:xfrm>
            <a:off x="3510643" y="1181705"/>
            <a:ext cx="11887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400" b="1" dirty="0">
                <a:solidFill>
                  <a:srgbClr val="FF0000"/>
                </a:solidFill>
              </a:rPr>
              <a:t>	ffff00004025e82c: d51be229      </a:t>
            </a:r>
            <a:r>
              <a:rPr lang="en" altLang="zh-CN" sz="2400" b="1" dirty="0" err="1">
                <a:solidFill>
                  <a:srgbClr val="FF0000"/>
                </a:solidFill>
              </a:rPr>
              <a:t>msr</a:t>
            </a:r>
            <a:r>
              <a:rPr lang="en" altLang="zh-CN" sz="2400" b="1" dirty="0">
                <a:solidFill>
                  <a:srgbClr val="FF0000"/>
                </a:solidFill>
              </a:rPr>
              <a:t> CNTP_CTL_EL0, x9</a:t>
            </a:r>
          </a:p>
          <a:p>
            <a:r>
              <a:rPr lang="en" altLang="zh-CN" sz="2400" b="1" dirty="0"/>
              <a:t>	ffff00004025e830: d51be208      </a:t>
            </a:r>
            <a:r>
              <a:rPr lang="en" altLang="zh-CN" sz="2400" b="1" dirty="0" err="1"/>
              <a:t>msr</a:t>
            </a:r>
            <a:r>
              <a:rPr lang="en" altLang="zh-CN" sz="2400" b="1" dirty="0"/>
              <a:t> CNTP_TVAL_EL0, x8</a:t>
            </a:r>
          </a:p>
          <a:p>
            <a:r>
              <a:rPr lang="en" altLang="zh-CN" sz="2400" dirty="0"/>
              <a:t>	ffff00004025e844: 528003c0      mov w0, #0x1e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4A93DA-433B-AB9D-109F-1C491FEB1B21}"/>
              </a:ext>
            </a:extLst>
          </p:cNvPr>
          <p:cNvSpPr txBox="1"/>
          <p:nvPr/>
        </p:nvSpPr>
        <p:spPr>
          <a:xfrm>
            <a:off x="2563585" y="2983213"/>
            <a:ext cx="15185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质疑点：</a:t>
            </a:r>
            <a:endParaRPr kumimoji="1" lang="en-US" altLang="zh-CN" sz="2400" dirty="0"/>
          </a:p>
          <a:p>
            <a:pPr algn="l"/>
            <a:r>
              <a:rPr kumimoji="1" lang="en-US" altLang="zh-CN" sz="2400" dirty="0"/>
              <a:t>	</a:t>
            </a:r>
            <a:r>
              <a:rPr kumimoji="1" lang="zh-CN" altLang="en-US" sz="2400" dirty="0"/>
              <a:t>同样是使用</a:t>
            </a:r>
            <a:r>
              <a:rPr kumimoji="1" lang="en-US" altLang="zh-CN" sz="2400" dirty="0"/>
              <a:t> </a:t>
            </a:r>
            <a:r>
              <a:rPr kumimoji="1" lang="en-US" altLang="zh-CN" sz="2400" dirty="0" err="1"/>
              <a:t>msr</a:t>
            </a:r>
            <a:r>
              <a:rPr kumimoji="1" lang="en-US" altLang="zh-CN" sz="2400" dirty="0"/>
              <a:t> </a:t>
            </a:r>
            <a:r>
              <a:rPr kumimoji="1" lang="zh-CN" altLang="en-US" sz="2400" dirty="0"/>
              <a:t>指令修改</a:t>
            </a:r>
            <a:r>
              <a:rPr kumimoji="1" lang="en-US" altLang="zh-CN" sz="2400" b="1" dirty="0"/>
              <a:t> CNTP</a:t>
            </a:r>
            <a:r>
              <a:rPr kumimoji="1" lang="zh-CN" altLang="en-US" sz="2400" b="1" dirty="0"/>
              <a:t> </a:t>
            </a:r>
            <a:r>
              <a:rPr kumimoji="1" lang="zh-CN" altLang="en-US" sz="2400" dirty="0"/>
              <a:t>系列寄存器，</a:t>
            </a:r>
            <a:r>
              <a:rPr kumimoji="1" lang="zh-CN" altLang="en-US" sz="2400" b="1" dirty="0"/>
              <a:t>为什么上面那一条没有报错呢</a:t>
            </a:r>
            <a:r>
              <a:rPr kumimoji="1" lang="zh-CN" altLang="en-US" sz="2400" dirty="0"/>
              <a:t>？</a:t>
            </a:r>
            <a:endParaRPr kumimoji="1" lang="en-US" altLang="zh-CN" sz="2400" dirty="0"/>
          </a:p>
          <a:p>
            <a:r>
              <a:rPr kumimoji="1" lang="en-US" altLang="zh-CN" sz="2400" dirty="0"/>
              <a:t>	</a:t>
            </a:r>
            <a:r>
              <a:rPr kumimoji="1" lang="zh-CN" altLang="en-US" sz="2400" dirty="0"/>
              <a:t>既然 </a:t>
            </a:r>
            <a:r>
              <a:rPr kumimoji="1" lang="en-US" altLang="zh-CN" sz="2400" dirty="0"/>
              <a:t>HVF</a:t>
            </a:r>
            <a:r>
              <a:rPr kumimoji="1" lang="zh-CN" altLang="en-US" sz="2400" dirty="0"/>
              <a:t> 的原理是将指令直接把指令转发到 </a:t>
            </a:r>
            <a:r>
              <a:rPr lang="en" altLang="zh-CN" sz="2400" dirty="0"/>
              <a:t>Apple CPU</a:t>
            </a:r>
            <a:r>
              <a:rPr lang="zh-CN" altLang="en-US" sz="2400" dirty="0"/>
              <a:t>，</a:t>
            </a:r>
            <a:r>
              <a:rPr lang="zh-CN" altLang="en-US" sz="2400" b="1" dirty="0"/>
              <a:t>没有理由</a:t>
            </a:r>
            <a:r>
              <a:rPr lang="zh-CN" altLang="en-US" sz="2400" dirty="0"/>
              <a:t>无法修改</a:t>
            </a:r>
            <a:r>
              <a:rPr lang="en-US" altLang="zh-CN" sz="2400" dirty="0"/>
              <a:t> </a:t>
            </a:r>
            <a:r>
              <a:rPr lang="en" altLang="zh-CN" sz="2400" dirty="0">
                <a:solidFill>
                  <a:schemeClr val="tx1"/>
                </a:solidFill>
              </a:rPr>
              <a:t>CNTP_CTL_EL0</a:t>
            </a:r>
            <a:endParaRPr kumimoji="1"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43F50D-C118-01BC-A9E8-0D212D416188}"/>
              </a:ext>
            </a:extLst>
          </p:cNvPr>
          <p:cNvSpPr txBox="1"/>
          <p:nvPr/>
        </p:nvSpPr>
        <p:spPr>
          <a:xfrm>
            <a:off x="2563585" y="5442224"/>
            <a:ext cx="163449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深挖报错信息：</a:t>
            </a:r>
            <a:endParaRPr kumimoji="1" lang="en-US" altLang="zh-CN" sz="2400" dirty="0"/>
          </a:p>
          <a:p>
            <a:r>
              <a:rPr kumimoji="1" lang="en-US" altLang="zh-CN" sz="2400" dirty="0"/>
              <a:t>	</a:t>
            </a:r>
            <a:r>
              <a:rPr lang="en" altLang="zh-CN" sz="2400" dirty="0"/>
              <a:t>Unhandled synchronous exception Some(</a:t>
            </a:r>
            <a:r>
              <a:rPr lang="en" altLang="zh-CN" sz="2400" b="1" dirty="0"/>
              <a:t>Unknown</a:t>
            </a:r>
            <a:r>
              <a:rPr lang="en" altLang="zh-CN" sz="2400" dirty="0"/>
              <a:t>) @ </a:t>
            </a:r>
            <a:r>
              <a:rPr lang="en" altLang="zh-CN" sz="2400" b="1" dirty="0"/>
              <a:t>0xffff00004025e830</a:t>
            </a:r>
            <a:r>
              <a:rPr lang="en" altLang="zh-CN" sz="2400" dirty="0"/>
              <a:t>:</a:t>
            </a:r>
          </a:p>
          <a:p>
            <a:r>
              <a:rPr lang="en" altLang="zh-CN" sz="2400" dirty="0"/>
              <a:t>	ESR=0x2000000 (EC 0b000000, FAR: VA:0x0 ISS 0x0)</a:t>
            </a:r>
          </a:p>
          <a:p>
            <a:r>
              <a:rPr lang="en" altLang="zh-CN" sz="2400" dirty="0"/>
              <a:t>	</a:t>
            </a:r>
          </a:p>
          <a:p>
            <a:r>
              <a:rPr kumimoji="1" lang="en-US" altLang="zh-CN" sz="2400" dirty="0"/>
              <a:t>	ESR</a:t>
            </a:r>
            <a:r>
              <a:rPr kumimoji="1" lang="zh-CN" altLang="en-US" sz="2400" dirty="0"/>
              <a:t>：</a:t>
            </a:r>
            <a:r>
              <a:rPr lang="en" altLang="zh-CN" sz="2400" dirty="0"/>
              <a:t>Exception Syndrome Register</a:t>
            </a:r>
            <a:r>
              <a:rPr lang="zh-CN" altLang="en-US" sz="2400" dirty="0"/>
              <a:t>（异常原因寄存器）并未给出有效信息</a:t>
            </a:r>
            <a:endParaRPr lang="en-US" altLang="zh-CN" sz="2400" dirty="0"/>
          </a:p>
          <a:p>
            <a:r>
              <a:rPr kumimoji="1" lang="en-US" altLang="zh-CN" sz="2400" dirty="0"/>
              <a:t>		</a:t>
            </a:r>
            <a:r>
              <a:rPr kumimoji="1" lang="en-US" altLang="zh-CN" sz="2400" b="1" dirty="0"/>
              <a:t>ESR[31:26] = EC</a:t>
            </a:r>
            <a:r>
              <a:rPr kumimoji="1" lang="en" altLang="zh-CN" sz="2400" b="1" dirty="0"/>
              <a:t>: Exception Class </a:t>
            </a:r>
            <a:r>
              <a:rPr kumimoji="1" lang="zh-CN" altLang="en-US" sz="2400" b="1" dirty="0"/>
              <a:t>（异常类别）</a:t>
            </a:r>
            <a:endParaRPr kumimoji="1" lang="en-US" altLang="zh-CN" sz="2400" b="1" dirty="0"/>
          </a:p>
          <a:p>
            <a:pPr lvl="1"/>
            <a:r>
              <a:rPr kumimoji="1" lang="en-US" altLang="zh-CN" sz="2400" dirty="0"/>
              <a:t>		ESR[25]    = IL: Instruct Length</a:t>
            </a:r>
            <a:r>
              <a:rPr kumimoji="1" lang="zh-CN" altLang="en-US" sz="2400" dirty="0"/>
              <a:t> （指令长度）</a:t>
            </a:r>
            <a:endParaRPr kumimoji="1" lang="en-US" altLang="zh-CN" sz="2400" dirty="0"/>
          </a:p>
          <a:p>
            <a:pPr lvl="1"/>
            <a:r>
              <a:rPr kumimoji="1" lang="en-US" altLang="zh-CN" sz="2400" dirty="0"/>
              <a:t>		ESR[24:0]  = ISS: </a:t>
            </a:r>
            <a:r>
              <a:rPr lang="en" altLang="zh-CN" sz="2400" dirty="0"/>
              <a:t>Instruction Specific Syndrome</a:t>
            </a:r>
            <a:r>
              <a:rPr lang="zh-CN" altLang="en-US" sz="2400" dirty="0"/>
              <a:t>（指令相关异常细节）</a:t>
            </a:r>
            <a:endParaRPr lang="en-US" altLang="zh-CN" sz="2400" dirty="0"/>
          </a:p>
          <a:p>
            <a:pPr lvl="1"/>
            <a:r>
              <a:rPr kumimoji="1" lang="en-US" altLang="zh-CN" sz="2400" dirty="0"/>
              <a:t>	</a:t>
            </a:r>
            <a:r>
              <a:rPr kumimoji="1" lang="en-US" altLang="zh-CN" sz="2400" b="1" dirty="0"/>
              <a:t>EC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= 0b000000</a:t>
            </a:r>
            <a:r>
              <a:rPr kumimoji="1" lang="en-US" altLang="zh-CN" sz="2400" dirty="0"/>
              <a:t> </a:t>
            </a:r>
            <a:r>
              <a:rPr kumimoji="1" lang="zh-CN" altLang="en-US" sz="2400" dirty="0"/>
              <a:t>指向</a:t>
            </a:r>
            <a:r>
              <a:rPr kumimoji="1" lang="en-US" altLang="zh-CN" sz="2400" dirty="0"/>
              <a:t> </a:t>
            </a:r>
            <a:r>
              <a:rPr lang="en" altLang="zh-CN" sz="2400" b="1" dirty="0"/>
              <a:t>Undefined instruction</a:t>
            </a:r>
            <a:r>
              <a:rPr kumimoji="1" lang="zh-CN" altLang="en-US" sz="2400" dirty="0"/>
              <a:t> 类别，而非 </a:t>
            </a:r>
            <a:r>
              <a:rPr lang="en" altLang="zh-CN" sz="2400" b="1" dirty="0"/>
              <a:t>EC = 0x18 (</a:t>
            </a:r>
            <a:r>
              <a:rPr lang="en" altLang="zh-CN" sz="2400" b="1" dirty="0" err="1"/>
              <a:t>sysreg</a:t>
            </a:r>
            <a:r>
              <a:rPr lang="en" altLang="zh-CN" sz="2400" b="1" dirty="0"/>
              <a:t> trap)</a:t>
            </a:r>
          </a:p>
          <a:p>
            <a:pPr lvl="1"/>
            <a:endParaRPr lang="en" altLang="zh-CN" sz="2400" dirty="0"/>
          </a:p>
          <a:p>
            <a:pPr lvl="1"/>
            <a:endParaRPr kumimoji="1" lang="en-US" altLang="zh-CN" sz="6000" dirty="0"/>
          </a:p>
          <a:p>
            <a:pPr algn="l"/>
            <a:endParaRPr kumimoji="1" lang="zh-CN" alt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AD9"/>
        </a:solidFill>
        <a:effectLst/>
      </p:bgPr>
    </p:bg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38917" y="-4191905"/>
            <a:ext cx="29679900" cy="297089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6">
            <a:extLst>
              <a:ext uri="{FF2B5EF4-FFF2-40B4-BE49-F238E27FC236}">
                <a16:creationId xmlns:a16="http://schemas.microsoft.com/office/drawing/2014/main" id="{70CB3CB6-9301-C7D6-8904-DFCEF4B02116}"/>
              </a:ext>
            </a:extLst>
          </p:cNvPr>
          <p:cNvSpPr txBox="1"/>
          <p:nvPr/>
        </p:nvSpPr>
        <p:spPr>
          <a:xfrm>
            <a:off x="1877785" y="692254"/>
            <a:ext cx="14532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kumimoji="1" lang="zh-CN" altLang="en-US" sz="2400" dirty="0"/>
              <a:t>进一步编写小测例：</a:t>
            </a:r>
            <a:endParaRPr kumimoji="1" lang="en-US" altLang="zh-CN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BACEBA-65E1-2FF6-83CC-6A6552F1347F}"/>
              </a:ext>
            </a:extLst>
          </p:cNvPr>
          <p:cNvSpPr txBox="1"/>
          <p:nvPr/>
        </p:nvSpPr>
        <p:spPr>
          <a:xfrm>
            <a:off x="1975757" y="1289957"/>
            <a:ext cx="151855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b="1" dirty="0"/>
              <a:t>①</a:t>
            </a:r>
            <a:r>
              <a:rPr lang="zh-CN" altLang="en-US" sz="2400" b="1" dirty="0"/>
              <a:t> 裸 </a:t>
            </a:r>
            <a:r>
              <a:rPr lang="en" altLang="zh-CN" sz="2400" b="1" dirty="0"/>
              <a:t>HVF VM</a:t>
            </a:r>
            <a:r>
              <a:rPr lang="zh-CN" altLang="en" sz="2400" b="1" dirty="0"/>
              <a:t>，</a:t>
            </a:r>
            <a:r>
              <a:rPr lang="zh-CN" altLang="en-US" sz="2400" b="1" dirty="0"/>
              <a:t>不创建 </a:t>
            </a:r>
            <a:r>
              <a:rPr lang="en" altLang="zh-CN" sz="2400" b="1" dirty="0"/>
              <a:t>HVF GIC</a:t>
            </a:r>
            <a:br>
              <a:rPr lang="en" altLang="zh-CN" sz="2400" dirty="0"/>
            </a:br>
            <a:r>
              <a:rPr lang="en" altLang="zh-CN" sz="2400" dirty="0"/>
              <a:t>	</a:t>
            </a:r>
            <a:r>
              <a:rPr lang="zh-CN" altLang="en-US" sz="2400" dirty="0"/>
              <a:t>    结果</a:t>
            </a:r>
            <a:r>
              <a:rPr lang="en-US" altLang="zh-CN" sz="2400" dirty="0"/>
              <a:t>: </a:t>
            </a:r>
            <a:r>
              <a:rPr lang="en" altLang="zh-CN" sz="2400" dirty="0"/>
              <a:t>CNTP_* </a:t>
            </a:r>
            <a:r>
              <a:rPr lang="zh-CN" altLang="en-US" sz="2400" dirty="0"/>
              <a:t>不能正常访问，会 </a:t>
            </a:r>
            <a:r>
              <a:rPr lang="en" altLang="zh-CN" sz="2400" dirty="0"/>
              <a:t>trap</a:t>
            </a:r>
            <a:r>
              <a:rPr lang="zh-CN" altLang="en" sz="2400" dirty="0"/>
              <a:t>：</a:t>
            </a:r>
            <a:endParaRPr lang="en-US" altLang="zh-CN" sz="2400" dirty="0"/>
          </a:p>
          <a:p>
            <a:r>
              <a:rPr lang="en" altLang="zh-CN" sz="2400" dirty="0"/>
              <a:t>		</a:t>
            </a:r>
            <a:r>
              <a:rPr lang="zh-CN" altLang="en-US" sz="2400" dirty="0"/>
              <a:t>   </a:t>
            </a:r>
            <a:r>
              <a:rPr lang="en" altLang="zh-CN" sz="2400" dirty="0" err="1"/>
              <a:t>mrs</a:t>
            </a:r>
            <a:r>
              <a:rPr lang="en" altLang="zh-CN" sz="2400" dirty="0"/>
              <a:t> CNTP_CTL_EL0        </a:t>
            </a:r>
          </a:p>
          <a:p>
            <a:r>
              <a:rPr lang="en" altLang="zh-CN" sz="2400" dirty="0"/>
              <a:t>    </a:t>
            </a:r>
            <a:r>
              <a:rPr lang="zh-CN" altLang="en-US" sz="2400" dirty="0"/>
              <a:t>                     </a:t>
            </a:r>
            <a:r>
              <a:rPr lang="en" altLang="zh-CN" sz="2400" dirty="0"/>
              <a:t>host-</a:t>
            </a:r>
            <a:r>
              <a:rPr lang="en" altLang="zh-CN" sz="2400" dirty="0" err="1"/>
              <a:t>api</a:t>
            </a:r>
            <a:r>
              <a:rPr lang="en" altLang="zh-CN" sz="2400" dirty="0"/>
              <a:t> get failed ret=0xfae9400f ((null))</a:t>
            </a:r>
          </a:p>
          <a:p>
            <a:r>
              <a:rPr lang="en" altLang="zh-CN" sz="2400" dirty="0"/>
              <a:t>    </a:t>
            </a:r>
            <a:r>
              <a:rPr lang="zh-CN" altLang="en-US" sz="2400" dirty="0"/>
              <a:t>                     </a:t>
            </a:r>
            <a:r>
              <a:rPr lang="en" altLang="zh-CN" sz="2400" dirty="0"/>
              <a:t>guest    TRAP(test instruction) exit=EXCEPTION pc=0x40000000 x0=0 </a:t>
            </a:r>
            <a:r>
              <a:rPr lang="zh-CN" altLang="en-US" sz="2400" dirty="0"/>
              <a:t>             </a:t>
            </a:r>
            <a:r>
              <a:rPr lang="en-US" altLang="zh-CN" sz="2400" dirty="0"/>
              <a:t>			</a:t>
            </a:r>
            <a:r>
              <a:rPr lang="zh-CN" altLang="en-US" sz="2400" dirty="0"/>
              <a:t>   </a:t>
            </a:r>
            <a:r>
              <a:rPr lang="en-US" altLang="zh-CN" sz="2400" dirty="0"/>
              <a:t>	</a:t>
            </a:r>
            <a:r>
              <a:rPr lang="zh-CN" altLang="en-US" sz="2400" dirty="0"/>
              <a:t>   </a:t>
            </a:r>
            <a:r>
              <a:rPr lang="en" altLang="zh-CN" sz="2400" dirty="0" err="1"/>
              <a:t>esr</a:t>
            </a:r>
            <a:r>
              <a:rPr lang="en" altLang="zh-CN" sz="2400" dirty="0"/>
              <a:t>=0x6232f805 </a:t>
            </a:r>
            <a:r>
              <a:rPr lang="en" altLang="zh-CN" sz="2400" b="1" dirty="0" err="1"/>
              <a:t>ec</a:t>
            </a:r>
            <a:r>
              <a:rPr lang="en" altLang="zh-CN" sz="2400" b="1" dirty="0"/>
              <a:t>=0x18</a:t>
            </a:r>
            <a:r>
              <a:rPr lang="en" altLang="zh-CN" sz="2400" dirty="0"/>
              <a:t>(Trapped MSR/MRS/system instruction) far=0 </a:t>
            </a:r>
            <a:r>
              <a:rPr lang="en" altLang="zh-CN" sz="2400" dirty="0" err="1"/>
              <a:t>ipa</a:t>
            </a:r>
            <a:r>
              <a:rPr lang="en" altLang="zh-CN" sz="2400" dirty="0"/>
              <a:t>=0</a:t>
            </a:r>
          </a:p>
          <a:p>
            <a:pPr algn="l"/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1A6A3F-1F3C-B2A4-DDD5-BC8473FE7658}"/>
              </a:ext>
            </a:extLst>
          </p:cNvPr>
          <p:cNvSpPr txBox="1"/>
          <p:nvPr/>
        </p:nvSpPr>
        <p:spPr>
          <a:xfrm>
            <a:off x="1975757" y="4103651"/>
            <a:ext cx="151855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b="1" dirty="0"/>
              <a:t>②</a:t>
            </a:r>
            <a:r>
              <a:rPr lang="zh-CN" altLang="en-US" sz="2400" b="1" dirty="0"/>
              <a:t> </a:t>
            </a:r>
            <a:r>
              <a:rPr lang="en" altLang="zh-CN" sz="2400" b="1" dirty="0"/>
              <a:t>HVF VM + </a:t>
            </a:r>
            <a:r>
              <a:rPr lang="en" altLang="zh-CN" sz="2400" b="1" dirty="0" err="1"/>
              <a:t>hv_gic_create</a:t>
            </a:r>
            <a:r>
              <a:rPr lang="en" altLang="zh-CN" sz="2400" b="1" dirty="0"/>
              <a:t>()</a:t>
            </a:r>
            <a:r>
              <a:rPr lang="zh-CN" altLang="en" sz="2400" b="1" dirty="0"/>
              <a:t>，</a:t>
            </a:r>
            <a:r>
              <a:rPr lang="en" altLang="zh-CN" sz="2400" b="1" dirty="0"/>
              <a:t>EL1</a:t>
            </a:r>
            <a:br>
              <a:rPr lang="en" altLang="zh-CN" sz="2400" dirty="0"/>
            </a:br>
            <a:r>
              <a:rPr lang="en" altLang="zh-CN" sz="2400" dirty="0"/>
              <a:t>	</a:t>
            </a:r>
            <a:r>
              <a:rPr lang="zh-CN" altLang="en-US" sz="2400" dirty="0"/>
              <a:t>    结果</a:t>
            </a:r>
            <a:r>
              <a:rPr lang="en-US" altLang="zh-CN" sz="2400" dirty="0"/>
              <a:t>: </a:t>
            </a:r>
            <a:r>
              <a:rPr lang="en" altLang="zh-CN" sz="2400" dirty="0"/>
              <a:t>CNTP_* </a:t>
            </a:r>
            <a:r>
              <a:rPr lang="zh-CN" altLang="en-US" sz="2400" dirty="0"/>
              <a:t>可以正常访问</a:t>
            </a:r>
            <a:r>
              <a:rPr lang="zh-CN" altLang="en" sz="2400" dirty="0"/>
              <a:t>：</a:t>
            </a:r>
            <a:endParaRPr lang="en-US" altLang="zh-CN" sz="2400" dirty="0"/>
          </a:p>
          <a:p>
            <a:r>
              <a:rPr lang="en" altLang="zh-CN" sz="2400" dirty="0"/>
              <a:t>		</a:t>
            </a:r>
            <a:r>
              <a:rPr lang="en" altLang="zh-CN" sz="2400" dirty="0" err="1"/>
              <a:t>mrs</a:t>
            </a:r>
            <a:r>
              <a:rPr lang="en" altLang="zh-CN" sz="2400" dirty="0"/>
              <a:t> CNTP_CTL_EL0        </a:t>
            </a:r>
          </a:p>
          <a:p>
            <a:r>
              <a:rPr lang="en" altLang="zh-CN" sz="2400" dirty="0"/>
              <a:t>    		host-</a:t>
            </a:r>
            <a:r>
              <a:rPr lang="en" altLang="zh-CN" sz="2400" dirty="0" err="1"/>
              <a:t>api</a:t>
            </a:r>
            <a:r>
              <a:rPr lang="en" altLang="zh-CN" sz="2400" dirty="0"/>
              <a:t> get ok value=0x4</a:t>
            </a:r>
          </a:p>
          <a:p>
            <a:r>
              <a:rPr lang="en" altLang="zh-CN" sz="2400" dirty="0"/>
              <a:t>    		guest    </a:t>
            </a:r>
            <a:r>
              <a:rPr lang="en" altLang="zh-CN" sz="2400" b="1" dirty="0"/>
              <a:t>OK(reached BRK; empty vector fault) </a:t>
            </a:r>
            <a:r>
              <a:rPr lang="en" altLang="zh-CN" sz="2400" dirty="0"/>
              <a:t>exit=EXCEPTION pc=0x200 x0=0x4 				</a:t>
            </a:r>
            <a:r>
              <a:rPr lang="en" altLang="zh-CN" sz="2400" dirty="0" err="1"/>
              <a:t>esr</a:t>
            </a:r>
            <a:r>
              <a:rPr lang="en" altLang="zh-CN" sz="2400" dirty="0"/>
              <a:t>=0x82000006 </a:t>
            </a:r>
            <a:r>
              <a:rPr lang="en" altLang="zh-CN" sz="2400" dirty="0" err="1"/>
              <a:t>ec</a:t>
            </a:r>
            <a:r>
              <a:rPr lang="en" altLang="zh-CN" sz="2400" dirty="0"/>
              <a:t>=0x20(other) far=0x200 </a:t>
            </a:r>
            <a:r>
              <a:rPr lang="en" altLang="zh-CN" sz="2400" dirty="0" err="1"/>
              <a:t>ipa</a:t>
            </a:r>
            <a:r>
              <a:rPr lang="en" altLang="zh-CN" sz="2400" dirty="0"/>
              <a:t>=0x200</a:t>
            </a:r>
          </a:p>
          <a:p>
            <a:pPr algn="l"/>
            <a:endParaRPr kumimoji="1"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F731CA-885C-0B98-D7F6-1246FD37DDB7}"/>
              </a:ext>
            </a:extLst>
          </p:cNvPr>
          <p:cNvSpPr txBox="1"/>
          <p:nvPr/>
        </p:nvSpPr>
        <p:spPr>
          <a:xfrm>
            <a:off x="1975756" y="6917090"/>
            <a:ext cx="163122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b="1" dirty="0"/>
              <a:t>③</a:t>
            </a:r>
            <a:r>
              <a:rPr lang="zh-CN" altLang="en-US" sz="2400" b="1" dirty="0"/>
              <a:t> </a:t>
            </a:r>
            <a:r>
              <a:rPr lang="en" altLang="zh-CN" sz="2400" b="1" dirty="0"/>
              <a:t>HVF VM + </a:t>
            </a:r>
            <a:r>
              <a:rPr lang="en" altLang="zh-CN" sz="2400" b="1" dirty="0" err="1"/>
              <a:t>hv_gic_create</a:t>
            </a:r>
            <a:r>
              <a:rPr lang="en" altLang="zh-CN" sz="2400" b="1" dirty="0"/>
              <a:t>()</a:t>
            </a:r>
            <a:r>
              <a:rPr lang="zh-CN" altLang="en" sz="2400" b="1" dirty="0"/>
              <a:t>，</a:t>
            </a:r>
            <a:r>
              <a:rPr lang="en" altLang="zh-CN" sz="2400" b="1" dirty="0"/>
              <a:t>EL2</a:t>
            </a:r>
            <a:br>
              <a:rPr lang="en" altLang="zh-CN" sz="2400" dirty="0"/>
            </a:br>
            <a:r>
              <a:rPr lang="en" altLang="zh-CN" sz="2400" dirty="0"/>
              <a:t>	</a:t>
            </a:r>
            <a:r>
              <a:rPr lang="zh-CN" altLang="en-US" sz="2400" dirty="0"/>
              <a:t>    结果</a:t>
            </a:r>
            <a:r>
              <a:rPr lang="en-US" altLang="zh-CN" sz="2400" dirty="0"/>
              <a:t>: </a:t>
            </a:r>
            <a:r>
              <a:rPr lang="en" altLang="zh-CN" sz="2400" dirty="0"/>
              <a:t>CNTHP_* </a:t>
            </a:r>
            <a:r>
              <a:rPr lang="zh-CN" altLang="en-US" sz="2400" dirty="0"/>
              <a:t>也可以正常访问：</a:t>
            </a:r>
            <a:r>
              <a:rPr lang="en" altLang="zh-CN" sz="2400" dirty="0"/>
              <a:t>		</a:t>
            </a:r>
            <a:r>
              <a:rPr lang="zh-CN" altLang="en-US" sz="2400" dirty="0"/>
              <a:t>   </a:t>
            </a:r>
            <a:endParaRPr lang="en-US" altLang="zh-CN" sz="2400" dirty="0"/>
          </a:p>
          <a:p>
            <a:pPr lvl="1"/>
            <a:r>
              <a:rPr lang="en-US" altLang="zh-CN" sz="2400" dirty="0"/>
              <a:t>		</a:t>
            </a:r>
          </a:p>
          <a:p>
            <a:pPr lvl="2"/>
            <a:r>
              <a:rPr lang="en-US" altLang="zh-CN" sz="2400" dirty="0"/>
              <a:t>		</a:t>
            </a:r>
            <a:r>
              <a:rPr lang="en" altLang="zh-CN" sz="2400" dirty="0" err="1"/>
              <a:t>mrs</a:t>
            </a:r>
            <a:r>
              <a:rPr lang="en" altLang="zh-CN" sz="2400" dirty="0"/>
              <a:t> CNTHP_CTL_EL2       </a:t>
            </a:r>
          </a:p>
          <a:p>
            <a:pPr lvl="1"/>
            <a:r>
              <a:rPr lang="en" altLang="zh-CN" sz="2400" dirty="0"/>
              <a:t>    		host-</a:t>
            </a:r>
            <a:r>
              <a:rPr lang="en" altLang="zh-CN" sz="2400" dirty="0" err="1"/>
              <a:t>api</a:t>
            </a:r>
            <a:r>
              <a:rPr lang="en" altLang="zh-CN" sz="2400" dirty="0"/>
              <a:t> get ok value=0x4</a:t>
            </a:r>
          </a:p>
          <a:p>
            <a:pPr lvl="1"/>
            <a:r>
              <a:rPr lang="en" altLang="zh-CN" sz="2400" dirty="0"/>
              <a:t>    		guest    </a:t>
            </a:r>
            <a:r>
              <a:rPr lang="en" altLang="zh-CN" sz="2400" b="1" dirty="0"/>
              <a:t>OK(reached BRK; empty vector fault) </a:t>
            </a:r>
            <a:r>
              <a:rPr lang="en" altLang="zh-CN" sz="2400" dirty="0"/>
              <a:t>exit=EXCEPTION pc=0x200 x0=0x4 </a:t>
            </a:r>
          </a:p>
          <a:p>
            <a:pPr lvl="1"/>
            <a:r>
              <a:rPr lang="en" altLang="zh-CN" sz="2400" dirty="0"/>
              <a:t>		</a:t>
            </a:r>
            <a:r>
              <a:rPr lang="en" altLang="zh-CN" sz="2400" dirty="0" err="1"/>
              <a:t>esr</a:t>
            </a:r>
            <a:r>
              <a:rPr lang="en" altLang="zh-CN" sz="2400" dirty="0"/>
              <a:t>=0x82000006 </a:t>
            </a:r>
            <a:r>
              <a:rPr lang="en" altLang="zh-CN" sz="2400" dirty="0" err="1"/>
              <a:t>ec</a:t>
            </a:r>
            <a:r>
              <a:rPr lang="en" altLang="zh-CN" sz="2400" dirty="0"/>
              <a:t>=0x20(other) far=0x200 </a:t>
            </a:r>
            <a:r>
              <a:rPr lang="en" altLang="zh-CN" sz="2400" dirty="0" err="1"/>
              <a:t>ipa</a:t>
            </a:r>
            <a:r>
              <a:rPr lang="en" altLang="zh-CN" sz="2400" dirty="0"/>
              <a:t>=0x200</a:t>
            </a:r>
          </a:p>
          <a:p>
            <a:pPr algn="l"/>
            <a:endParaRPr kumimoji="1" lang="zh-CN" alt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A4810035-41F3-CD68-57E7-6D369822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29">
            <a:extLst>
              <a:ext uri="{FF2B5EF4-FFF2-40B4-BE49-F238E27FC236}">
                <a16:creationId xmlns:a16="http://schemas.microsoft.com/office/drawing/2014/main" id="{D257BD2C-7548-CE11-8D7C-C142FEC8722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455145" y="-10582794"/>
            <a:ext cx="29679900" cy="297089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6B9E2FB-7AF7-39B3-8431-B8C6EF643A67}"/>
              </a:ext>
            </a:extLst>
          </p:cNvPr>
          <p:cNvSpPr txBox="1"/>
          <p:nvPr/>
        </p:nvSpPr>
        <p:spPr>
          <a:xfrm>
            <a:off x="1861457" y="810869"/>
            <a:ext cx="13471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结合之前的怀疑：</a:t>
            </a:r>
            <a:r>
              <a:rPr kumimoji="1" lang="en-US" altLang="zh-CN" sz="2400" b="1" dirty="0"/>
              <a:t>HVF</a:t>
            </a:r>
            <a:r>
              <a:rPr kumimoji="1" lang="zh-CN" altLang="en-US" sz="2400" b="1" dirty="0"/>
              <a:t> 真的有能力隐藏 </a:t>
            </a:r>
            <a:r>
              <a:rPr kumimoji="1" lang="en-US" altLang="zh-CN" sz="2400" b="1" dirty="0"/>
              <a:t>CNTP</a:t>
            </a:r>
            <a:r>
              <a:rPr kumimoji="1" lang="zh-CN" altLang="en-US" sz="2400" b="1" dirty="0"/>
              <a:t> 系列寄存器吗？</a:t>
            </a:r>
            <a:endParaRPr kumimoji="1" lang="en-US" altLang="zh-CN" sz="2400" b="1" dirty="0"/>
          </a:p>
          <a:p>
            <a:pPr algn="l"/>
            <a:r>
              <a:rPr kumimoji="1" lang="zh-CN" altLang="en-US" sz="2400" dirty="0"/>
              <a:t>进一步查阅资料，因此对之前的</a:t>
            </a:r>
            <a:r>
              <a:rPr kumimoji="1" lang="en-US" altLang="zh-CN" sz="2400" dirty="0"/>
              <a:t> HVF</a:t>
            </a:r>
            <a:r>
              <a:rPr kumimoji="1" lang="zh-CN" altLang="en-US" sz="2400" dirty="0"/>
              <a:t> 的理解进行修正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4DA0E7-C864-A7D4-D7D6-F7E357D5A8E8}"/>
              </a:ext>
            </a:extLst>
          </p:cNvPr>
          <p:cNvSpPr txBox="1"/>
          <p:nvPr/>
        </p:nvSpPr>
        <p:spPr>
          <a:xfrm>
            <a:off x="1861457" y="2075698"/>
            <a:ext cx="1564277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HVF</a:t>
            </a:r>
            <a:r>
              <a:rPr kumimoji="1" lang="zh-CN" altLang="en-US" sz="2800" dirty="0"/>
              <a:t> 的思想：将</a:t>
            </a:r>
            <a:r>
              <a:rPr lang="en" altLang="zh-CN" sz="2800" dirty="0"/>
              <a:t>guest vCPU</a:t>
            </a:r>
            <a:r>
              <a:rPr lang="zh-CN" altLang="en" sz="2800" dirty="0"/>
              <a:t>的</a:t>
            </a:r>
            <a:r>
              <a:rPr lang="zh-CN" altLang="en-US" sz="2800" dirty="0"/>
              <a:t>指令</a:t>
            </a:r>
            <a:r>
              <a:rPr lang="en" altLang="zh-CN" sz="2800" dirty="0"/>
              <a:t> </a:t>
            </a:r>
            <a:r>
              <a:rPr lang="zh-CN" altLang="en-US" sz="2800" dirty="0"/>
              <a:t>直接转发到 </a:t>
            </a:r>
            <a:r>
              <a:rPr lang="en" altLang="zh-CN" sz="2800" dirty="0"/>
              <a:t>Apple CPU </a:t>
            </a:r>
            <a:r>
              <a:rPr lang="zh-CN" altLang="en-US" sz="2800" dirty="0"/>
              <a:t>上执行。   </a:t>
            </a:r>
            <a:r>
              <a:rPr lang="en-US" altLang="zh-CN" sz="2800" dirty="0"/>
              <a:t>	</a:t>
            </a:r>
            <a:r>
              <a:rPr lang="zh-CN" altLang="en-US" sz="2800" dirty="0"/>
              <a:t>             </a:t>
            </a:r>
            <a:r>
              <a:rPr lang="en-US" altLang="zh-CN" sz="2800" dirty="0"/>
              <a:t>❌</a:t>
            </a:r>
          </a:p>
          <a:p>
            <a:endParaRPr lang="en-US" altLang="zh-CN" sz="2800" dirty="0"/>
          </a:p>
          <a:p>
            <a:endParaRPr kumimoji="1" lang="zh-CN" altLang="en-US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F26DB1-9406-F2C8-0A53-F71A5E07A871}"/>
              </a:ext>
            </a:extLst>
          </p:cNvPr>
          <p:cNvSpPr txBox="1"/>
          <p:nvPr/>
        </p:nvSpPr>
        <p:spPr>
          <a:xfrm>
            <a:off x="1861457" y="2775818"/>
            <a:ext cx="1564277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800" dirty="0"/>
              <a:t>HVF </a:t>
            </a:r>
            <a:r>
              <a:rPr lang="zh-CN" altLang="en" sz="2800" dirty="0"/>
              <a:t>的</a:t>
            </a:r>
            <a:r>
              <a:rPr lang="zh-CN" altLang="en-US" sz="2800" dirty="0"/>
              <a:t>思想：</a:t>
            </a:r>
            <a:r>
              <a:rPr lang="en" altLang="zh-CN" sz="2800" dirty="0"/>
              <a:t>HVF </a:t>
            </a:r>
            <a:r>
              <a:rPr lang="zh-CN" altLang="en-US" sz="2800" dirty="0"/>
              <a:t>利用 </a:t>
            </a:r>
            <a:r>
              <a:rPr lang="en" altLang="zh-CN" sz="2800" dirty="0"/>
              <a:t>ARM </a:t>
            </a:r>
            <a:r>
              <a:rPr lang="zh-CN" altLang="en-US" sz="2800" dirty="0"/>
              <a:t>硬件虚拟化能力，使 </a:t>
            </a:r>
            <a:r>
              <a:rPr lang="en" altLang="zh-CN" sz="2800" dirty="0"/>
              <a:t>guest vCPU </a:t>
            </a:r>
            <a:r>
              <a:rPr lang="zh-CN" altLang="en-US" sz="2800" dirty="0"/>
              <a:t>指令在 </a:t>
            </a:r>
            <a:r>
              <a:rPr lang="en" altLang="zh-CN" sz="2800" dirty="0"/>
              <a:t>CPU </a:t>
            </a:r>
            <a:r>
              <a:rPr lang="zh-CN" altLang="en-US" sz="2800" dirty="0"/>
              <a:t>上原生执行，普通指令无需干预，而特权指令会触发 </a:t>
            </a:r>
            <a:r>
              <a:rPr lang="en" altLang="zh-CN" sz="2800" dirty="0"/>
              <a:t>trap </a:t>
            </a:r>
            <a:r>
              <a:rPr lang="zh-CN" altLang="en-US" sz="2800" dirty="0"/>
              <a:t>进入 </a:t>
            </a:r>
            <a:r>
              <a:rPr lang="en" altLang="zh-CN" sz="2800" dirty="0"/>
              <a:t>HVF</a:t>
            </a:r>
            <a:r>
              <a:rPr lang="zh-CN" altLang="en" sz="2800" dirty="0"/>
              <a:t>，</a:t>
            </a:r>
            <a:r>
              <a:rPr lang="zh-CN" altLang="en-US" sz="2800" dirty="0"/>
              <a:t>由 </a:t>
            </a:r>
            <a:r>
              <a:rPr lang="en" altLang="zh-CN" sz="2800" dirty="0"/>
              <a:t>QEMU </a:t>
            </a:r>
            <a:r>
              <a:rPr lang="zh-CN" altLang="en-US" sz="2800" dirty="0"/>
              <a:t>或 </a:t>
            </a:r>
            <a:r>
              <a:rPr lang="en" altLang="zh-CN" sz="2800" dirty="0"/>
              <a:t>hypervisor </a:t>
            </a:r>
            <a:r>
              <a:rPr lang="zh-CN" altLang="en-US" sz="2800" dirty="0"/>
              <a:t>处理。       </a:t>
            </a:r>
            <a:r>
              <a:rPr kumimoji="1" lang="en-US" altLang="zh-CN" sz="2800" dirty="0"/>
              <a:t>✅</a:t>
            </a:r>
            <a:endParaRPr kumimoji="1" lang="zh-CN" altLang="en-US" sz="2800" dirty="0"/>
          </a:p>
          <a:p>
            <a:endParaRPr lang="en-US" altLang="zh-CN" sz="2800" dirty="0"/>
          </a:p>
          <a:p>
            <a:endParaRPr kumimoji="1" lang="zh-CN" altLang="en-US" sz="1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D10A09-9299-C0B6-94D7-70072C17DB16}"/>
              </a:ext>
            </a:extLst>
          </p:cNvPr>
          <p:cNvSpPr txBox="1"/>
          <p:nvPr/>
        </p:nvSpPr>
        <p:spPr>
          <a:xfrm>
            <a:off x="1861457" y="4271667"/>
            <a:ext cx="15822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结论：</a:t>
            </a:r>
            <a:r>
              <a:rPr lang="zh-CN" altLang="en-US" sz="2400" dirty="0"/>
              <a:t>结合测试结果分析，该异常并非 </a:t>
            </a:r>
            <a:r>
              <a:rPr lang="en-US" altLang="zh-CN" sz="2400" dirty="0"/>
              <a:t>HVF</a:t>
            </a:r>
            <a:r>
              <a:rPr lang="zh-CN" altLang="en-US" sz="2400" dirty="0"/>
              <a:t> 下 </a:t>
            </a:r>
            <a:r>
              <a:rPr lang="en" altLang="zh-CN" sz="2400" dirty="0"/>
              <a:t>CNTP</a:t>
            </a:r>
            <a:r>
              <a:rPr lang="en-US" altLang="zh-CN" sz="2400" dirty="0"/>
              <a:t>_*</a:t>
            </a:r>
            <a:r>
              <a:rPr lang="zh-CN" altLang="en-US" sz="2400" dirty="0"/>
              <a:t>系列寄存器不可</a:t>
            </a:r>
            <a:r>
              <a:rPr lang="zh-CN" altLang="en" sz="2400" dirty="0"/>
              <a:t>修改</a:t>
            </a:r>
            <a:r>
              <a:rPr lang="zh-CN" altLang="en-US" sz="2400" dirty="0"/>
              <a:t>导致，而是 </a:t>
            </a:r>
            <a:r>
              <a:rPr lang="en" altLang="zh-CN" sz="2400" b="1" dirty="0"/>
              <a:t>QEMU</a:t>
            </a:r>
            <a:r>
              <a:rPr lang="en" altLang="zh-CN" sz="2400" dirty="0"/>
              <a:t> </a:t>
            </a:r>
            <a:r>
              <a:rPr lang="zh-CN" altLang="en-US" sz="2400" dirty="0"/>
              <a:t>在 </a:t>
            </a:r>
            <a:r>
              <a:rPr lang="en" altLang="zh-CN" sz="2400" dirty="0"/>
              <a:t>HVF </a:t>
            </a:r>
            <a:r>
              <a:rPr lang="zh-CN" altLang="en-US" sz="2400" dirty="0"/>
              <a:t>加速路径下对 </a:t>
            </a:r>
            <a:r>
              <a:rPr lang="en" altLang="zh-CN" sz="2400" dirty="0"/>
              <a:t>system register access </a:t>
            </a:r>
            <a:r>
              <a:rPr lang="zh-CN" altLang="en-US" sz="2400" dirty="0"/>
              <a:t>的 </a:t>
            </a:r>
            <a:r>
              <a:rPr lang="en" altLang="zh-CN" sz="2400" b="1" dirty="0"/>
              <a:t>decode </a:t>
            </a:r>
            <a:r>
              <a:rPr lang="zh-CN" altLang="en-US" sz="2400" b="1" dirty="0"/>
              <a:t>不完整</a:t>
            </a:r>
            <a:r>
              <a:rPr lang="zh-CN" altLang="en-US" sz="2400" dirty="0"/>
              <a:t>，导致部分 </a:t>
            </a:r>
            <a:r>
              <a:rPr lang="en" altLang="zh-CN" sz="2400" dirty="0"/>
              <a:t>CNTP </a:t>
            </a:r>
            <a:r>
              <a:rPr lang="zh-CN" altLang="en-US" sz="2400" dirty="0"/>
              <a:t>系列寄存器</a:t>
            </a:r>
            <a:r>
              <a:rPr lang="zh-CN" altLang="en-US" sz="2400" b="1" dirty="0"/>
              <a:t>未被正确识别</a:t>
            </a:r>
            <a:r>
              <a:rPr lang="zh-CN" altLang="en-US" sz="2400" dirty="0"/>
              <a:t>为 </a:t>
            </a:r>
            <a:r>
              <a:rPr lang="en" altLang="zh-CN" sz="2400" dirty="0"/>
              <a:t>system register trap</a:t>
            </a:r>
            <a:r>
              <a:rPr lang="zh-CN" altLang="en" sz="2400" dirty="0"/>
              <a:t>，</a:t>
            </a:r>
            <a:r>
              <a:rPr lang="zh-CN" altLang="en-US" sz="2400" dirty="0"/>
              <a:t>从而</a:t>
            </a:r>
            <a:r>
              <a:rPr lang="zh-CN" altLang="en-US" sz="2400" b="1" dirty="0"/>
              <a:t>错误归类为 </a:t>
            </a:r>
            <a:r>
              <a:rPr lang="en" altLang="zh-CN" sz="2400" b="1" dirty="0"/>
              <a:t>Undefined Instruction Exception</a:t>
            </a:r>
            <a:r>
              <a:rPr lang="zh-CN" altLang="en" sz="2400" b="1" dirty="0"/>
              <a:t>（</a:t>
            </a:r>
            <a:r>
              <a:rPr lang="en" altLang="zh-CN" sz="2400" b="1" dirty="0"/>
              <a:t>EC=0</a:t>
            </a:r>
            <a:r>
              <a:rPr lang="zh-CN" altLang="en" sz="2400" b="1" dirty="0"/>
              <a:t>）</a:t>
            </a:r>
            <a:r>
              <a:rPr lang="zh-CN" altLang="en" sz="2400" dirty="0"/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17F506-6104-D52F-B1D2-C4FEC82770B9}"/>
              </a:ext>
            </a:extLst>
          </p:cNvPr>
          <p:cNvSpPr txBox="1"/>
          <p:nvPr/>
        </p:nvSpPr>
        <p:spPr>
          <a:xfrm>
            <a:off x="310242" y="6206026"/>
            <a:ext cx="4000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进一步验证：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A2674DA-984A-3A9E-BDEC-56FC9DCE0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568482"/>
              </p:ext>
            </p:extLst>
          </p:nvPr>
        </p:nvGraphicFramePr>
        <p:xfrm>
          <a:off x="2204356" y="6190866"/>
          <a:ext cx="14658974" cy="23679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778405">
                  <a:extLst>
                    <a:ext uri="{9D8B030D-6E8A-4147-A177-3AD203B41FA5}">
                      <a16:colId xmlns:a16="http://schemas.microsoft.com/office/drawing/2014/main" val="2917827659"/>
                    </a:ext>
                  </a:extLst>
                </a:gridCol>
                <a:gridCol w="1425792">
                  <a:extLst>
                    <a:ext uri="{9D8B030D-6E8A-4147-A177-3AD203B41FA5}">
                      <a16:colId xmlns:a16="http://schemas.microsoft.com/office/drawing/2014/main" val="273375444"/>
                    </a:ext>
                  </a:extLst>
                </a:gridCol>
                <a:gridCol w="5519058">
                  <a:extLst>
                    <a:ext uri="{9D8B030D-6E8A-4147-A177-3AD203B41FA5}">
                      <a16:colId xmlns:a16="http://schemas.microsoft.com/office/drawing/2014/main" val="4094319290"/>
                    </a:ext>
                  </a:extLst>
                </a:gridCol>
                <a:gridCol w="3935719">
                  <a:extLst>
                    <a:ext uri="{9D8B030D-6E8A-4147-A177-3AD203B41FA5}">
                      <a16:colId xmlns:a16="http://schemas.microsoft.com/office/drawing/2014/main" val="922347418"/>
                    </a:ext>
                  </a:extLst>
                </a:gridCol>
              </a:tblGrid>
              <a:tr h="4467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寄存器组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命令的含义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使用</a:t>
                      </a:r>
                      <a:r>
                        <a:rPr lang="en-US" altLang="zh-CN" sz="2400" dirty="0"/>
                        <a:t> CNTV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+</a:t>
                      </a:r>
                      <a:r>
                        <a:rPr lang="zh-CN" altLang="en-US" sz="2400" dirty="0"/>
                        <a:t> 打开</a:t>
                      </a:r>
                      <a:r>
                        <a:rPr lang="en-US" altLang="zh-CN" sz="2400" dirty="0"/>
                        <a:t> GICv3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43298"/>
                  </a:ext>
                </a:extLst>
              </a:tr>
              <a:tr h="527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 err="1">
                          <a:solidFill>
                            <a:schemeClr val="tx1"/>
                          </a:solidFill>
                          <a:effectLst/>
                        </a:rPr>
                        <a:t>mrs</a:t>
                      </a:r>
                      <a:r>
                        <a:rPr lang="en" sz="2400" dirty="0">
                          <a:solidFill>
                            <a:schemeClr val="tx1"/>
                          </a:solidFill>
                          <a:effectLst/>
                        </a:rPr>
                        <a:t> CNTP_TVAL_EL0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CNTP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读取 </a:t>
                      </a:r>
                      <a:r>
                        <a:rPr lang="en" sz="2400" dirty="0">
                          <a:effectLst/>
                        </a:rPr>
                        <a:t>physical timer </a:t>
                      </a:r>
                      <a:r>
                        <a:rPr lang="zh-CN" altLang="en-US" sz="2400" dirty="0">
                          <a:effectLst/>
                        </a:rPr>
                        <a:t>相对 </a:t>
                      </a:r>
                      <a:r>
                        <a:rPr lang="en" sz="2400" dirty="0">
                          <a:effectLst/>
                        </a:rPr>
                        <a:t>deadline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solidFill>
                            <a:schemeClr val="tx1"/>
                          </a:solidFill>
                          <a:effectLst/>
                        </a:rPr>
                        <a:t>TRAP，EC=0x00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88683917"/>
                  </a:ext>
                </a:extLst>
              </a:tr>
              <a:tr h="423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 err="1">
                          <a:solidFill>
                            <a:schemeClr val="tx1"/>
                          </a:solidFill>
                          <a:effectLst/>
                        </a:rPr>
                        <a:t>mrs</a:t>
                      </a:r>
                      <a:r>
                        <a:rPr lang="en" sz="2400" dirty="0">
                          <a:solidFill>
                            <a:schemeClr val="tx1"/>
                          </a:solidFill>
                          <a:effectLst/>
                        </a:rPr>
                        <a:t> CNTP_CVAL_EL0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CNTP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读取 </a:t>
                      </a:r>
                      <a:r>
                        <a:rPr lang="en" sz="2400" dirty="0">
                          <a:effectLst/>
                        </a:rPr>
                        <a:t>physical timer </a:t>
                      </a:r>
                      <a:r>
                        <a:rPr lang="zh-CN" altLang="en-US" sz="2400" dirty="0">
                          <a:effectLst/>
                        </a:rPr>
                        <a:t>绝对 </a:t>
                      </a:r>
                      <a:r>
                        <a:rPr lang="en" sz="2400" dirty="0">
                          <a:effectLst/>
                        </a:rPr>
                        <a:t>deadline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altLang="zh-CN" sz="2400" dirty="0">
                          <a:solidFill>
                            <a:schemeClr val="tx1"/>
                          </a:solidFill>
                          <a:effectLst/>
                        </a:rPr>
                        <a:t>TRAP，EC=0x00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989929178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 err="1">
                          <a:solidFill>
                            <a:schemeClr val="tx1"/>
                          </a:solidFill>
                          <a:effectLst/>
                        </a:rPr>
                        <a:t>msr</a:t>
                      </a:r>
                      <a:r>
                        <a:rPr lang="en" sz="2400" dirty="0">
                          <a:solidFill>
                            <a:schemeClr val="tx1"/>
                          </a:solidFill>
                          <a:effectLst/>
                        </a:rPr>
                        <a:t> CNTP_CTL_EL0,0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CNTP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关闭 </a:t>
                      </a:r>
                      <a:r>
                        <a:rPr lang="en" sz="2400" dirty="0">
                          <a:effectLst/>
                        </a:rPr>
                        <a:t>physical timer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solidFill>
                            <a:schemeClr val="tx1"/>
                          </a:solidFill>
                          <a:effectLst/>
                        </a:rPr>
                        <a:t>OK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839025470"/>
                  </a:ext>
                </a:extLst>
              </a:tr>
              <a:tr h="3241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 err="1">
                          <a:solidFill>
                            <a:schemeClr val="tx1"/>
                          </a:solidFill>
                          <a:effectLst/>
                        </a:rPr>
                        <a:t>msr</a:t>
                      </a:r>
                      <a:r>
                        <a:rPr lang="en" sz="2400" dirty="0">
                          <a:solidFill>
                            <a:schemeClr val="tx1"/>
                          </a:solidFill>
                          <a:effectLst/>
                        </a:rPr>
                        <a:t> CNTP_CTL_EL0,1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CNTP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启用 </a:t>
                      </a:r>
                      <a:r>
                        <a:rPr lang="en" sz="2400" dirty="0">
                          <a:effectLst/>
                        </a:rPr>
                        <a:t>physical timer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solidFill>
                            <a:schemeClr val="tx1"/>
                          </a:solidFill>
                          <a:effectLst/>
                        </a:rPr>
                        <a:t>OK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93700731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F06FA61-FF89-B9EB-36A3-818A037BD6F1}"/>
              </a:ext>
            </a:extLst>
          </p:cNvPr>
          <p:cNvSpPr txBox="1"/>
          <p:nvPr/>
        </p:nvSpPr>
        <p:spPr>
          <a:xfrm>
            <a:off x="1861457" y="9245298"/>
            <a:ext cx="148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总结：之前的使用</a:t>
            </a:r>
            <a:r>
              <a:rPr kumimoji="1" lang="en-US" altLang="zh-CN" sz="2400" dirty="0"/>
              <a:t> CNTV</a:t>
            </a:r>
            <a:r>
              <a:rPr kumimoji="1" lang="zh-CN" altLang="en-US" sz="2400" dirty="0"/>
              <a:t> 寄存器组得以正常编译，是因为恰好规避了</a:t>
            </a:r>
            <a:r>
              <a:rPr kumimoji="1" lang="en-US" altLang="zh-CN" sz="2400" dirty="0"/>
              <a:t> HVF </a:t>
            </a:r>
            <a:r>
              <a:rPr kumimoji="1" lang="zh-CN" altLang="en-US" sz="2400" dirty="0"/>
              <a:t>环境下 </a:t>
            </a:r>
            <a:r>
              <a:rPr kumimoji="1" lang="en-US" altLang="zh-CN" sz="2400" dirty="0"/>
              <a:t>CNTP</a:t>
            </a:r>
            <a:r>
              <a:rPr kumimoji="1" lang="zh-CN" altLang="en-US" sz="2400" dirty="0"/>
              <a:t> 寄存器组无法使用</a:t>
            </a:r>
          </a:p>
        </p:txBody>
      </p:sp>
    </p:spTree>
    <p:extLst>
      <p:ext uri="{BB962C8B-B14F-4D97-AF65-F5344CB8AC3E}">
        <p14:creationId xmlns:p14="http://schemas.microsoft.com/office/powerpoint/2010/main" val="3432049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AAB798D2-00E1-E58A-4AD4-E8EE27DE0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18">
            <a:extLst>
              <a:ext uri="{FF2B5EF4-FFF2-40B4-BE49-F238E27FC236}">
                <a16:creationId xmlns:a16="http://schemas.microsoft.com/office/drawing/2014/main" id="{610AC972-E534-D665-E204-6C88564D5C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04185" y="-9605991"/>
            <a:ext cx="26896701" cy="268047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3D5E526-7430-F451-405D-8CA02791413A}"/>
              </a:ext>
            </a:extLst>
          </p:cNvPr>
          <p:cNvSpPr txBox="1"/>
          <p:nvPr/>
        </p:nvSpPr>
        <p:spPr>
          <a:xfrm>
            <a:off x="322489" y="319641"/>
            <a:ext cx="134465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问题二：</a:t>
            </a:r>
            <a:r>
              <a:rPr lang="en" altLang="zh-CN" sz="2800" b="1" dirty="0"/>
              <a:t>AArch64 EL0 / FP / SIMD / trap </a:t>
            </a:r>
            <a:r>
              <a:rPr lang="zh-CN" altLang="en-US" sz="2800" b="1" dirty="0"/>
              <a:t>兼容性</a:t>
            </a:r>
          </a:p>
          <a:p>
            <a:br>
              <a:rPr lang="zh-CN" altLang="en-US" dirty="0"/>
            </a:b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A1F5E2-88B2-96B3-313A-1BD5FA79C848}"/>
              </a:ext>
            </a:extLst>
          </p:cNvPr>
          <p:cNvSpPr txBox="1"/>
          <p:nvPr/>
        </p:nvSpPr>
        <p:spPr>
          <a:xfrm>
            <a:off x="967154" y="1329330"/>
            <a:ext cx="163536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" sz="2400" dirty="0"/>
              <a:t>问题描述</a:t>
            </a:r>
            <a:r>
              <a:rPr kumimoji="1" lang="zh-CN" altLang="en-US" sz="2400" dirty="0"/>
              <a:t>：</a:t>
            </a:r>
            <a:r>
              <a:rPr kumimoji="1" lang="en" altLang="zh-CN" sz="2400" dirty="0"/>
              <a:t>HVF/GIC </a:t>
            </a:r>
            <a:r>
              <a:rPr kumimoji="1" lang="zh-CN" altLang="en-US" sz="2400" dirty="0"/>
              <a:t>阻塞解除后，</a:t>
            </a:r>
            <a:r>
              <a:rPr kumimoji="1" lang="en-US" altLang="zh-CN" sz="2400" dirty="0"/>
              <a:t>guest </a:t>
            </a:r>
            <a:r>
              <a:rPr kumimoji="1" lang="en-US" altLang="zh-CN" sz="2400" dirty="0" err="1"/>
              <a:t>os</a:t>
            </a:r>
            <a:r>
              <a:rPr kumimoji="1" lang="en-US" altLang="zh-CN" sz="2400" dirty="0"/>
              <a:t> </a:t>
            </a:r>
            <a:r>
              <a:rPr kumimoji="1" lang="zh-CN" altLang="en-US" sz="2400" dirty="0"/>
              <a:t>可以正常执行编译脚本</a:t>
            </a:r>
            <a:r>
              <a:rPr kumimoji="1" lang="en-US" altLang="zh-CN" sz="2400" dirty="0"/>
              <a:t> </a:t>
            </a:r>
            <a:r>
              <a:rPr kumimoji="1" lang="en-US" altLang="zh-CN" sz="2400" dirty="0" err="1"/>
              <a:t>run.sh</a:t>
            </a:r>
            <a:r>
              <a:rPr kumimoji="1" lang="en-US" altLang="zh-CN" sz="2400" dirty="0"/>
              <a:t> </a:t>
            </a:r>
            <a:r>
              <a:rPr kumimoji="1" lang="zh-CN" altLang="en" sz="2400" dirty="0"/>
              <a:t>，</a:t>
            </a:r>
            <a:r>
              <a:rPr kumimoji="1" lang="zh-CN" altLang="en-US" sz="2400" dirty="0"/>
              <a:t>但 </a:t>
            </a:r>
            <a:r>
              <a:rPr kumimoji="1" lang="en" altLang="zh-CN" sz="2400" dirty="0"/>
              <a:t>cargo/</a:t>
            </a:r>
            <a:r>
              <a:rPr kumimoji="1" lang="en" altLang="zh-CN" sz="2400" dirty="0" err="1"/>
              <a:t>rustc</a:t>
            </a:r>
            <a:r>
              <a:rPr kumimoji="1" lang="en" altLang="zh-CN" sz="2400" dirty="0"/>
              <a:t> </a:t>
            </a:r>
            <a:r>
              <a:rPr kumimoji="1" lang="zh-CN" altLang="en-US" sz="2400" dirty="0"/>
              <a:t>启动阶段会执行 </a:t>
            </a:r>
            <a:r>
              <a:rPr kumimoji="1" lang="en" altLang="zh-CN" sz="2400" dirty="0"/>
              <a:t>AArch64 </a:t>
            </a:r>
            <a:r>
              <a:rPr kumimoji="1" lang="zh-CN" altLang="en-US" sz="2400" dirty="0"/>
              <a:t>用</a:t>
            </a:r>
            <a:r>
              <a:rPr kumimoji="1" lang="en-US" altLang="zh-CN" sz="2400" dirty="0"/>
              <a:t>	</a:t>
            </a:r>
            <a:r>
              <a:rPr kumimoji="1" lang="zh-CN" altLang="en-US" sz="2400" dirty="0"/>
              <a:t>户态探测路径，包括 </a:t>
            </a:r>
            <a:r>
              <a:rPr kumimoji="1" lang="en" altLang="zh-CN" sz="2400" dirty="0"/>
              <a:t>EL0 trap</a:t>
            </a:r>
            <a:r>
              <a:rPr kumimoji="1" lang="zh-CN" altLang="en" sz="2400" dirty="0"/>
              <a:t>、</a:t>
            </a:r>
            <a:r>
              <a:rPr kumimoji="1" lang="en" altLang="zh-CN" sz="2400" dirty="0"/>
              <a:t>FP/SIMD </a:t>
            </a:r>
            <a:r>
              <a:rPr kumimoji="1" lang="zh-CN" altLang="en-US" sz="2400" dirty="0"/>
              <a:t>状态和用户上下文恢复。</a:t>
            </a:r>
            <a:r>
              <a:rPr kumimoji="1" lang="en" altLang="zh-CN" sz="2400" dirty="0"/>
              <a:t>PR199 </a:t>
            </a:r>
            <a:r>
              <a:rPr kumimoji="1" lang="zh-CN" altLang="en-US" sz="2400" dirty="0"/>
              <a:t>的 </a:t>
            </a:r>
            <a:r>
              <a:rPr kumimoji="1" lang="en" altLang="zh-CN" sz="2400" dirty="0"/>
              <a:t>AArch64 </a:t>
            </a:r>
            <a:r>
              <a:rPr kumimoji="1" lang="zh-CN" altLang="en-US" sz="2400" dirty="0"/>
              <a:t>用户上下文兼容性不足，</a:t>
            </a:r>
            <a:r>
              <a:rPr kumimoji="1" lang="en-US" altLang="zh-CN" sz="2400" dirty="0"/>
              <a:t>	</a:t>
            </a:r>
            <a:r>
              <a:rPr kumimoji="1" lang="zh-CN" altLang="en-US" sz="2400" dirty="0"/>
              <a:t>导致用户态程序刚启动就以 </a:t>
            </a:r>
            <a:r>
              <a:rPr kumimoji="1" lang="en" altLang="zh-CN" sz="2400" dirty="0" err="1"/>
              <a:t>segfault</a:t>
            </a:r>
            <a:r>
              <a:rPr kumimoji="1" lang="en" altLang="zh-CN" sz="2400" dirty="0"/>
              <a:t> / trace trap </a:t>
            </a:r>
            <a:r>
              <a:rPr kumimoji="1" lang="zh-CN" altLang="en-US" sz="2400" dirty="0"/>
              <a:t>形式退出。</a:t>
            </a:r>
          </a:p>
          <a:p>
            <a:pPr algn="l"/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0BC1F5-4A05-025F-6F81-2755C940D404}"/>
              </a:ext>
            </a:extLst>
          </p:cNvPr>
          <p:cNvSpPr txBox="1"/>
          <p:nvPr/>
        </p:nvSpPr>
        <p:spPr>
          <a:xfrm>
            <a:off x="877001" y="2898990"/>
            <a:ext cx="1339947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" sz="2400" dirty="0"/>
              <a:t>报错</a:t>
            </a:r>
            <a:r>
              <a:rPr kumimoji="1" lang="zh-CN" altLang="en-US" sz="2400" dirty="0"/>
              <a:t>原文：</a:t>
            </a:r>
            <a:endParaRPr kumimoji="1" lang="en" altLang="zh-CN" sz="2400" dirty="0"/>
          </a:p>
          <a:p>
            <a:pPr algn="l"/>
            <a:r>
              <a:rPr kumimoji="1" lang="en" altLang="zh-CN" sz="2400" dirty="0"/>
              <a:t>	Segmentation fault (core dumped)</a:t>
            </a:r>
          </a:p>
          <a:p>
            <a:pPr algn="l"/>
            <a:r>
              <a:rPr kumimoji="1" lang="en" altLang="zh-CN" sz="2400" dirty="0"/>
              <a:t>	Trace/breakpoint trap (core dumped)</a:t>
            </a:r>
          </a:p>
          <a:p>
            <a:pPr algn="l"/>
            <a:r>
              <a:rPr kumimoji="1" lang="en" altLang="zh-CN" sz="2400" dirty="0"/>
              <a:t>	===STARRY-MACOS-SELFBUILD-END jobs=8 </a:t>
            </a:r>
            <a:r>
              <a:rPr kumimoji="1" lang="en" altLang="zh-CN" sz="2400" dirty="0" err="1"/>
              <a:t>rc</a:t>
            </a:r>
            <a:r>
              <a:rPr kumimoji="1" lang="en" altLang="zh-CN" sz="2400" dirty="0"/>
              <a:t>=133 elapsed=0===</a:t>
            </a:r>
          </a:p>
          <a:p>
            <a:pPr algn="l"/>
            <a:endParaRPr kumimoji="1" lang="en" altLang="zh-CN" sz="2400" dirty="0"/>
          </a:p>
          <a:p>
            <a:r>
              <a:rPr kumimoji="1" lang="zh-CN" altLang="en" sz="2400" dirty="0"/>
              <a:t>日志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r>
              <a:rPr kumimoji="1" lang="en-US" altLang="zh-CN" sz="2400" dirty="0"/>
              <a:t>	</a:t>
            </a:r>
            <a:r>
              <a:rPr kumimoji="1" lang="en" altLang="zh-CN" sz="2400" dirty="0" err="1"/>
              <a:t>esr</a:t>
            </a:r>
            <a:r>
              <a:rPr kumimoji="1" lang="en" altLang="zh-CN" sz="2400" dirty="0"/>
              <a:t>=0x2000000</a:t>
            </a:r>
          </a:p>
          <a:p>
            <a:r>
              <a:rPr kumimoji="1" lang="en" altLang="zh-CN" sz="2400" dirty="0"/>
              <a:t>	</a:t>
            </a:r>
            <a:r>
              <a:rPr kumimoji="1" lang="en" altLang="zh-CN" sz="2400" dirty="0" err="1"/>
              <a:t>ec</a:t>
            </a:r>
            <a:r>
              <a:rPr kumimoji="1" lang="en" altLang="zh-CN" sz="2400" dirty="0"/>
              <a:t>=0x0</a:t>
            </a:r>
            <a:r>
              <a:rPr kumimoji="1" lang="zh-CN" altLang="en-US" sz="2400" dirty="0"/>
              <a:t> 和问题一相同的报错，说明发生了从</a:t>
            </a:r>
            <a:r>
              <a:rPr kumimoji="1" lang="en-US" altLang="zh-CN" sz="2400" dirty="0"/>
              <a:t> EL0</a:t>
            </a:r>
            <a:r>
              <a:rPr kumimoji="1" lang="zh-CN" altLang="en-US" sz="2400" dirty="0"/>
              <a:t> 到</a:t>
            </a:r>
            <a:r>
              <a:rPr kumimoji="1" lang="en-US" altLang="zh-CN" sz="2400" dirty="0"/>
              <a:t> EL1</a:t>
            </a:r>
            <a:r>
              <a:rPr kumimoji="1" lang="zh-CN" altLang="en-US" sz="2400" dirty="0"/>
              <a:t> 特权级的切换</a:t>
            </a:r>
            <a:endParaRPr kumimoji="1" lang="en-US" altLang="zh-CN" sz="2400" dirty="0"/>
          </a:p>
          <a:p>
            <a:r>
              <a:rPr kumimoji="1" lang="en-US" altLang="zh-CN" sz="2400" dirty="0"/>
              <a:t>	</a:t>
            </a:r>
            <a:r>
              <a:rPr kumimoji="1" lang="zh-CN" altLang="en-US" sz="2400" dirty="0"/>
              <a:t>即 </a:t>
            </a:r>
            <a:r>
              <a:rPr kumimoji="1" lang="en-US" altLang="zh-CN" sz="2400" dirty="0"/>
              <a:t>trap</a:t>
            </a:r>
            <a:r>
              <a:rPr kumimoji="1" lang="zh-CN" altLang="en-US" sz="2400" dirty="0"/>
              <a:t> 直接被归类为 </a:t>
            </a:r>
            <a:r>
              <a:rPr kumimoji="1" lang="en-US" altLang="zh-CN" sz="2400" dirty="0"/>
              <a:t>Other</a:t>
            </a:r>
            <a:r>
              <a:rPr kumimoji="1" lang="zh-CN" altLang="en-US" sz="2400" dirty="0"/>
              <a:t>，没有识别到具体的语义</a:t>
            </a:r>
            <a:endParaRPr kumimoji="1" lang="en-US" altLang="zh-CN" sz="2400" dirty="0"/>
          </a:p>
          <a:p>
            <a:endParaRPr kumimoji="1" lang="en" altLang="zh-CN" sz="2400" dirty="0"/>
          </a:p>
          <a:p>
            <a:pPr algn="l"/>
            <a:endParaRPr kumimoji="1"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335BBD-DB1A-11C3-81AC-270514297D50}"/>
              </a:ext>
            </a:extLst>
          </p:cNvPr>
          <p:cNvSpPr txBox="1"/>
          <p:nvPr/>
        </p:nvSpPr>
        <p:spPr>
          <a:xfrm>
            <a:off x="967154" y="6684642"/>
            <a:ext cx="147886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修复方向：</a:t>
            </a:r>
          </a:p>
          <a:p>
            <a:br>
              <a:rPr kumimoji="1" lang="zh-CN" altLang="en-US" sz="2400" dirty="0"/>
            </a:br>
            <a:r>
              <a:rPr kumimoji="1" lang="en-US" altLang="zh-CN" sz="2400" dirty="0"/>
              <a:t>	</a:t>
            </a:r>
            <a:r>
              <a:rPr kumimoji="1" lang="zh-CN" altLang="en-US" sz="2400" dirty="0"/>
              <a:t>把 </a:t>
            </a:r>
            <a:r>
              <a:rPr kumimoji="1" lang="en" altLang="zh-CN" sz="2400" dirty="0"/>
              <a:t>ESR_EL1::EC::Unknown </a:t>
            </a:r>
            <a:r>
              <a:rPr kumimoji="1" lang="zh-CN" altLang="en-US" sz="2400" dirty="0"/>
              <a:t>映射成 </a:t>
            </a:r>
            <a:r>
              <a:rPr kumimoji="1" lang="en" altLang="zh-CN" sz="2400" dirty="0" err="1"/>
              <a:t>IllegalInstruction</a:t>
            </a:r>
            <a:endParaRPr kumimoji="1" lang="zh-CN" altLang="en-US" sz="2400" dirty="0"/>
          </a:p>
          <a:p>
            <a:pPr algn="l"/>
            <a:r>
              <a:rPr kumimoji="1" lang="en-US" altLang="zh-CN" sz="2400" dirty="0"/>
              <a:t>	</a:t>
            </a:r>
            <a:r>
              <a:rPr kumimoji="1" lang="zh-CN" altLang="en-US" sz="2400" dirty="0"/>
              <a:t>恢复 </a:t>
            </a:r>
            <a:r>
              <a:rPr kumimoji="1" lang="en" altLang="zh-CN" sz="2400" dirty="0"/>
              <a:t>AArch64 </a:t>
            </a:r>
            <a:r>
              <a:rPr kumimoji="1" lang="zh-CN" altLang="en-US" sz="2400" dirty="0"/>
              <a:t>用户上下文初始化和切换所需的 </a:t>
            </a:r>
            <a:r>
              <a:rPr kumimoji="1" lang="en" altLang="zh-CN" sz="2400" dirty="0"/>
              <a:t>EL0 </a:t>
            </a:r>
            <a:r>
              <a:rPr kumimoji="1" lang="zh-CN" altLang="en-US" sz="2400" dirty="0"/>
              <a:t>状态。</a:t>
            </a:r>
          </a:p>
          <a:p>
            <a:pPr algn="l"/>
            <a:r>
              <a:rPr kumimoji="1" lang="en-US" altLang="zh-CN" sz="2400" dirty="0"/>
              <a:t>	</a:t>
            </a:r>
            <a:r>
              <a:rPr kumimoji="1" lang="zh-CN" altLang="en-US" sz="2400" dirty="0"/>
              <a:t>让用户态异常按预期陷入 </a:t>
            </a:r>
            <a:r>
              <a:rPr kumimoji="1" lang="en" altLang="zh-CN" sz="2400" dirty="0" err="1"/>
              <a:t>StarryOS</a:t>
            </a:r>
            <a:r>
              <a:rPr kumimoji="1" lang="en" altLang="zh-CN" sz="2400" dirty="0"/>
              <a:t> </a:t>
            </a:r>
            <a:r>
              <a:rPr kumimoji="1" lang="zh-CN" altLang="en-US" sz="2400" dirty="0"/>
              <a:t>的 </a:t>
            </a:r>
            <a:r>
              <a:rPr kumimoji="1" lang="en" altLang="zh-CN" sz="2400" dirty="0"/>
              <a:t>signal/exception </a:t>
            </a:r>
            <a:r>
              <a:rPr kumimoji="1" lang="zh-CN" altLang="en-US" sz="2400" dirty="0"/>
              <a:t>路径。</a:t>
            </a:r>
            <a:endParaRPr kumimoji="1" lang="en-US" altLang="zh-CN" sz="2400" dirty="0"/>
          </a:p>
          <a:p>
            <a:pPr algn="l"/>
            <a:endParaRPr kumimoji="1" lang="en-US" altLang="zh-CN" sz="2400" dirty="0"/>
          </a:p>
          <a:p>
            <a:r>
              <a:rPr kumimoji="1" lang="zh-CN" altLang="en-US" sz="2400" dirty="0"/>
              <a:t>结果：</a:t>
            </a:r>
            <a:r>
              <a:rPr kumimoji="1" lang="en-US" altLang="zh-CN" sz="2400" dirty="0"/>
              <a:t>Exception</a:t>
            </a:r>
            <a:r>
              <a:rPr kumimoji="1" lang="zh-CN" altLang="en-US" sz="2400" dirty="0"/>
              <a:t> </a:t>
            </a:r>
            <a:r>
              <a:rPr kumimoji="1" lang="en" altLang="zh-CN" sz="2400" dirty="0"/>
              <a:t>kind</a:t>
            </a:r>
            <a:r>
              <a:rPr kumimoji="1" lang="zh-CN" altLang="en-US" sz="2400" dirty="0"/>
              <a:t> </a:t>
            </a:r>
            <a:r>
              <a:rPr kumimoji="1" lang="en" altLang="zh-CN" sz="2400" dirty="0"/>
              <a:t>=</a:t>
            </a:r>
            <a:r>
              <a:rPr kumimoji="1" lang="zh-CN" altLang="en-US" sz="2400" dirty="0"/>
              <a:t> </a:t>
            </a:r>
            <a:r>
              <a:rPr kumimoji="1" lang="en" altLang="zh-CN" sz="2400" dirty="0" err="1"/>
              <a:t>IllegalInstruction</a:t>
            </a:r>
            <a:endParaRPr kumimoji="1" lang="en" altLang="zh-CN" sz="2400" dirty="0"/>
          </a:p>
          <a:p>
            <a:endParaRPr kumimoji="1" lang="zh-CN" altLang="en-US" sz="2400" dirty="0"/>
          </a:p>
          <a:p>
            <a:pPr algn="l"/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85893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7B8EE20D-B3A6-1A87-EBDE-B0297075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18">
            <a:extLst>
              <a:ext uri="{FF2B5EF4-FFF2-40B4-BE49-F238E27FC236}">
                <a16:creationId xmlns:a16="http://schemas.microsoft.com/office/drawing/2014/main" id="{FCCECA33-80EC-53E2-400D-229C584EA7A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03190" y="-9060868"/>
            <a:ext cx="26896701" cy="268047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84432D7-8408-22C1-B9AD-56A639248D8C}"/>
              </a:ext>
            </a:extLst>
          </p:cNvPr>
          <p:cNvSpPr txBox="1"/>
          <p:nvPr/>
        </p:nvSpPr>
        <p:spPr>
          <a:xfrm>
            <a:off x="322489" y="319641"/>
            <a:ext cx="134465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问题三：</a:t>
            </a:r>
            <a:r>
              <a:rPr lang="en" altLang="zh-CN" sz="2800" b="1" dirty="0"/>
              <a:t>page fault </a:t>
            </a:r>
            <a:r>
              <a:rPr lang="zh-CN" altLang="en-US" sz="2800" b="1" dirty="0"/>
              <a:t>慢路径和 </a:t>
            </a:r>
            <a:r>
              <a:rPr lang="en" altLang="zh-CN" sz="2800" b="1" dirty="0"/>
              <a:t>user-copy </a:t>
            </a:r>
            <a:r>
              <a:rPr lang="zh-CN" altLang="en-US" sz="2800" b="1" dirty="0"/>
              <a:t>可睡眠路径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C946BF-9F02-4EDB-4008-40BE4CA12CD9}"/>
              </a:ext>
            </a:extLst>
          </p:cNvPr>
          <p:cNvSpPr txBox="1"/>
          <p:nvPr/>
        </p:nvSpPr>
        <p:spPr>
          <a:xfrm>
            <a:off x="1635369" y="1273748"/>
            <a:ext cx="150172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sz="2400" dirty="0"/>
              <a:t>问题描述</a:t>
            </a:r>
            <a:r>
              <a:rPr lang="zh-CN" altLang="en-US" sz="2400" dirty="0"/>
              <a:t>：</a:t>
            </a:r>
            <a:r>
              <a:rPr lang="en" altLang="zh-CN" sz="2400" dirty="0" err="1"/>
              <a:t>rustc</a:t>
            </a:r>
            <a:r>
              <a:rPr lang="en" altLang="zh-CN" sz="2400" dirty="0"/>
              <a:t>/cargo </a:t>
            </a:r>
            <a:r>
              <a:rPr lang="zh-CN" altLang="en-US" sz="2400" dirty="0"/>
              <a:t>继续运行后，会频繁访问按需映射的用户栈、堆、</a:t>
            </a:r>
            <a:r>
              <a:rPr lang="en" altLang="zh-CN" sz="2400" dirty="0" err="1"/>
              <a:t>mmap</a:t>
            </a:r>
            <a:r>
              <a:rPr lang="en" altLang="zh-CN" sz="2400" dirty="0"/>
              <a:t> </a:t>
            </a:r>
            <a:r>
              <a:rPr lang="zh-CN" altLang="en-US" sz="2400" dirty="0"/>
              <a:t>文件页。</a:t>
            </a:r>
            <a:r>
              <a:rPr lang="en" altLang="zh-CN" sz="2400" dirty="0"/>
              <a:t>PR199 </a:t>
            </a:r>
            <a:r>
              <a:rPr lang="zh-CN" altLang="en-US" sz="2400" dirty="0"/>
              <a:t>的 </a:t>
            </a:r>
            <a:r>
              <a:rPr lang="en" altLang="zh-CN" sz="2400" dirty="0"/>
              <a:t>page fault 	</a:t>
            </a:r>
            <a:r>
              <a:rPr lang="zh-CN" altLang="en-US" sz="2400" dirty="0"/>
              <a:t>路径仍偏向“不可恢复异常”，没有把用户态缺页完整接到可睡眠、可恢复的慢路径上，所以普通用户态写</a:t>
            </a:r>
            <a:r>
              <a:rPr lang="en-US" altLang="zh-CN" sz="2400" dirty="0"/>
              <a:t>	</a:t>
            </a:r>
            <a:r>
              <a:rPr lang="zh-CN" altLang="en-US" sz="2400" dirty="0"/>
              <a:t>缺页被当成 </a:t>
            </a:r>
            <a:r>
              <a:rPr lang="en" altLang="zh-CN" sz="2400" dirty="0"/>
              <a:t>kernel panic</a:t>
            </a:r>
            <a:r>
              <a:rPr lang="zh-CN" altLang="en" sz="2400" dirty="0"/>
              <a:t>。</a:t>
            </a:r>
          </a:p>
          <a:p>
            <a:pPr algn="l"/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CB0A86-9ED1-C35D-2A32-B4EDE2A8F84D}"/>
              </a:ext>
            </a:extLst>
          </p:cNvPr>
          <p:cNvSpPr txBox="1"/>
          <p:nvPr/>
        </p:nvSpPr>
        <p:spPr>
          <a:xfrm>
            <a:off x="1635369" y="3979648"/>
            <a:ext cx="1601958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" sz="2400" dirty="0"/>
              <a:t>报错</a:t>
            </a:r>
            <a:r>
              <a:rPr kumimoji="1" lang="zh-CN" altLang="en-US" sz="2400" dirty="0"/>
              <a:t>原文：</a:t>
            </a:r>
            <a:endParaRPr kumimoji="1" lang="en" altLang="zh-CN" sz="2400" dirty="0"/>
          </a:p>
          <a:p>
            <a:r>
              <a:rPr kumimoji="1" lang="en" altLang="zh-CN" sz="2400" dirty="0"/>
              <a:t>	</a:t>
            </a:r>
            <a:r>
              <a:rPr lang="en" altLang="zh-CN" sz="2400" dirty="0"/>
              <a:t>panicked at components/</a:t>
            </a:r>
            <a:r>
              <a:rPr lang="en" altLang="zh-CN" sz="2400" dirty="0" err="1"/>
              <a:t>axcpu</a:t>
            </a:r>
            <a:r>
              <a:rPr lang="en" altLang="zh-CN" sz="2400" dirty="0"/>
              <a:t>/</a:t>
            </a:r>
            <a:r>
              <a:rPr lang="en" altLang="zh-CN" sz="2400" dirty="0" err="1"/>
              <a:t>src</a:t>
            </a:r>
            <a:r>
              <a:rPr lang="en" altLang="zh-CN" sz="2400" dirty="0"/>
              <a:t>/aarch64/trap.rs:82:5:</a:t>
            </a:r>
          </a:p>
          <a:p>
            <a:r>
              <a:rPr lang="en" altLang="zh-CN" sz="2400" dirty="0"/>
              <a:t>	Unhandled Page Fault @ 0xffff000040354b9c, </a:t>
            </a:r>
            <a:r>
              <a:rPr lang="en" altLang="zh-CN" sz="2400" dirty="0" err="1"/>
              <a:t>fault_vaddr</a:t>
            </a:r>
            <a:r>
              <a:rPr lang="en" altLang="zh-CN" sz="2400" dirty="0"/>
              <a:t>=VA:0x8974b96, ESR=0x9600004f (WRITE):</a:t>
            </a:r>
          </a:p>
          <a:p>
            <a:endParaRPr lang="en" altLang="zh-CN" sz="2400" dirty="0"/>
          </a:p>
          <a:p>
            <a:r>
              <a:rPr lang="zh-CN" altLang="en" sz="2400" dirty="0"/>
              <a:t>日志</a:t>
            </a:r>
            <a:r>
              <a:rPr lang="zh-CN" altLang="en-US" sz="2400" dirty="0"/>
              <a:t>分析：</a:t>
            </a:r>
            <a:r>
              <a:rPr lang="en-US" altLang="zh-CN" sz="2400" dirty="0"/>
              <a:t>0xffff</a:t>
            </a:r>
            <a:r>
              <a:rPr lang="zh-CN" altLang="en-US" sz="2400" dirty="0"/>
              <a:t> 说明这是内核态正在进行操作，</a:t>
            </a:r>
            <a:r>
              <a:rPr lang="en-US" altLang="zh-CN" sz="2400" dirty="0"/>
              <a:t>ESR</a:t>
            </a:r>
            <a:r>
              <a:rPr lang="zh-CN" altLang="en-US" sz="2400" dirty="0"/>
              <a:t> 表明这是写文件时存在问题。</a:t>
            </a:r>
            <a:endParaRPr lang="en-US" altLang="zh-CN" sz="2400" dirty="0"/>
          </a:p>
          <a:p>
            <a:r>
              <a:rPr lang="zh-CN" altLang="en-US" sz="2400" dirty="0"/>
              <a:t>内核不知道这个缺页是 </a:t>
            </a:r>
            <a:r>
              <a:rPr lang="en-US" altLang="zh-CN" sz="2400" dirty="0"/>
              <a:t>user-copy </a:t>
            </a:r>
            <a:r>
              <a:rPr lang="zh-CN" altLang="en-US" sz="2400" dirty="0"/>
              <a:t>过程中可以修复的缺页</a:t>
            </a:r>
          </a:p>
          <a:p>
            <a:r>
              <a:rPr lang="en-US" altLang="zh-CN" sz="2400" dirty="0"/>
              <a:t>	-&gt; </a:t>
            </a:r>
            <a:r>
              <a:rPr lang="zh-CN" altLang="en-US" sz="2400" dirty="0"/>
              <a:t>直接当成内核访问坏地址</a:t>
            </a:r>
          </a:p>
          <a:p>
            <a:r>
              <a:rPr lang="en-US" altLang="zh-CN" sz="2400" dirty="0"/>
              <a:t>	-&gt; panic</a:t>
            </a:r>
          </a:p>
          <a:p>
            <a:endParaRPr lang="en-US" altLang="zh-CN" sz="2400" dirty="0"/>
          </a:p>
          <a:p>
            <a:endParaRPr lang="en" altLang="zh-CN" sz="2400" dirty="0"/>
          </a:p>
          <a:p>
            <a:pPr algn="l"/>
            <a:endParaRPr kumimoji="1"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82225F-6D88-8F72-9805-7467C5603331}"/>
              </a:ext>
            </a:extLst>
          </p:cNvPr>
          <p:cNvSpPr txBox="1"/>
          <p:nvPr/>
        </p:nvSpPr>
        <p:spPr>
          <a:xfrm>
            <a:off x="1635369" y="7390403"/>
            <a:ext cx="147886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修复方向：</a:t>
            </a:r>
          </a:p>
          <a:p>
            <a:pPr algn="l"/>
            <a:br>
              <a:rPr kumimoji="1" lang="zh-CN" altLang="en-US" sz="2400" dirty="0"/>
            </a:br>
            <a:endParaRPr kumimoji="1" lang="zh-CN" altLang="en-US" sz="2400" dirty="0"/>
          </a:p>
          <a:p>
            <a:pPr algn="l"/>
            <a:r>
              <a:rPr kumimoji="1" lang="en-US" altLang="zh-CN" sz="2400" dirty="0"/>
              <a:t>	</a:t>
            </a:r>
            <a:r>
              <a:rPr kumimoji="1" lang="en" altLang="zh-CN" sz="2400" dirty="0"/>
              <a:t>AArch64 trap </a:t>
            </a:r>
            <a:r>
              <a:rPr kumimoji="1" lang="zh-CN" altLang="en-US" sz="2400" dirty="0"/>
              <a:t>层把可恢复用户缺页交给上层 </a:t>
            </a:r>
            <a:r>
              <a:rPr kumimoji="1" lang="en" altLang="zh-CN" sz="2400" dirty="0"/>
              <a:t>fault handler</a:t>
            </a:r>
            <a:r>
              <a:rPr kumimoji="1" lang="zh-CN" altLang="en-US" sz="2400" dirty="0"/>
              <a:t>，允许补页</a:t>
            </a:r>
            <a:r>
              <a:rPr kumimoji="1" lang="zh-CN" altLang="en" sz="2400" dirty="0"/>
              <a:t>。</a:t>
            </a:r>
            <a:endParaRPr kumimoji="1" lang="en-US" altLang="zh-CN" sz="2400" dirty="0"/>
          </a:p>
          <a:p>
            <a:pPr algn="l"/>
            <a:r>
              <a:rPr kumimoji="1" lang="en-US" altLang="zh-CN" sz="2400" b="1" dirty="0"/>
              <a:t>	</a:t>
            </a:r>
            <a:r>
              <a:rPr kumimoji="1" lang="zh-CN" altLang="en-US" sz="2400" b="1" dirty="0"/>
              <a:t>在</a:t>
            </a:r>
            <a:r>
              <a:rPr kumimoji="1" lang="en-US" altLang="zh-CN" sz="2400" b="1" dirty="0"/>
              <a:t> Trap</a:t>
            </a:r>
            <a:r>
              <a:rPr kumimoji="1" lang="zh-CN" altLang="en-US" sz="2400" b="1" dirty="0"/>
              <a:t> 层不再</a:t>
            </a:r>
            <a:r>
              <a:rPr kumimoji="1" lang="en-US" altLang="zh-CN" sz="2400" b="1" dirty="0"/>
              <a:t> panic</a:t>
            </a:r>
            <a:endParaRPr kumimoji="1" lang="zh-CN" altLang="en" sz="2400" b="1" dirty="0"/>
          </a:p>
        </p:txBody>
      </p:sp>
    </p:spTree>
    <p:extLst>
      <p:ext uri="{BB962C8B-B14F-4D97-AF65-F5344CB8AC3E}">
        <p14:creationId xmlns:p14="http://schemas.microsoft.com/office/powerpoint/2010/main" val="2567890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9E393054-DAF2-8589-9134-5D596C94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18">
            <a:extLst>
              <a:ext uri="{FF2B5EF4-FFF2-40B4-BE49-F238E27FC236}">
                <a16:creationId xmlns:a16="http://schemas.microsoft.com/office/drawing/2014/main" id="{1B83F237-DF8C-EE10-38F0-98CD1E0648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23631" y="-7286244"/>
            <a:ext cx="26896701" cy="268047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666BA07-F02B-E867-ECFD-3C98AF87AAEE}"/>
              </a:ext>
            </a:extLst>
          </p:cNvPr>
          <p:cNvSpPr txBox="1"/>
          <p:nvPr/>
        </p:nvSpPr>
        <p:spPr>
          <a:xfrm>
            <a:off x="322489" y="319641"/>
            <a:ext cx="134465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问题四：</a:t>
            </a:r>
            <a:r>
              <a:rPr lang="zh-CN" altLang="en-US" sz="2800" b="1" dirty="0"/>
              <a:t>用户内存访问锁顺序</a:t>
            </a:r>
            <a:endParaRPr lang="zh-CN" altLang="en-US" sz="2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8D560B-C62D-6319-229A-01B470A5C8D4}"/>
              </a:ext>
            </a:extLst>
          </p:cNvPr>
          <p:cNvSpPr txBox="1"/>
          <p:nvPr/>
        </p:nvSpPr>
        <p:spPr>
          <a:xfrm>
            <a:off x="1414930" y="1321361"/>
            <a:ext cx="15544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zh-CN" altLang="en" sz="2400" dirty="0"/>
              <a:t>问题描述</a:t>
            </a:r>
            <a:r>
              <a:rPr lang="en-US" altLang="zh-CN" sz="2400" dirty="0"/>
              <a:t>:</a:t>
            </a:r>
            <a:r>
              <a:rPr lang="zh-CN" altLang="en" sz="2400" dirty="0"/>
              <a:t> </a:t>
            </a:r>
            <a:r>
              <a:rPr lang="en" altLang="zh-CN" sz="2400" dirty="0"/>
              <a:t>page fault </a:t>
            </a:r>
            <a:r>
              <a:rPr lang="zh-CN" altLang="en-US" sz="2400" dirty="0"/>
              <a:t>可恢复后，问题不再是“不能处理缺页”，而是“在持锁或不可睡眠上下文中触发了可能睡眠的用户内存访问”。典型路径包括：</a:t>
            </a:r>
            <a:endParaRPr lang="en-US" altLang="zh-CN" sz="2400" dirty="0"/>
          </a:p>
          <a:p>
            <a:pPr lvl="1"/>
            <a:endParaRPr lang="zh-CN" altLang="en-US" sz="2400" dirty="0"/>
          </a:p>
          <a:p>
            <a:pPr lvl="1"/>
            <a:r>
              <a:rPr lang="en-US" altLang="zh-CN" sz="2400" dirty="0"/>
              <a:t>		`</a:t>
            </a:r>
            <a:r>
              <a:rPr lang="en" altLang="zh-CN" sz="2400" dirty="0"/>
              <a:t>poll` / `</a:t>
            </a:r>
            <a:r>
              <a:rPr lang="en" altLang="zh-CN" sz="2400" dirty="0" err="1"/>
              <a:t>ppoll</a:t>
            </a:r>
            <a:r>
              <a:rPr lang="en" altLang="zh-CN" sz="2400" dirty="0"/>
              <a:t>` </a:t>
            </a:r>
            <a:r>
              <a:rPr lang="zh-CN" altLang="en-US" sz="2400" dirty="0"/>
              <a:t>从用户态复制 </a:t>
            </a:r>
            <a:r>
              <a:rPr lang="en" altLang="zh-CN" sz="2400" dirty="0" err="1"/>
              <a:t>fd</a:t>
            </a:r>
            <a:r>
              <a:rPr lang="en" altLang="zh-CN" sz="2400" dirty="0"/>
              <a:t> </a:t>
            </a:r>
            <a:r>
              <a:rPr lang="zh-CN" altLang="en-US" sz="2400" dirty="0"/>
              <a:t>集合或 </a:t>
            </a:r>
            <a:r>
              <a:rPr lang="en" altLang="zh-CN" sz="2400" dirty="0" err="1"/>
              <a:t>timespec</a:t>
            </a:r>
            <a:r>
              <a:rPr lang="zh-CN" altLang="en" sz="2400" dirty="0"/>
              <a:t>。</a:t>
            </a:r>
          </a:p>
          <a:p>
            <a:pPr lvl="1"/>
            <a:r>
              <a:rPr lang="en" altLang="zh-CN" sz="2400" dirty="0"/>
              <a:t>		</a:t>
            </a:r>
            <a:r>
              <a:rPr lang="zh-CN" altLang="en-US" sz="2400" dirty="0"/>
              <a:t> </a:t>
            </a:r>
            <a:r>
              <a:rPr lang="en" altLang="zh-CN" sz="2400" dirty="0"/>
              <a:t>fs IO </a:t>
            </a:r>
            <a:r>
              <a:rPr lang="zh-CN" altLang="en-US" sz="2400" dirty="0"/>
              <a:t>处理 </a:t>
            </a:r>
            <a:r>
              <a:rPr lang="en" altLang="zh-CN" sz="2400" dirty="0" err="1"/>
              <a:t>iovec</a:t>
            </a:r>
            <a:r>
              <a:rPr lang="zh-CN" altLang="en" sz="2400" dirty="0"/>
              <a:t>。</a:t>
            </a:r>
          </a:p>
          <a:p>
            <a:pPr lvl="1"/>
            <a:r>
              <a:rPr lang="en" altLang="zh-CN" sz="2400" dirty="0"/>
              <a:t>		</a:t>
            </a:r>
            <a:r>
              <a:rPr lang="zh-CN" altLang="en-US" sz="2400" dirty="0"/>
              <a:t> </a:t>
            </a:r>
            <a:r>
              <a:rPr lang="en" altLang="zh-CN" sz="2400" dirty="0" err="1"/>
              <a:t>tty</a:t>
            </a:r>
            <a:r>
              <a:rPr lang="en" altLang="zh-CN" sz="2400" dirty="0"/>
              <a:t> </a:t>
            </a:r>
            <a:r>
              <a:rPr lang="en" altLang="zh-CN" sz="2400" dirty="0" err="1"/>
              <a:t>ioctl</a:t>
            </a:r>
            <a:r>
              <a:rPr lang="en" altLang="zh-CN" sz="2400" dirty="0"/>
              <a:t> </a:t>
            </a:r>
            <a:r>
              <a:rPr lang="zh-CN" altLang="en-US" sz="2400" dirty="0"/>
              <a:t>读写用户态 </a:t>
            </a:r>
            <a:r>
              <a:rPr lang="en" altLang="zh-CN" sz="2400" dirty="0" err="1"/>
              <a:t>termios</a:t>
            </a:r>
            <a:r>
              <a:rPr lang="en" altLang="zh-CN" sz="2400" dirty="0"/>
              <a:t> / </a:t>
            </a:r>
            <a:r>
              <a:rPr lang="en" altLang="zh-CN" sz="2400" dirty="0" err="1"/>
              <a:t>winsize</a:t>
            </a:r>
            <a:r>
              <a:rPr lang="zh-CN" altLang="en" sz="2400" dirty="0"/>
              <a:t>。</a:t>
            </a:r>
          </a:p>
          <a:p>
            <a:pPr lvl="1"/>
            <a:r>
              <a:rPr lang="en" altLang="zh-CN" sz="2400" dirty="0"/>
              <a:t>	</a:t>
            </a:r>
            <a:r>
              <a:rPr lang="zh-CN" altLang="en-US" sz="2400" dirty="0"/>
              <a:t> </a:t>
            </a:r>
            <a:r>
              <a:rPr lang="en-US" altLang="zh-CN" sz="2400" dirty="0"/>
              <a:t>	 </a:t>
            </a:r>
            <a:r>
              <a:rPr lang="en" altLang="zh-CN" sz="2400" dirty="0"/>
              <a:t>signal delivery / </a:t>
            </a:r>
            <a:r>
              <a:rPr lang="en" altLang="zh-CN" sz="2400" dirty="0" err="1"/>
              <a:t>sigreturn</a:t>
            </a:r>
            <a:r>
              <a:rPr lang="en" altLang="zh-CN" sz="2400" dirty="0"/>
              <a:t> </a:t>
            </a:r>
            <a:r>
              <a:rPr lang="zh-CN" altLang="en-US" sz="2400" dirty="0"/>
              <a:t>写用户栈或读取用户上下文。</a:t>
            </a:r>
          </a:p>
          <a:p>
            <a:endParaRPr lang="zh-CN" altLang="en-US" sz="2400" dirty="0"/>
          </a:p>
          <a:p>
            <a:r>
              <a:rPr lang="zh-CN" altLang="en-US" sz="2400" dirty="0"/>
              <a:t>这些路径如果在内核锁内直接 解引用 用户指针，就会把普通缺页变成 </a:t>
            </a:r>
            <a:r>
              <a:rPr lang="en" altLang="zh-CN" sz="2400" dirty="0"/>
              <a:t>atomic context panic</a:t>
            </a:r>
            <a:r>
              <a:rPr lang="zh-CN" altLang="en" sz="2400" dirty="0"/>
              <a:t>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C5B394-B72C-7830-EF65-0C9ACA1E6910}"/>
              </a:ext>
            </a:extLst>
          </p:cNvPr>
          <p:cNvSpPr txBox="1"/>
          <p:nvPr/>
        </p:nvSpPr>
        <p:spPr>
          <a:xfrm>
            <a:off x="1414930" y="5143500"/>
            <a:ext cx="175318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" sz="2400" dirty="0"/>
              <a:t>报错</a:t>
            </a:r>
            <a:r>
              <a:rPr kumimoji="1" lang="zh-CN" altLang="en-US" sz="2400" dirty="0"/>
              <a:t>原文：</a:t>
            </a:r>
            <a:endParaRPr kumimoji="1" lang="en" altLang="zh-CN" sz="2400" dirty="0"/>
          </a:p>
          <a:p>
            <a:r>
              <a:rPr kumimoji="1" lang="en" altLang="zh-CN" sz="2400" dirty="0"/>
              <a:t>	</a:t>
            </a:r>
            <a:r>
              <a:rPr lang="en" altLang="zh-CN" sz="2400" dirty="0"/>
              <a:t>panicked at </a:t>
            </a:r>
            <a:r>
              <a:rPr lang="en" altLang="zh-CN" sz="2400" dirty="0" err="1"/>
              <a:t>os</a:t>
            </a:r>
            <a:r>
              <a:rPr lang="en" altLang="zh-CN" sz="2400" dirty="0"/>
              <a:t>/</a:t>
            </a:r>
            <a:r>
              <a:rPr lang="en" altLang="zh-CN" sz="2400" dirty="0" err="1"/>
              <a:t>StarryOS</a:t>
            </a:r>
            <a:r>
              <a:rPr lang="en" altLang="zh-CN" sz="2400" dirty="0"/>
              <a:t>/kernel/</a:t>
            </a:r>
            <a:r>
              <a:rPr lang="en" altLang="zh-CN" sz="2400" dirty="0" err="1"/>
              <a:t>src</a:t>
            </a:r>
            <a:r>
              <a:rPr lang="en" altLang="zh-CN" sz="2400" dirty="0"/>
              <a:t>/mm/access.rs:267:5:</a:t>
            </a:r>
          </a:p>
          <a:p>
            <a:r>
              <a:rPr lang="en" altLang="zh-CN" sz="2400" dirty="0"/>
              <a:t>	sleeping or rescheduling is not allowed in atomic context: </a:t>
            </a:r>
            <a:r>
              <a:rPr lang="en" altLang="zh-CN" sz="2400" dirty="0" err="1"/>
              <a:t>irq_enabled</a:t>
            </a:r>
            <a:r>
              <a:rPr lang="en" altLang="zh-CN" sz="2400" dirty="0"/>
              <a:t>=false, </a:t>
            </a:r>
            <a:r>
              <a:rPr lang="en" altLang="zh-CN" sz="2400" dirty="0" err="1"/>
              <a:t>preempt_count</a:t>
            </a:r>
            <a:r>
              <a:rPr lang="en" altLang="zh-CN" sz="2400" dirty="0"/>
              <a:t>=1</a:t>
            </a:r>
          </a:p>
          <a:p>
            <a:pPr algn="l"/>
            <a:endParaRPr kumimoji="1"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4976C4-37E0-AA30-B094-BBB6EA02185E}"/>
              </a:ext>
            </a:extLst>
          </p:cNvPr>
          <p:cNvSpPr txBox="1"/>
          <p:nvPr/>
        </p:nvSpPr>
        <p:spPr>
          <a:xfrm>
            <a:off x="1414930" y="7042651"/>
            <a:ext cx="147886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修复方向：</a:t>
            </a:r>
          </a:p>
          <a:p>
            <a:endParaRPr lang="zh-CN" altLang="en-US" sz="2400" dirty="0"/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把用户内存读取</a:t>
            </a:r>
            <a:r>
              <a:rPr lang="en-US" altLang="zh-CN" sz="2400" dirty="0"/>
              <a:t>/</a:t>
            </a:r>
            <a:r>
              <a:rPr lang="zh-CN" altLang="en-US" sz="2400" dirty="0"/>
              <a:t>写入移动到不持有内部锁的阶段。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对需要睡眠的 </a:t>
            </a:r>
            <a:r>
              <a:rPr lang="en" altLang="zh-CN" sz="2400" dirty="0"/>
              <a:t>user-copy </a:t>
            </a:r>
            <a:r>
              <a:rPr lang="zh-CN" altLang="en-US" sz="2400" dirty="0"/>
              <a:t>使用 </a:t>
            </a:r>
            <a:r>
              <a:rPr lang="zh-CN" altLang="en" sz="2400" b="1" dirty="0"/>
              <a:t>允许</a:t>
            </a:r>
            <a:r>
              <a:rPr lang="zh-CN" altLang="en-US" sz="2400" b="1" dirty="0"/>
              <a:t>缺页处理</a:t>
            </a:r>
            <a:r>
              <a:rPr lang="en" altLang="zh-CN" sz="2400" b="1" dirty="0"/>
              <a:t> </a:t>
            </a:r>
            <a:r>
              <a:rPr lang="zh-CN" altLang="en-US" sz="2400" dirty="0"/>
              <a:t>路径。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避免 </a:t>
            </a:r>
            <a:r>
              <a:rPr lang="en" altLang="zh-CN" sz="2400" dirty="0"/>
              <a:t>signal</a:t>
            </a:r>
            <a:r>
              <a:rPr lang="zh-CN" altLang="en" sz="2400" dirty="0"/>
              <a:t>、</a:t>
            </a:r>
            <a:r>
              <a:rPr lang="en" altLang="zh-CN" sz="2400" dirty="0" err="1"/>
              <a:t>tty</a:t>
            </a:r>
            <a:r>
              <a:rPr lang="zh-CN" altLang="en" sz="2400" dirty="0"/>
              <a:t>、</a:t>
            </a:r>
            <a:r>
              <a:rPr lang="en" altLang="zh-CN" sz="2400" dirty="0"/>
              <a:t>poll</a:t>
            </a:r>
            <a:r>
              <a:rPr lang="zh-CN" altLang="en" sz="2400" dirty="0"/>
              <a:t>、</a:t>
            </a:r>
            <a:r>
              <a:rPr lang="en" altLang="zh-CN" sz="2400" dirty="0"/>
              <a:t>fs IO </a:t>
            </a:r>
            <a:r>
              <a:rPr lang="zh-CN" altLang="en-US" sz="2400" dirty="0"/>
              <a:t>在锁内触发 缺页</a:t>
            </a:r>
            <a:r>
              <a:rPr lang="zh-CN" altLang="en" sz="2400" dirty="0"/>
              <a:t>。</a:t>
            </a:r>
          </a:p>
          <a:p>
            <a:pPr algn="l"/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52551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E34BF91E-252C-17BC-6981-0CAEB3325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18">
            <a:extLst>
              <a:ext uri="{FF2B5EF4-FFF2-40B4-BE49-F238E27FC236}">
                <a16:creationId xmlns:a16="http://schemas.microsoft.com/office/drawing/2014/main" id="{C173A5F6-E387-4943-5AF8-62602D9F4B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23631" y="-7286244"/>
            <a:ext cx="26896701" cy="268047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4D56B17-3245-7251-8CA1-9ABD521AFE70}"/>
              </a:ext>
            </a:extLst>
          </p:cNvPr>
          <p:cNvSpPr txBox="1"/>
          <p:nvPr/>
        </p:nvSpPr>
        <p:spPr>
          <a:xfrm>
            <a:off x="322489" y="319641"/>
            <a:ext cx="13446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问题五：</a:t>
            </a:r>
            <a:r>
              <a:rPr lang="en" altLang="zh-CN" sz="3200" b="1" dirty="0" err="1"/>
              <a:t>ostool</a:t>
            </a:r>
            <a:r>
              <a:rPr lang="en" altLang="zh-CN" sz="3200" b="1" dirty="0"/>
              <a:t> </a:t>
            </a:r>
            <a:r>
              <a:rPr lang="zh-CN" altLang="en-US" sz="3200" b="1" dirty="0"/>
              <a:t>‘</a:t>
            </a:r>
            <a:r>
              <a:rPr lang="en" altLang="zh-CN" sz="3200" b="1" dirty="0" err="1"/>
              <a:t>axpanic</a:t>
            </a:r>
            <a:r>
              <a:rPr lang="en-US" altLang="zh-CN" sz="3200" b="1" dirty="0"/>
              <a:t>’</a:t>
            </a:r>
            <a:r>
              <a:rPr lang="en" altLang="zh-CN" sz="3200" b="1" dirty="0"/>
              <a:t> </a:t>
            </a:r>
            <a:r>
              <a:rPr lang="zh-CN" altLang="en-US" sz="3200" b="1" dirty="0"/>
              <a:t>误判</a:t>
            </a:r>
            <a:endParaRPr lang="zh-CN" altLang="en-US" sz="3200" dirty="0"/>
          </a:p>
          <a:p>
            <a:pPr>
              <a:defRPr/>
            </a:pPr>
            <a:endParaRPr lang="zh-CN" altLang="en-US" sz="2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78F47C-9B46-17CE-C728-53DE29F519D0}"/>
              </a:ext>
            </a:extLst>
          </p:cNvPr>
          <p:cNvSpPr txBox="1"/>
          <p:nvPr/>
        </p:nvSpPr>
        <p:spPr>
          <a:xfrm>
            <a:off x="893210" y="1685997"/>
            <a:ext cx="17531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问题描述：旧版</a:t>
            </a:r>
            <a:r>
              <a:rPr lang="en-US" altLang="zh-CN" sz="2400" dirty="0"/>
              <a:t> </a:t>
            </a:r>
            <a:r>
              <a:rPr lang="en-US" altLang="zh-CN" sz="2400" dirty="0" err="1"/>
              <a:t>ostool</a:t>
            </a:r>
            <a:r>
              <a:rPr lang="zh-CN" altLang="en-US" sz="2400" dirty="0"/>
              <a:t> 识别到 </a:t>
            </a:r>
            <a:r>
              <a:rPr lang="en-US" altLang="zh-CN" sz="2400" dirty="0"/>
              <a:t>panic</a:t>
            </a:r>
            <a:r>
              <a:rPr lang="zh-CN" altLang="en-US" sz="2400" dirty="0"/>
              <a:t> 即报错终止</a:t>
            </a:r>
            <a:r>
              <a:rPr lang="en-US" altLang="zh-CN" sz="2400" dirty="0"/>
              <a:t> </a:t>
            </a:r>
            <a:r>
              <a:rPr lang="zh-CN" altLang="en-US" sz="2400" dirty="0"/>
              <a:t>整个</a:t>
            </a:r>
            <a:r>
              <a:rPr lang="en-US" altLang="zh-CN" sz="2400" dirty="0"/>
              <a:t> guest</a:t>
            </a:r>
            <a:r>
              <a:rPr lang="zh-CN" altLang="en-US" sz="2400" dirty="0"/>
              <a:t> </a:t>
            </a:r>
            <a:r>
              <a:rPr lang="en-US" altLang="zh-CN" sz="2400" dirty="0" err="1"/>
              <a:t>os</a:t>
            </a:r>
            <a:r>
              <a:rPr lang="zh-CN" altLang="en-US" sz="2400" dirty="0"/>
              <a:t>，但是编译的时候需要编译</a:t>
            </a:r>
            <a:r>
              <a:rPr lang="en-US" altLang="zh-CN" sz="2400" dirty="0"/>
              <a:t> </a:t>
            </a:r>
            <a:r>
              <a:rPr lang="en-US" altLang="zh-CN" sz="2400" dirty="0" err="1"/>
              <a:t>axpanic</a:t>
            </a:r>
            <a:r>
              <a:rPr lang="en-US" altLang="zh-CN" sz="2400" dirty="0"/>
              <a:t> </a:t>
            </a:r>
            <a:r>
              <a:rPr lang="zh-CN" altLang="en-US" sz="2400" dirty="0"/>
              <a:t>库，会造成误报</a:t>
            </a:r>
            <a:endParaRPr lang="zh-CN" altLang="en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9C4072-4AF2-B1C3-82C8-E957C36F9313}"/>
              </a:ext>
            </a:extLst>
          </p:cNvPr>
          <p:cNvSpPr txBox="1"/>
          <p:nvPr/>
        </p:nvSpPr>
        <p:spPr>
          <a:xfrm>
            <a:off x="893210" y="4033813"/>
            <a:ext cx="175318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" sz="2400" dirty="0"/>
              <a:t>报错</a:t>
            </a:r>
            <a:r>
              <a:rPr kumimoji="1" lang="zh-CN" altLang="en-US" sz="2400" dirty="0"/>
              <a:t>原文：</a:t>
            </a:r>
            <a:endParaRPr kumimoji="1" lang="en" altLang="zh-CN" sz="2400" dirty="0"/>
          </a:p>
          <a:p>
            <a:r>
              <a:rPr kumimoji="1" lang="en" altLang="zh-CN" sz="2400" dirty="0"/>
              <a:t>	</a:t>
            </a:r>
            <a:r>
              <a:rPr lang="en" altLang="zh-CN" sz="2400" dirty="0"/>
              <a:t>Compiling </a:t>
            </a:r>
            <a:r>
              <a:rPr lang="en" altLang="zh-CN" sz="2400" b="1" dirty="0" err="1"/>
              <a:t>axpanic</a:t>
            </a:r>
            <a:r>
              <a:rPr lang="en" altLang="zh-CN" sz="2400" dirty="0"/>
              <a:t> v0.1.0 (/opt/</a:t>
            </a:r>
            <a:r>
              <a:rPr lang="en" altLang="zh-CN" sz="2400" dirty="0" err="1"/>
              <a:t>tgoskits</a:t>
            </a:r>
            <a:r>
              <a:rPr lang="en" altLang="zh-CN" sz="2400" dirty="0"/>
              <a:t>/components/</a:t>
            </a:r>
            <a:r>
              <a:rPr lang="en" altLang="zh-CN" sz="2400" dirty="0" err="1"/>
              <a:t>axpanic</a:t>
            </a:r>
            <a:r>
              <a:rPr lang="en" altLang="zh-CN" sz="2400" dirty="0"/>
              <a:t>)</a:t>
            </a:r>
          </a:p>
          <a:p>
            <a:r>
              <a:rPr lang="en" altLang="zh-CN" sz="2400" dirty="0"/>
              <a:t>	=== FAIL PATTERN MATCHED: (?</a:t>
            </a:r>
            <a:r>
              <a:rPr lang="en" altLang="zh-CN" sz="2400" dirty="0" err="1"/>
              <a:t>i</a:t>
            </a:r>
            <a:r>
              <a:rPr lang="en" altLang="zh-CN" sz="2400" dirty="0"/>
              <a:t>)\</a:t>
            </a:r>
            <a:r>
              <a:rPr lang="en" altLang="zh-CN" sz="2400" dirty="0" err="1"/>
              <a:t>bpanic</a:t>
            </a:r>
            <a:r>
              <a:rPr lang="en" altLang="zh-CN" sz="2400" dirty="0"/>
              <a:t>(?:ked)?\b</a:t>
            </a:r>
          </a:p>
          <a:p>
            <a:r>
              <a:rPr lang="en" altLang="zh-CN" sz="2400" dirty="0"/>
              <a:t>	</a:t>
            </a:r>
            <a:r>
              <a:rPr lang="en" altLang="zh-CN" sz="2400" b="1" dirty="0"/>
              <a:t>Error: Fail </a:t>
            </a:r>
            <a:r>
              <a:rPr lang="en" altLang="zh-CN" sz="2400" dirty="0"/>
              <a:t>pattern matched '(?</a:t>
            </a:r>
            <a:r>
              <a:rPr lang="en" altLang="zh-CN" sz="2400" dirty="0" err="1"/>
              <a:t>i</a:t>
            </a:r>
            <a:r>
              <a:rPr lang="en" altLang="zh-CN" sz="2400" dirty="0"/>
              <a:t>)\</a:t>
            </a:r>
            <a:r>
              <a:rPr lang="en" altLang="zh-CN" sz="2400" dirty="0" err="1"/>
              <a:t>bpanic</a:t>
            </a:r>
            <a:r>
              <a:rPr lang="en" altLang="zh-CN" sz="2400" dirty="0"/>
              <a:t>(?:ked)?\b': panic v0.1.0 (/opt/</a:t>
            </a:r>
            <a:r>
              <a:rPr lang="en" altLang="zh-CN" sz="2400" dirty="0" err="1"/>
              <a:t>tgoskits</a:t>
            </a:r>
            <a:r>
              <a:rPr lang="en" altLang="zh-CN" sz="2400" dirty="0"/>
              <a:t>/components/</a:t>
            </a:r>
            <a:r>
              <a:rPr lang="en" altLang="zh-CN" sz="2400" dirty="0" err="1"/>
              <a:t>axpanic</a:t>
            </a:r>
            <a:r>
              <a:rPr lang="en" altLang="zh-CN" sz="2400" dirty="0"/>
              <a:t>)</a:t>
            </a:r>
          </a:p>
          <a:p>
            <a:pPr algn="l"/>
            <a:endParaRPr kumimoji="1"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D864CA-43CA-D497-57EE-51E19D899203}"/>
              </a:ext>
            </a:extLst>
          </p:cNvPr>
          <p:cNvSpPr txBox="1"/>
          <p:nvPr/>
        </p:nvSpPr>
        <p:spPr>
          <a:xfrm>
            <a:off x="893210" y="6889460"/>
            <a:ext cx="166386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修复方向：</a:t>
            </a:r>
          </a:p>
          <a:p>
            <a:endParaRPr lang="zh-CN" altLang="en-US" sz="2400" dirty="0"/>
          </a:p>
          <a:p>
            <a:r>
              <a:rPr lang="en-US" altLang="zh-CN" sz="2400" dirty="0"/>
              <a:t>	</a:t>
            </a:r>
            <a:r>
              <a:rPr lang="en" altLang="zh-CN" sz="2400" dirty="0"/>
              <a:t>QEMU </a:t>
            </a:r>
            <a:r>
              <a:rPr lang="zh-CN" altLang="en-US" sz="2400" dirty="0"/>
              <a:t>配置里保留明确的真实 </a:t>
            </a:r>
            <a:r>
              <a:rPr lang="en" altLang="zh-CN" sz="2400" dirty="0"/>
              <a:t>panic/</a:t>
            </a:r>
            <a:r>
              <a:rPr lang="en" altLang="zh-CN" sz="2400" dirty="0" err="1"/>
              <a:t>segfault</a:t>
            </a:r>
            <a:r>
              <a:rPr lang="en" altLang="zh-CN" sz="2400" dirty="0"/>
              <a:t>/assertion </a:t>
            </a:r>
            <a:r>
              <a:rPr lang="zh-CN" altLang="en-US" sz="2400" dirty="0"/>
              <a:t>规则，例如 </a:t>
            </a:r>
            <a:r>
              <a:rPr lang="en-US" altLang="zh-CN" sz="2400" dirty="0"/>
              <a:t>`</a:t>
            </a:r>
            <a:r>
              <a:rPr lang="en" altLang="zh-CN" sz="2400" dirty="0"/>
              <a:t>panicked at`</a:t>
            </a:r>
            <a:r>
              <a:rPr lang="zh-CN" altLang="en" sz="2400" dirty="0"/>
              <a:t>、</a:t>
            </a:r>
            <a:r>
              <a:rPr lang="en" altLang="zh-CN" sz="2400" dirty="0"/>
              <a:t>`kernel panic`</a:t>
            </a:r>
            <a:r>
              <a:rPr lang="zh-CN" altLang="en" sz="2400" dirty="0"/>
              <a:t>、</a:t>
            </a:r>
            <a:r>
              <a:rPr lang="en" altLang="zh-CN" sz="2400" dirty="0"/>
              <a:t>`	signal: 11` </a:t>
            </a:r>
            <a:r>
              <a:rPr lang="zh-CN" altLang="en-US" sz="2400" dirty="0"/>
              <a:t>等。而不是单纯识别 </a:t>
            </a:r>
            <a:r>
              <a:rPr lang="en-US" altLang="zh-CN" sz="2400" dirty="0"/>
              <a:t>“panic” </a:t>
            </a:r>
            <a:r>
              <a:rPr lang="zh-CN" altLang="en-US" sz="2400" dirty="0"/>
              <a:t>这个单词</a:t>
            </a:r>
          </a:p>
          <a:p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18845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755B3AF8-C9B3-C1B3-8DCB-7FC42751E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18">
            <a:extLst>
              <a:ext uri="{FF2B5EF4-FFF2-40B4-BE49-F238E27FC236}">
                <a16:creationId xmlns:a16="http://schemas.microsoft.com/office/drawing/2014/main" id="{498C72AD-36F9-D2E8-87C9-596F4EB802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705920" y="-3115387"/>
            <a:ext cx="26896701" cy="268047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9527520-3743-BFB9-ADBC-6729DABA3367}"/>
              </a:ext>
            </a:extLst>
          </p:cNvPr>
          <p:cNvSpPr txBox="1"/>
          <p:nvPr/>
        </p:nvSpPr>
        <p:spPr>
          <a:xfrm>
            <a:off x="322489" y="319641"/>
            <a:ext cx="13446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问题五：</a:t>
            </a:r>
            <a:r>
              <a:rPr lang="en" altLang="zh-CN" sz="3200" b="1" dirty="0"/>
              <a:t>ELF loader / rust-</a:t>
            </a:r>
            <a:r>
              <a:rPr lang="en" altLang="zh-CN" sz="3200" b="1" dirty="0" err="1"/>
              <a:t>lld</a:t>
            </a:r>
            <a:r>
              <a:rPr lang="en" altLang="zh-CN" sz="3200" b="1" dirty="0"/>
              <a:t> </a:t>
            </a:r>
            <a:r>
              <a:rPr lang="zh-CN" altLang="en-US" sz="3200" b="1" dirty="0"/>
              <a:t>映射</a:t>
            </a:r>
          </a:p>
          <a:p>
            <a:pPr>
              <a:defRPr/>
            </a:pPr>
            <a:endParaRPr lang="zh-CN" altLang="en-US" sz="2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825700-49A3-23EC-FAC2-20957F7BCE70}"/>
              </a:ext>
            </a:extLst>
          </p:cNvPr>
          <p:cNvSpPr txBox="1"/>
          <p:nvPr/>
        </p:nvSpPr>
        <p:spPr>
          <a:xfrm>
            <a:off x="1658919" y="1178683"/>
            <a:ext cx="15151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问题描述：在编译即将完成的时候出现的报错：</a:t>
            </a:r>
            <a:r>
              <a:rPr lang="en" altLang="zh-CN" sz="2400" dirty="0"/>
              <a:t>rust-</a:t>
            </a:r>
            <a:r>
              <a:rPr lang="en" altLang="zh-CN" sz="2400" dirty="0" err="1"/>
              <a:t>lld</a:t>
            </a:r>
            <a:r>
              <a:rPr lang="en" altLang="zh-CN" sz="2400" dirty="0"/>
              <a:t> </a:t>
            </a:r>
            <a:r>
              <a:rPr lang="zh-CN" altLang="en-US" sz="2400" dirty="0"/>
              <a:t>在最终的链接阶段出现段错误崩溃。表明</a:t>
            </a:r>
            <a:r>
              <a:rPr lang="en" altLang="zh-CN" sz="2400" dirty="0"/>
              <a:t>rust-</a:t>
            </a:r>
            <a:r>
              <a:rPr lang="en" altLang="zh-CN" sz="2400" dirty="0" err="1"/>
              <a:t>lld</a:t>
            </a:r>
            <a:r>
              <a:rPr lang="zh-CN" altLang="en-US" sz="2400" dirty="0"/>
              <a:t>读到了坏文件对象或者出现了内存不一致的现象。</a:t>
            </a:r>
            <a:br>
              <a:rPr lang="zh-CN" altLang="en-US" sz="2400" dirty="0"/>
            </a:b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1D1FF5E-792C-6975-7615-273F7DB26256}"/>
              </a:ext>
            </a:extLst>
          </p:cNvPr>
          <p:cNvSpPr txBox="1"/>
          <p:nvPr/>
        </p:nvSpPr>
        <p:spPr>
          <a:xfrm>
            <a:off x="1658919" y="2242384"/>
            <a:ext cx="175318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" sz="2400" dirty="0"/>
              <a:t>报错</a:t>
            </a:r>
            <a:r>
              <a:rPr kumimoji="1" lang="zh-CN" altLang="en-US" sz="2400" dirty="0"/>
              <a:t>原文：</a:t>
            </a:r>
            <a:endParaRPr kumimoji="1" lang="en" altLang="zh-CN" sz="2400" dirty="0"/>
          </a:p>
          <a:p>
            <a:r>
              <a:rPr kumimoji="1" lang="en" altLang="zh-CN" sz="2400" dirty="0"/>
              <a:t>	</a:t>
            </a:r>
            <a:r>
              <a:rPr lang="en" altLang="zh-CN" sz="2400" dirty="0"/>
              <a:t>Building [=======================&gt; ] 419/420: </a:t>
            </a:r>
            <a:r>
              <a:rPr lang="en" altLang="zh-CN" sz="2400" dirty="0" err="1"/>
              <a:t>starryos</a:t>
            </a:r>
            <a:r>
              <a:rPr lang="en" altLang="zh-CN" sz="2400" dirty="0"/>
              <a:t>(bin)</a:t>
            </a:r>
          </a:p>
          <a:p>
            <a:r>
              <a:rPr lang="en" altLang="zh-CN" sz="2400" dirty="0"/>
              <a:t>	error: linking with `rust-</a:t>
            </a:r>
            <a:r>
              <a:rPr lang="en" altLang="zh-CN" sz="2400" dirty="0" err="1"/>
              <a:t>lld</a:t>
            </a:r>
            <a:r>
              <a:rPr lang="en" altLang="zh-CN" sz="2400" dirty="0"/>
              <a:t>` failed: signal: 11</a:t>
            </a:r>
          </a:p>
          <a:p>
            <a:r>
              <a:rPr lang="en" altLang="zh-CN" sz="2400" dirty="0"/>
              <a:t>	=== FAIL PATTERN MATCHED: (?</a:t>
            </a:r>
            <a:r>
              <a:rPr lang="en" altLang="zh-CN" sz="2400" dirty="0" err="1"/>
              <a:t>i</a:t>
            </a:r>
            <a:r>
              <a:rPr lang="en" altLang="zh-CN" sz="2400" dirty="0"/>
              <a:t>)signal:\s*11</a:t>
            </a:r>
          </a:p>
          <a:p>
            <a:r>
              <a:rPr lang="en" altLang="zh-CN" sz="2400" dirty="0"/>
              <a:t>	===STARRY-MACOS-SELFBUILD-END jobs=8 </a:t>
            </a:r>
            <a:r>
              <a:rPr lang="en" altLang="zh-CN" sz="2400" dirty="0" err="1"/>
              <a:t>rc</a:t>
            </a:r>
            <a:r>
              <a:rPr lang="en" altLang="zh-CN" sz="2400" dirty="0"/>
              <a:t>=101 elapsed=633===</a:t>
            </a:r>
          </a:p>
          <a:p>
            <a:pPr algn="l"/>
            <a:endParaRPr kumimoji="1"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645704-4009-565B-7532-01A81B8D0692}"/>
              </a:ext>
            </a:extLst>
          </p:cNvPr>
          <p:cNvSpPr txBox="1"/>
          <p:nvPr/>
        </p:nvSpPr>
        <p:spPr>
          <a:xfrm>
            <a:off x="1658919" y="7575561"/>
            <a:ext cx="155859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修复方向：</a:t>
            </a:r>
          </a:p>
          <a:p>
            <a:r>
              <a:rPr lang="en-US" altLang="zh-CN" sz="2400" dirty="0"/>
              <a:t>	</a:t>
            </a:r>
            <a:r>
              <a:rPr lang="en" altLang="zh-CN" sz="2400" dirty="0" err="1"/>
              <a:t>StarryOS</a:t>
            </a:r>
            <a:r>
              <a:rPr lang="en" altLang="zh-CN" sz="2400" dirty="0"/>
              <a:t> loader </a:t>
            </a:r>
            <a:r>
              <a:rPr lang="zh-CN" altLang="en-US" sz="2400" dirty="0"/>
              <a:t>自己构造更完整的 </a:t>
            </a:r>
            <a:r>
              <a:rPr lang="en" altLang="zh-CN" sz="2400" dirty="0"/>
              <a:t>initial stack / </a:t>
            </a:r>
            <a:r>
              <a:rPr lang="en" altLang="zh-CN" sz="2400" dirty="0" err="1"/>
              <a:t>auxv</a:t>
            </a:r>
            <a:r>
              <a:rPr lang="zh-CN" altLang="en" sz="2400" dirty="0"/>
              <a:t>。</a:t>
            </a:r>
          </a:p>
          <a:p>
            <a:r>
              <a:rPr lang="en" altLang="zh-CN" sz="2400" dirty="0"/>
              <a:t>	</a:t>
            </a:r>
            <a:r>
              <a:rPr lang="zh-CN" altLang="en-US" sz="2400" dirty="0"/>
              <a:t>补齐 </a:t>
            </a:r>
            <a:r>
              <a:rPr lang="en-US" altLang="zh-CN" sz="2400" dirty="0"/>
              <a:t>`</a:t>
            </a:r>
            <a:r>
              <a:rPr lang="en" altLang="zh-CN" sz="2400" dirty="0"/>
              <a:t>AT_NULL`</a:t>
            </a:r>
            <a:r>
              <a:rPr lang="zh-CN" altLang="en" sz="2400" dirty="0"/>
              <a:t>、</a:t>
            </a:r>
            <a:r>
              <a:rPr lang="en" altLang="zh-CN" sz="2400" dirty="0"/>
              <a:t>`AT_RANDOM`</a:t>
            </a:r>
            <a:r>
              <a:rPr lang="zh-CN" altLang="en" sz="2400" dirty="0"/>
              <a:t>、</a:t>
            </a:r>
            <a:r>
              <a:rPr lang="en" altLang="zh-CN" sz="2400" dirty="0"/>
              <a:t>`AT_EXECFN` </a:t>
            </a:r>
            <a:r>
              <a:rPr lang="zh-CN" altLang="en-US" sz="2400" dirty="0"/>
              <a:t>等关键 </a:t>
            </a:r>
            <a:r>
              <a:rPr lang="en" altLang="zh-CN" sz="2400" dirty="0" err="1"/>
              <a:t>auxv</a:t>
            </a:r>
            <a:r>
              <a:rPr lang="en" altLang="zh-CN" sz="2400" dirty="0"/>
              <a:t> </a:t>
            </a:r>
            <a:r>
              <a:rPr lang="zh-CN" altLang="en-US" sz="2400" dirty="0"/>
              <a:t>行为。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对 </a:t>
            </a:r>
            <a:r>
              <a:rPr lang="en" altLang="zh-CN" sz="2400" dirty="0"/>
              <a:t>writable LOAD segment </a:t>
            </a:r>
            <a:r>
              <a:rPr lang="zh-CN" altLang="en-US" sz="2400" dirty="0"/>
              <a:t>同时授予 </a:t>
            </a:r>
            <a:r>
              <a:rPr lang="en" altLang="zh-CN" sz="2400" dirty="0"/>
              <a:t>READ</a:t>
            </a:r>
            <a:r>
              <a:rPr lang="zh-CN" altLang="en" sz="2400" dirty="0"/>
              <a:t>。</a:t>
            </a:r>
          </a:p>
          <a:p>
            <a:r>
              <a:rPr lang="en" altLang="zh-CN" sz="2400" dirty="0"/>
              <a:t>	</a:t>
            </a:r>
            <a:r>
              <a:rPr lang="zh-CN" altLang="en-US" sz="2400" dirty="0"/>
              <a:t>处理 </a:t>
            </a:r>
            <a:r>
              <a:rPr lang="en" altLang="zh-CN" sz="2400" dirty="0"/>
              <a:t>TLS </a:t>
            </a:r>
            <a:r>
              <a:rPr lang="zh-CN" altLang="en-US" sz="2400" dirty="0"/>
              <a:t>与最后一个 </a:t>
            </a:r>
            <a:r>
              <a:rPr lang="en" altLang="zh-CN" sz="2400" dirty="0"/>
              <a:t>LOAD segment </a:t>
            </a:r>
            <a:r>
              <a:rPr lang="zh-CN" altLang="en-US" sz="2400" dirty="0"/>
              <a:t>的文件范围关系。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更新用户空间 </a:t>
            </a:r>
            <a:r>
              <a:rPr lang="en" altLang="zh-CN" sz="2400" dirty="0"/>
              <a:t>layout </a:t>
            </a:r>
            <a:r>
              <a:rPr lang="zh-CN" altLang="en-US" sz="2400" dirty="0"/>
              <a:t>配置。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修复 </a:t>
            </a:r>
            <a:r>
              <a:rPr lang="en" altLang="zh-CN" sz="2400" dirty="0" err="1"/>
              <a:t>axfs</a:t>
            </a:r>
            <a:r>
              <a:rPr lang="en" altLang="zh-CN" sz="2400" dirty="0"/>
              <a:t>-ng </a:t>
            </a:r>
            <a:r>
              <a:rPr lang="zh-CN" altLang="en-US" sz="2400" dirty="0"/>
              <a:t>高层文件读取</a:t>
            </a:r>
            <a:r>
              <a:rPr lang="en-US" altLang="zh-CN" sz="2400" dirty="0"/>
              <a:t>/</a:t>
            </a:r>
            <a:r>
              <a:rPr lang="en" altLang="zh-CN" sz="2400" dirty="0"/>
              <a:t>mapping </a:t>
            </a:r>
            <a:r>
              <a:rPr lang="zh-CN" altLang="en-US" sz="2400" dirty="0"/>
              <a:t>行为，使 </a:t>
            </a:r>
            <a:r>
              <a:rPr lang="en" altLang="zh-CN" sz="2400" dirty="0"/>
              <a:t>ELF COW backend </a:t>
            </a:r>
            <a:r>
              <a:rPr lang="zh-CN" altLang="en-US" sz="2400" dirty="0"/>
              <a:t>能支撑 </a:t>
            </a:r>
            <a:r>
              <a:rPr lang="en" altLang="zh-CN" sz="2400" dirty="0"/>
              <a:t>rust-</a:t>
            </a:r>
            <a:r>
              <a:rPr lang="en" altLang="zh-CN" sz="2400" dirty="0" err="1"/>
              <a:t>lld</a:t>
            </a:r>
            <a:r>
              <a:rPr lang="en" altLang="zh-CN" sz="2400" dirty="0"/>
              <a:t> </a:t>
            </a:r>
            <a:r>
              <a:rPr lang="zh-CN" altLang="en-US" sz="2400" dirty="0"/>
              <a:t>的访问模式。</a:t>
            </a:r>
          </a:p>
          <a:p>
            <a:endParaRPr kumimoji="1"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CA2FCE-8383-FF6C-18DB-096ED3C793BF}"/>
              </a:ext>
            </a:extLst>
          </p:cNvPr>
          <p:cNvSpPr txBox="1"/>
          <p:nvPr/>
        </p:nvSpPr>
        <p:spPr>
          <a:xfrm>
            <a:off x="1658919" y="4442683"/>
            <a:ext cx="136396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" sz="2400" dirty="0"/>
              <a:t>日志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rust-</a:t>
            </a:r>
            <a:r>
              <a:rPr kumimoji="1" lang="en-US" altLang="zh-CN" sz="2400" dirty="0" err="1"/>
              <a:t>lld</a:t>
            </a:r>
            <a:r>
              <a:rPr kumimoji="1" lang="zh-CN" altLang="en-US" sz="2400" dirty="0"/>
              <a:t> 加载时缺页错误</a:t>
            </a:r>
            <a:endParaRPr kumimoji="1" lang="en" altLang="zh-CN" sz="2400" dirty="0"/>
          </a:p>
          <a:p>
            <a:pPr algn="l"/>
            <a:r>
              <a:rPr kumimoji="1" lang="en" altLang="zh-CN" sz="2400" dirty="0" err="1"/>
              <a:t>ip</a:t>
            </a:r>
            <a:r>
              <a:rPr kumimoji="1" lang="en" altLang="zh-CN" sz="2400" dirty="0"/>
              <a:t>=0x49724</a:t>
            </a:r>
          </a:p>
          <a:p>
            <a:pPr algn="l"/>
            <a:r>
              <a:rPr kumimoji="1" lang="en" altLang="zh-CN" sz="2400" dirty="0" err="1"/>
              <a:t>addr</a:t>
            </a:r>
            <a:r>
              <a:rPr kumimoji="1" lang="en" altLang="zh-CN" sz="2400" dirty="0"/>
              <a:t>=VA:0x49724</a:t>
            </a:r>
          </a:p>
          <a:p>
            <a:pPr algn="l"/>
            <a:r>
              <a:rPr kumimoji="1" lang="en" altLang="zh-CN" sz="2400" dirty="0"/>
              <a:t>flags=EXECUTE | USER</a:t>
            </a:r>
          </a:p>
          <a:p>
            <a:pPr algn="l"/>
            <a:r>
              <a:rPr kumimoji="1" lang="en" altLang="zh-CN" sz="2400" dirty="0"/>
              <a:t>next=Some((VA:0x400000, VA:0x7f2a000, READ | EXECUTE | USER, Size4K))</a:t>
            </a:r>
          </a:p>
          <a:p>
            <a:pPr algn="l"/>
            <a:r>
              <a:rPr kumimoji="1" lang="zh-CN" altLang="en" sz="2400" dirty="0"/>
              <a:t>分析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0x49724</a:t>
            </a:r>
            <a:r>
              <a:rPr kumimoji="1" lang="zh-CN" altLang="en-US" sz="2400" dirty="0"/>
              <a:t> 这不是一个可执行的位置，看起来像是没有加上 </a:t>
            </a:r>
            <a:r>
              <a:rPr kumimoji="1" lang="en-US" altLang="zh-CN" sz="2400" dirty="0" err="1"/>
              <a:t>base_offset</a:t>
            </a:r>
            <a:r>
              <a:rPr kumimoji="1" lang="en-US" altLang="zh-CN" sz="2400" dirty="0"/>
              <a:t> 0x400_0000,</a:t>
            </a:r>
            <a:r>
              <a:rPr kumimoji="1" lang="zh-CN" altLang="en-US" sz="2400" dirty="0"/>
              <a:t>需要的位置更像是</a:t>
            </a:r>
            <a:r>
              <a:rPr kumimoji="1" lang="en-US" altLang="zh-CN" sz="2400" dirty="0"/>
              <a:t> 0x449724</a:t>
            </a:r>
            <a:r>
              <a:rPr kumimoji="1" lang="zh-CN" altLang="en-US" sz="2400" dirty="0"/>
              <a:t>，所以向</a:t>
            </a:r>
            <a:r>
              <a:rPr kumimoji="1" lang="en-US" altLang="zh-CN" sz="2400" dirty="0"/>
              <a:t> ELF</a:t>
            </a:r>
            <a:r>
              <a:rPr kumimoji="1" lang="zh-CN" altLang="en-US" sz="2400" dirty="0"/>
              <a:t> 加载的部分进一步排查</a:t>
            </a:r>
            <a:endParaRPr kumimoji="1" lang="en" altLang="zh-CN" sz="2400" dirty="0"/>
          </a:p>
          <a:p>
            <a:pPr algn="l"/>
            <a:endParaRPr kumimoji="1" lang="en" altLang="zh-CN" sz="2400" dirty="0"/>
          </a:p>
          <a:p>
            <a:pPr algn="l"/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2877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EA3ABB98-4EEA-5891-EDDD-82E2E5C7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18">
            <a:extLst>
              <a:ext uri="{FF2B5EF4-FFF2-40B4-BE49-F238E27FC236}">
                <a16:creationId xmlns:a16="http://schemas.microsoft.com/office/drawing/2014/main" id="{2816E1A3-7C7F-3971-9E2B-7177BB2E97F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24756" y="-5527343"/>
            <a:ext cx="26896701" cy="268047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5CA8104-7011-09FA-9281-6FDD857E62AD}"/>
              </a:ext>
            </a:extLst>
          </p:cNvPr>
          <p:cNvSpPr txBox="1"/>
          <p:nvPr/>
        </p:nvSpPr>
        <p:spPr>
          <a:xfrm>
            <a:off x="322489" y="319641"/>
            <a:ext cx="134465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问题六：</a:t>
            </a:r>
            <a:r>
              <a:rPr lang="en-US" altLang="zh-CN" sz="3200" b="1" dirty="0" err="1"/>
              <a:t>membarrier</a:t>
            </a:r>
            <a:r>
              <a:rPr lang="zh-CN" altLang="en-US" sz="3200" b="1" dirty="0"/>
              <a:t> 语义错误</a:t>
            </a:r>
            <a:endParaRPr lang="zh-CN" altLang="en-US" sz="2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CDDB94-77CB-C479-B4D8-FC22B5D48972}"/>
              </a:ext>
            </a:extLst>
          </p:cNvPr>
          <p:cNvSpPr txBox="1"/>
          <p:nvPr/>
        </p:nvSpPr>
        <p:spPr>
          <a:xfrm>
            <a:off x="556742" y="1385422"/>
            <a:ext cx="175318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sz="2400" dirty="0"/>
              <a:t>问题</a:t>
            </a:r>
            <a:r>
              <a:rPr lang="zh-CN" altLang="en-US" sz="2400" dirty="0"/>
              <a:t>描述：</a:t>
            </a:r>
            <a:r>
              <a:rPr lang="en" altLang="zh-CN" sz="2400" dirty="0" err="1"/>
              <a:t>StarryOS</a:t>
            </a:r>
            <a:r>
              <a:rPr lang="en" altLang="zh-CN" sz="2400" dirty="0"/>
              <a:t> </a:t>
            </a:r>
            <a:r>
              <a:rPr lang="zh-CN" altLang="en-US" sz="2400" dirty="0"/>
              <a:t>当前的 </a:t>
            </a:r>
            <a:r>
              <a:rPr lang="en" altLang="zh-CN" sz="2400" dirty="0" err="1"/>
              <a:t>membarrier</a:t>
            </a:r>
            <a:r>
              <a:rPr lang="en" altLang="zh-CN" sz="2400" dirty="0"/>
              <a:t> </a:t>
            </a:r>
            <a:r>
              <a:rPr lang="zh-CN" altLang="en-US" sz="2400" dirty="0"/>
              <a:t>命令号实现使用了连续整数 </a:t>
            </a:r>
            <a:r>
              <a:rPr lang="en-US" altLang="zh-CN" sz="2400" dirty="0"/>
              <a:t>0..5</a:t>
            </a:r>
            <a:r>
              <a:rPr lang="zh-CN" altLang="en-US" sz="2400" dirty="0"/>
              <a:t>，并在 </a:t>
            </a:r>
            <a:r>
              <a:rPr lang="en" altLang="zh-CN" sz="2400" dirty="0"/>
              <a:t>QUERY </a:t>
            </a:r>
            <a:r>
              <a:rPr lang="zh-CN" altLang="en-US" sz="2400" dirty="0"/>
              <a:t>返回值中使用 </a:t>
            </a:r>
            <a:r>
              <a:rPr lang="en-US" altLang="zh-CN" sz="2400" dirty="0"/>
              <a:t>1 &lt;&lt; </a:t>
            </a:r>
            <a:r>
              <a:rPr lang="en" altLang="zh-CN" sz="2400" dirty="0" err="1"/>
              <a:t>cmd</a:t>
            </a:r>
            <a:r>
              <a:rPr lang="en" altLang="zh-CN" sz="2400" dirty="0"/>
              <a:t> </a:t>
            </a:r>
            <a:r>
              <a:rPr lang="zh-CN" altLang="en-US" sz="2400" dirty="0"/>
              <a:t>生成支持掩码。这和 </a:t>
            </a:r>
            <a:r>
              <a:rPr lang="en" altLang="zh-CN" sz="2400" dirty="0"/>
              <a:t>Linux UAPI </a:t>
            </a:r>
            <a:r>
              <a:rPr lang="zh-CN" altLang="en-US" sz="2400" dirty="0"/>
              <a:t>不一致。</a:t>
            </a:r>
          </a:p>
          <a:p>
            <a:r>
              <a:rPr lang="en" altLang="zh-CN" sz="2400" dirty="0" err="1"/>
              <a:t>StarryOS</a:t>
            </a:r>
            <a:r>
              <a:rPr lang="en" altLang="zh-CN" sz="2400" dirty="0"/>
              <a:t> </a:t>
            </a:r>
            <a:r>
              <a:rPr lang="zh-CN" altLang="en-US" sz="2400" dirty="0"/>
              <a:t>原先返回的 </a:t>
            </a:r>
            <a:r>
              <a:rPr lang="en" altLang="zh-CN" sz="2400" dirty="0"/>
              <a:t>QUERY </a:t>
            </a:r>
            <a:r>
              <a:rPr lang="zh-CN" altLang="en-US" sz="2400" dirty="0"/>
              <a:t>掩码是 </a:t>
            </a:r>
            <a:r>
              <a:rPr lang="en-US" altLang="zh-CN" sz="2400" dirty="0"/>
              <a:t>62</a:t>
            </a:r>
            <a:r>
              <a:rPr lang="zh-CN" altLang="en-US" sz="2400" dirty="0"/>
              <a:t>，而符合 </a:t>
            </a:r>
            <a:r>
              <a:rPr lang="en" altLang="zh-CN" sz="2400" dirty="0"/>
              <a:t>Linux UAPI </a:t>
            </a:r>
            <a:r>
              <a:rPr lang="zh-CN" altLang="en-US" sz="2400" dirty="0"/>
              <a:t>的支持掩码应为 </a:t>
            </a:r>
            <a:r>
              <a:rPr lang="en-US" altLang="zh-CN" sz="2400" dirty="0"/>
              <a:t>31</a:t>
            </a:r>
            <a:r>
              <a:rPr lang="zh-CN" altLang="en-US" sz="2400" dirty="0"/>
              <a:t>。这会导致依赖 </a:t>
            </a:r>
            <a:r>
              <a:rPr lang="en" altLang="zh-CN" sz="2400" dirty="0" err="1"/>
              <a:t>membarrier</a:t>
            </a:r>
            <a:r>
              <a:rPr lang="en" altLang="zh-CN" sz="2400" dirty="0"/>
              <a:t> </a:t>
            </a:r>
            <a:r>
              <a:rPr lang="zh-CN" altLang="en-US" sz="2400" dirty="0"/>
              <a:t>查询结果的用户态程序判断错误，进而走到不符合预期的同步路径，从而导致死锁，使得编译无法继续进行</a:t>
            </a:r>
            <a:endParaRPr lang="en-US" altLang="zh-CN" sz="2400" dirty="0"/>
          </a:p>
          <a:p>
            <a:r>
              <a:rPr lang="zh-CN" altLang="en-US" sz="2400" dirty="0"/>
              <a:t>注：该问题是 </a:t>
            </a:r>
            <a:r>
              <a:rPr lang="en-US" altLang="zh-CN" sz="2400" dirty="0"/>
              <a:t>1225</a:t>
            </a:r>
            <a:r>
              <a:rPr lang="zh-CN" altLang="en-US" sz="2400" dirty="0"/>
              <a:t> 号</a:t>
            </a:r>
            <a:r>
              <a:rPr lang="en-US" altLang="zh-CN" sz="2400" dirty="0"/>
              <a:t> PR </a:t>
            </a:r>
            <a:r>
              <a:rPr lang="zh-CN" altLang="en-US" sz="2400" dirty="0"/>
              <a:t> </a:t>
            </a:r>
            <a:r>
              <a:rPr lang="en-US" altLang="zh-CN" sz="2400" dirty="0" err="1"/>
              <a:t>membarrier</a:t>
            </a:r>
            <a:r>
              <a:rPr lang="zh-CN" altLang="en-US" sz="2400" dirty="0"/>
              <a:t> </a:t>
            </a:r>
            <a:r>
              <a:rPr lang="en-US" altLang="zh-CN" sz="2400" dirty="0"/>
              <a:t> </a:t>
            </a:r>
            <a:r>
              <a:rPr lang="zh-CN" altLang="en-US" sz="2400" dirty="0"/>
              <a:t>提交前的一个</a:t>
            </a:r>
            <a:r>
              <a:rPr lang="en-US" altLang="zh-CN" sz="2400" dirty="0"/>
              <a:t> commit</a:t>
            </a:r>
            <a:r>
              <a:rPr lang="zh-CN" altLang="en-US" sz="2400" dirty="0"/>
              <a:t> 出现的，以 </a:t>
            </a:r>
            <a:r>
              <a:rPr lang="en-US" altLang="zh-CN" sz="2400" dirty="0"/>
              <a:t>198 </a:t>
            </a:r>
            <a:r>
              <a:rPr lang="zh-CN" altLang="en-US" sz="2400" dirty="0"/>
              <a:t>号</a:t>
            </a:r>
            <a:r>
              <a:rPr lang="en-US" altLang="zh-CN" sz="2400" dirty="0"/>
              <a:t> PR</a:t>
            </a:r>
            <a:r>
              <a:rPr lang="zh-CN" altLang="en-US" sz="2400" dirty="0"/>
              <a:t> 为基础的分支未出现这个问题，直觉是因为 </a:t>
            </a:r>
            <a:r>
              <a:rPr lang="en-US" altLang="zh-CN" sz="2400" dirty="0"/>
              <a:t>198 </a:t>
            </a:r>
            <a:r>
              <a:rPr lang="zh-CN" altLang="en-US" sz="2400" dirty="0"/>
              <a:t>号 </a:t>
            </a:r>
            <a:r>
              <a:rPr lang="en-US" altLang="zh-CN" sz="2400" dirty="0"/>
              <a:t>PR</a:t>
            </a:r>
            <a:r>
              <a:rPr lang="zh-CN" altLang="en-US" sz="2400" dirty="0"/>
              <a:t> 未使用多核编译，不需要使用</a:t>
            </a:r>
            <a:r>
              <a:rPr lang="en-US" altLang="zh-CN" sz="2400" dirty="0"/>
              <a:t> </a:t>
            </a:r>
            <a:r>
              <a:rPr lang="en-US" altLang="zh-CN" sz="2400" dirty="0" err="1"/>
              <a:t>membarrier</a:t>
            </a:r>
            <a:r>
              <a:rPr lang="zh-CN" altLang="en-US" sz="2400" dirty="0"/>
              <a:t> 进行同步。图一为应用</a:t>
            </a:r>
            <a:r>
              <a:rPr lang="en-US" altLang="zh-CN" sz="2400" dirty="0"/>
              <a:t> CNTV</a:t>
            </a:r>
            <a:r>
              <a:rPr lang="zh-CN" altLang="en-US" sz="2400" dirty="0"/>
              <a:t> </a:t>
            </a:r>
            <a:r>
              <a:rPr lang="en-US" altLang="zh-CN" sz="2400" dirty="0"/>
              <a:t>+</a:t>
            </a:r>
            <a:r>
              <a:rPr lang="zh-CN" altLang="en-US" sz="2400" dirty="0"/>
              <a:t> </a:t>
            </a:r>
            <a:r>
              <a:rPr lang="en-US" altLang="zh-CN" sz="2400" dirty="0"/>
              <a:t>GICv3</a:t>
            </a:r>
            <a:r>
              <a:rPr lang="zh-CN" altLang="en-US" sz="2400" dirty="0"/>
              <a:t> 修改前的错误</a:t>
            </a:r>
            <a:endParaRPr lang="en-US" altLang="zh-CN" sz="2400" dirty="0"/>
          </a:p>
          <a:p>
            <a:endParaRPr lang="zh-CN" altLang="en-US" sz="2400" dirty="0"/>
          </a:p>
          <a:p>
            <a:br>
              <a:rPr lang="zh-CN" altLang="en-US" sz="2400" dirty="0"/>
            </a:b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19FB76-02F4-78E9-A689-BF202324070F}"/>
              </a:ext>
            </a:extLst>
          </p:cNvPr>
          <p:cNvSpPr txBox="1"/>
          <p:nvPr/>
        </p:nvSpPr>
        <p:spPr>
          <a:xfrm>
            <a:off x="545123" y="8603652"/>
            <a:ext cx="171977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修复方向：</a:t>
            </a:r>
          </a:p>
          <a:p>
            <a:endParaRPr lang="zh-CN" altLang="en-US" sz="2400" dirty="0"/>
          </a:p>
          <a:p>
            <a:r>
              <a:rPr lang="en-US" altLang="zh-CN" sz="2400" dirty="0"/>
              <a:t>	1.</a:t>
            </a:r>
            <a:r>
              <a:rPr lang="zh-CN" altLang="en-US" sz="2400" dirty="0"/>
              <a:t>修正 </a:t>
            </a:r>
            <a:r>
              <a:rPr lang="en" altLang="zh-CN" sz="2400" dirty="0" err="1"/>
              <a:t>StarryOS</a:t>
            </a:r>
            <a:r>
              <a:rPr lang="en" altLang="zh-CN" sz="2400" dirty="0"/>
              <a:t> </a:t>
            </a:r>
            <a:r>
              <a:rPr lang="en" altLang="zh-CN" sz="2400" dirty="0" err="1"/>
              <a:t>membarrier</a:t>
            </a:r>
            <a:r>
              <a:rPr lang="en" altLang="zh-CN" sz="2400" dirty="0"/>
              <a:t> </a:t>
            </a:r>
            <a:r>
              <a:rPr lang="zh-CN" altLang="en-US" sz="2400" dirty="0"/>
              <a:t>命令号和查询掩码</a:t>
            </a:r>
          </a:p>
          <a:p>
            <a:r>
              <a:rPr lang="en-US" altLang="zh-CN" sz="2400" dirty="0"/>
              <a:t>	2.</a:t>
            </a:r>
            <a:r>
              <a:rPr lang="zh-CN" altLang="en-US" sz="2400" dirty="0"/>
              <a:t>补齐 </a:t>
            </a:r>
            <a:r>
              <a:rPr lang="en" altLang="zh-CN" sz="2400" dirty="0"/>
              <a:t>GLOBAL_EXPEDITED </a:t>
            </a:r>
            <a:r>
              <a:rPr lang="zh-CN" altLang="en-US" sz="2400" dirty="0"/>
              <a:t>注册语义</a:t>
            </a:r>
          </a:p>
          <a:p>
            <a:endParaRPr kumimoji="1" lang="zh-CN" altLang="en-US" sz="2400" dirty="0"/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3F25869B-5412-28B1-47A5-3E833E432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292" y="7342706"/>
            <a:ext cx="11788938" cy="1660096"/>
          </a:xfrm>
          <a:prstGeom prst="rect">
            <a:avLst/>
          </a:prstGeom>
        </p:spPr>
      </p:pic>
      <p:pic>
        <p:nvPicPr>
          <p:cNvPr id="1026" name="Picture 2" descr="用户附件">
            <a:extLst>
              <a:ext uri="{FF2B5EF4-FFF2-40B4-BE49-F238E27FC236}">
                <a16:creationId xmlns:a16="http://schemas.microsoft.com/office/drawing/2014/main" id="{8D830D2D-967A-F838-7BD5-ACAD0BA84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292" y="4129079"/>
            <a:ext cx="11788938" cy="2756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9BA15B6-CE57-D79F-E8B6-FB658D2C84EF}"/>
              </a:ext>
            </a:extLst>
          </p:cNvPr>
          <p:cNvSpPr txBox="1"/>
          <p:nvPr/>
        </p:nvSpPr>
        <p:spPr>
          <a:xfrm>
            <a:off x="9003323" y="9345100"/>
            <a:ext cx="8962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修复结果：在 </a:t>
            </a:r>
            <a:r>
              <a:rPr kumimoji="1" lang="en-US" altLang="zh-CN" sz="2400" dirty="0"/>
              <a:t>1211 </a:t>
            </a:r>
            <a:r>
              <a:rPr kumimoji="1" lang="zh-CN" altLang="en-US" sz="2400" dirty="0"/>
              <a:t>号</a:t>
            </a:r>
            <a:r>
              <a:rPr kumimoji="1" lang="en-US" altLang="zh-CN" sz="2400" dirty="0"/>
              <a:t> PR</a:t>
            </a:r>
            <a:r>
              <a:rPr kumimoji="1" lang="zh-CN" altLang="en-US" sz="2400" dirty="0"/>
              <a:t> 时，内核相当完善，只修复这两个地方</a:t>
            </a:r>
            <a:r>
              <a:rPr kumimoji="1" lang="en-US" altLang="zh-CN" sz="2400" dirty="0"/>
              <a:t>	</a:t>
            </a:r>
            <a:r>
              <a:rPr kumimoji="1" lang="zh-CN" altLang="en-US" sz="2400" dirty="0"/>
              <a:t>       就自举编译成功了</a:t>
            </a:r>
          </a:p>
        </p:txBody>
      </p:sp>
    </p:spTree>
    <p:extLst>
      <p:ext uri="{BB962C8B-B14F-4D97-AF65-F5344CB8AC3E}">
        <p14:creationId xmlns:p14="http://schemas.microsoft.com/office/powerpoint/2010/main" val="2971097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350C02B6-17F7-E6F8-DD8E-C7E134170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18">
            <a:extLst>
              <a:ext uri="{FF2B5EF4-FFF2-40B4-BE49-F238E27FC236}">
                <a16:creationId xmlns:a16="http://schemas.microsoft.com/office/drawing/2014/main" id="{7C068B4E-3365-B60F-7740-98F74435C6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24756" y="-5527343"/>
            <a:ext cx="26896701" cy="268047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1247722-66DD-C45C-4E4C-5D5E676A1A16}"/>
              </a:ext>
            </a:extLst>
          </p:cNvPr>
          <p:cNvSpPr txBox="1"/>
          <p:nvPr/>
        </p:nvSpPr>
        <p:spPr>
          <a:xfrm>
            <a:off x="322489" y="319641"/>
            <a:ext cx="134465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问题</a:t>
            </a:r>
            <a:r>
              <a:rPr kumimoji="1" lang="zh-CN" altLang="en-US" sz="2800" b="1" dirty="0"/>
              <a:t>七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：</a:t>
            </a:r>
            <a:r>
              <a:rPr lang="zh-CN" altLang="en-US" sz="3200" b="1" dirty="0"/>
              <a:t> 最新分支 </a:t>
            </a:r>
            <a:r>
              <a:rPr lang="en-US" altLang="zh-CN" sz="3200" b="1" dirty="0"/>
              <a:t>1core/8jobs</a:t>
            </a:r>
            <a:r>
              <a:rPr lang="zh-CN" altLang="en-US" sz="3200" b="1" dirty="0"/>
              <a:t> 编译无法通过，</a:t>
            </a:r>
            <a:r>
              <a:rPr lang="en-US" altLang="zh-CN" sz="3200" b="1" dirty="0"/>
              <a:t>4core/4jobs</a:t>
            </a:r>
            <a:r>
              <a:rPr lang="zh-CN" altLang="en-US" sz="3200" b="1" dirty="0"/>
              <a:t>才能通过</a:t>
            </a:r>
            <a:endParaRPr lang="zh-CN" altLang="en-US" sz="2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AB9E608-D217-EA7B-40B8-E2FAEBB8FA7E}"/>
              </a:ext>
            </a:extLst>
          </p:cNvPr>
          <p:cNvSpPr txBox="1"/>
          <p:nvPr/>
        </p:nvSpPr>
        <p:spPr>
          <a:xfrm>
            <a:off x="556742" y="1385422"/>
            <a:ext cx="17531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问题描述：想要在相同的 </a:t>
            </a:r>
            <a:r>
              <a:rPr lang="en-US" altLang="zh-CN" sz="2400" dirty="0"/>
              <a:t>1core/8jobs</a:t>
            </a:r>
            <a:r>
              <a:rPr lang="zh-CN" altLang="en-US" sz="2400" dirty="0"/>
              <a:t> 的情况下比较编译速度，发现最新分支在 </a:t>
            </a:r>
            <a:r>
              <a:rPr lang="en-US" altLang="zh-CN" sz="2400" dirty="0"/>
              <a:t>1core/8jobs</a:t>
            </a:r>
            <a:r>
              <a:rPr lang="zh-CN" altLang="en-US" sz="2400" dirty="0"/>
              <a:t> 情况下编译无法通过，只有在 </a:t>
            </a:r>
            <a:r>
              <a:rPr lang="en-US" altLang="zh-CN" sz="2400" dirty="0"/>
              <a:t>4core/4jobs</a:t>
            </a:r>
            <a:r>
              <a:rPr lang="zh-CN" altLang="en-US" sz="2400" dirty="0"/>
              <a:t> 情况下才能够通过。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16E798-B9E7-3729-2625-2162C6B1E4F4}"/>
              </a:ext>
            </a:extLst>
          </p:cNvPr>
          <p:cNvSpPr txBox="1"/>
          <p:nvPr/>
        </p:nvSpPr>
        <p:spPr>
          <a:xfrm>
            <a:off x="166424" y="8542621"/>
            <a:ext cx="171977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修复方向：</a:t>
            </a:r>
          </a:p>
          <a:p>
            <a:endParaRPr lang="zh-CN" altLang="en-US" sz="2400" dirty="0"/>
          </a:p>
          <a:p>
            <a:r>
              <a:rPr lang="en-US" altLang="zh-CN" sz="2400" dirty="0"/>
              <a:t>	1.</a:t>
            </a:r>
            <a:r>
              <a:rPr lang="zh-CN" altLang="en-US" sz="2400" dirty="0"/>
              <a:t>补齐文件系统同步机制，脏页写回机制</a:t>
            </a:r>
            <a:r>
              <a:rPr lang="en-US" altLang="zh-CN" sz="2400" dirty="0"/>
              <a:t>	</a:t>
            </a:r>
          </a:p>
          <a:p>
            <a:r>
              <a:rPr lang="en-US" altLang="zh-CN" sz="2400" dirty="0"/>
              <a:t>	2.</a:t>
            </a:r>
            <a:r>
              <a:rPr lang="zh-CN" altLang="en-US" sz="2400" dirty="0"/>
              <a:t>移除一堆多次访问磁盘的元数据的操作。</a:t>
            </a:r>
          </a:p>
          <a:p>
            <a:endParaRPr kumimoji="1" lang="zh-CN" altLang="en-US" sz="2400" dirty="0"/>
          </a:p>
        </p:txBody>
      </p:sp>
      <p:pic>
        <p:nvPicPr>
          <p:cNvPr id="6" name="图片 5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BE39F85-E874-2051-6D43-FA4121F75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700" y="2725439"/>
            <a:ext cx="10794367" cy="360696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3A504E3-4EE0-F09E-EE3B-2718D26AF5EE}"/>
              </a:ext>
            </a:extLst>
          </p:cNvPr>
          <p:cNvSpPr txBox="1"/>
          <p:nvPr/>
        </p:nvSpPr>
        <p:spPr>
          <a:xfrm>
            <a:off x="556742" y="6365631"/>
            <a:ext cx="17186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尝试将之前补齐</a:t>
            </a:r>
            <a:r>
              <a:rPr kumimoji="1" lang="en-US" altLang="zh-CN" sz="2400" dirty="0"/>
              <a:t> IO</a:t>
            </a:r>
            <a:r>
              <a:rPr kumimoji="1" lang="zh-CN" altLang="en-US" sz="2400" dirty="0"/>
              <a:t> 操作语义的修改，直接应用到最新分支，</a:t>
            </a:r>
            <a:r>
              <a:rPr kumimoji="1" lang="en-US" altLang="zh-CN" sz="2400" dirty="0"/>
              <a:t>1core/8jobs </a:t>
            </a:r>
            <a:r>
              <a:rPr kumimoji="1" lang="zh-CN" altLang="en-US" sz="2400" dirty="0"/>
              <a:t>编译就不再卡死了。</a:t>
            </a:r>
            <a:endParaRPr kumimoji="1" lang="en-US" altLang="zh-CN" sz="2400" dirty="0"/>
          </a:p>
          <a:p>
            <a:pPr algn="l"/>
            <a:endParaRPr kumimoji="1" lang="en-US" altLang="zh-CN" sz="2400" dirty="0"/>
          </a:p>
          <a:p>
            <a:pPr algn="l"/>
            <a:r>
              <a:rPr kumimoji="1" lang="zh-CN" altLang="en-US" sz="2400" dirty="0"/>
              <a:t>分析：当前卡死的位置正处在文件系统，具有非常多的代码需要进行编译，里面具有非常多的依赖，</a:t>
            </a:r>
            <a:r>
              <a:rPr kumimoji="1" lang="en-US" altLang="zh-CN" sz="2400" dirty="0"/>
              <a:t>8jobs</a:t>
            </a:r>
            <a:r>
              <a:rPr kumimoji="1" lang="zh-CN" altLang="en-US" sz="2400" dirty="0"/>
              <a:t> 放大了同步的问题：</a:t>
            </a:r>
            <a:endParaRPr kumimoji="1" lang="en-US" altLang="zh-CN" sz="2400" dirty="0"/>
          </a:p>
          <a:p>
            <a:pPr algn="l"/>
            <a:r>
              <a:rPr kumimoji="1" lang="zh-CN" altLang="en-US" sz="2400" dirty="0"/>
              <a:t>具体是文件关闭时未在</a:t>
            </a:r>
            <a:r>
              <a:rPr kumimoji="1" lang="en-US" altLang="zh-CN" sz="2400" dirty="0"/>
              <a:t> Drop</a:t>
            </a:r>
            <a:r>
              <a:rPr kumimoji="1" lang="zh-CN" altLang="en-US" sz="2400" dirty="0"/>
              <a:t> 函数内写回脏数据；优先更新元数据，导致数据块修改还没落盘，就已经被别的线程拿到。</a:t>
            </a:r>
            <a:endParaRPr kumimoji="1" lang="en-US" altLang="zh-CN" sz="2400" dirty="0"/>
          </a:p>
          <a:p>
            <a:pPr algn="l"/>
            <a:r>
              <a:rPr kumimoji="1" lang="zh-CN" altLang="en-US" sz="2400" dirty="0"/>
              <a:t>竞态导致最终编译卡死在文件系统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28E2CB-393C-21C0-299A-D61682B92C87}"/>
              </a:ext>
            </a:extLst>
          </p:cNvPr>
          <p:cNvSpPr txBox="1"/>
          <p:nvPr/>
        </p:nvSpPr>
        <p:spPr>
          <a:xfrm>
            <a:off x="7315200" y="8767030"/>
            <a:ext cx="104276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编译结果：</a:t>
            </a:r>
            <a:endParaRPr kumimoji="1" lang="en-US" altLang="zh-CN" sz="2400" dirty="0"/>
          </a:p>
          <a:p>
            <a:pPr algn="l"/>
            <a:r>
              <a:rPr kumimoji="1" lang="en-US" altLang="zh-CN" sz="2400" dirty="0"/>
              <a:t>	</a:t>
            </a:r>
          </a:p>
          <a:p>
            <a:pPr algn="l"/>
            <a:r>
              <a:rPr kumimoji="1" lang="en-US" altLang="zh-CN" sz="2400" dirty="0"/>
              <a:t>	1core 8jobs</a:t>
            </a:r>
            <a:r>
              <a:rPr kumimoji="1" lang="zh-CN" altLang="en-US" sz="2400" dirty="0"/>
              <a:t> 跑完全流程，编译完成后也可以正常启动编译产物进入交互式界面</a:t>
            </a:r>
          </a:p>
        </p:txBody>
      </p:sp>
    </p:spTree>
    <p:extLst>
      <p:ext uri="{BB962C8B-B14F-4D97-AF65-F5344CB8AC3E}">
        <p14:creationId xmlns:p14="http://schemas.microsoft.com/office/powerpoint/2010/main" val="487521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200AEB19-1279-4765-4CEF-384BEC572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29">
            <a:extLst>
              <a:ext uri="{FF2B5EF4-FFF2-40B4-BE49-F238E27FC236}">
                <a16:creationId xmlns:a16="http://schemas.microsoft.com/office/drawing/2014/main" id="{8FD84D87-9AE7-0CCD-81B4-5EA93BCADF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409927" y="-1390926"/>
            <a:ext cx="29679900" cy="297089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501850C-5D4F-6C0A-BFB7-68EDB8929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248111"/>
              </p:ext>
            </p:extLst>
          </p:nvPr>
        </p:nvGraphicFramePr>
        <p:xfrm>
          <a:off x="2385646" y="5193669"/>
          <a:ext cx="13516708" cy="46101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79177">
                  <a:extLst>
                    <a:ext uri="{9D8B030D-6E8A-4147-A177-3AD203B41FA5}">
                      <a16:colId xmlns:a16="http://schemas.microsoft.com/office/drawing/2014/main" val="805645452"/>
                    </a:ext>
                  </a:extLst>
                </a:gridCol>
                <a:gridCol w="3379177">
                  <a:extLst>
                    <a:ext uri="{9D8B030D-6E8A-4147-A177-3AD203B41FA5}">
                      <a16:colId xmlns:a16="http://schemas.microsoft.com/office/drawing/2014/main" val="4190748857"/>
                    </a:ext>
                  </a:extLst>
                </a:gridCol>
                <a:gridCol w="3379177">
                  <a:extLst>
                    <a:ext uri="{9D8B030D-6E8A-4147-A177-3AD203B41FA5}">
                      <a16:colId xmlns:a16="http://schemas.microsoft.com/office/drawing/2014/main" val="3760003260"/>
                    </a:ext>
                  </a:extLst>
                </a:gridCol>
                <a:gridCol w="3379177">
                  <a:extLst>
                    <a:ext uri="{9D8B030D-6E8A-4147-A177-3AD203B41FA5}">
                      <a16:colId xmlns:a16="http://schemas.microsoft.com/office/drawing/2014/main" val="957564595"/>
                    </a:ext>
                  </a:extLst>
                </a:gridCol>
              </a:tblGrid>
              <a:tr h="4367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序号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effectLst/>
                        </a:rPr>
                        <a:t>实验分支</a:t>
                      </a:r>
                      <a:r>
                        <a:rPr lang="en-US" altLang="zh-CN" sz="2400" dirty="0">
                          <a:effectLst/>
                        </a:rPr>
                        <a:t>/</a:t>
                      </a:r>
                      <a:r>
                        <a:rPr lang="zh-CN" altLang="en-US" sz="2400" dirty="0">
                          <a:effectLst/>
                        </a:rPr>
                        <a:t>基线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运行配置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effectLst/>
                        </a:rPr>
                        <a:t>完整编译耗时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831090072"/>
                  </a:ext>
                </a:extLst>
              </a:tr>
              <a:tr h="447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effectLst/>
                        </a:rPr>
                        <a:t>1</a:t>
                      </a:r>
                      <a:endParaRPr lang="en" sz="24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PR1224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4 vCPU / 4 jobs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867s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02553127"/>
                  </a:ext>
                </a:extLst>
              </a:tr>
              <a:tr h="447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effectLst/>
                        </a:rPr>
                        <a:t>2</a:t>
                      </a:r>
                      <a:endParaRPr lang="en" sz="24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PR1224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1 vCPU / 1 job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1162s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763210911"/>
                  </a:ext>
                </a:extLst>
              </a:tr>
              <a:tr h="447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effectLst/>
                        </a:rPr>
                        <a:t>3</a:t>
                      </a:r>
                      <a:endParaRPr lang="en" sz="24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PR1224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1 vCPU / 4 jobs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871s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580489069"/>
                  </a:ext>
                </a:extLst>
              </a:tr>
              <a:tr h="447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effectLst/>
                        </a:rPr>
                        <a:t>4</a:t>
                      </a:r>
                      <a:endParaRPr lang="en" sz="24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PR1224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2 vCPU / 4 jobs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875s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082159982"/>
                  </a:ext>
                </a:extLst>
              </a:tr>
              <a:tr h="447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effectLst/>
                        </a:rPr>
                        <a:t>5</a:t>
                      </a:r>
                      <a:endParaRPr lang="en" sz="24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PR1224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1 vCPU / 8 jobs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809s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708995525"/>
                  </a:ext>
                </a:extLst>
              </a:tr>
              <a:tr h="447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effectLst/>
                        </a:rPr>
                        <a:t>6</a:t>
                      </a:r>
                      <a:endParaRPr lang="en" sz="24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PR199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1 vCPU / 8 jobs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635s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65550361"/>
                  </a:ext>
                </a:extLst>
              </a:tr>
              <a:tr h="447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effectLst/>
                        </a:rPr>
                        <a:t>7</a:t>
                      </a:r>
                      <a:endParaRPr lang="en" sz="24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newest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4 vCPU / 4 jobs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1303s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08669663"/>
                  </a:ext>
                </a:extLst>
              </a:tr>
              <a:tr h="447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effectLst/>
                        </a:rPr>
                        <a:t>8</a:t>
                      </a:r>
                      <a:endParaRPr lang="en" sz="24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newest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4 vCPU / 4 jobs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1041s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976724825"/>
                  </a:ext>
                </a:extLst>
              </a:tr>
              <a:tr h="447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effectLst/>
                        </a:rPr>
                        <a:t>9</a:t>
                      </a:r>
                      <a:endParaRPr lang="en" sz="24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effectLst/>
                        </a:rPr>
                        <a:t>newest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1 vCPU / 8 jobs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effectLst/>
                        </a:rPr>
                        <a:t>948s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175061011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82B54570-5239-43B1-87F9-C0EB279A1BAF}"/>
              </a:ext>
            </a:extLst>
          </p:cNvPr>
          <p:cNvSpPr txBox="1"/>
          <p:nvPr/>
        </p:nvSpPr>
        <p:spPr>
          <a:xfrm>
            <a:off x="580292" y="840877"/>
            <a:ext cx="5679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800" b="1" dirty="0"/>
              <a:t>不同版本的对比与分析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CCBAFC-8903-786F-ACD7-491E1D97B72A}"/>
              </a:ext>
            </a:extLst>
          </p:cNvPr>
          <p:cNvSpPr txBox="1"/>
          <p:nvPr/>
        </p:nvSpPr>
        <p:spPr>
          <a:xfrm>
            <a:off x="2385646" y="1670539"/>
            <a:ext cx="14032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以不同时间点的</a:t>
            </a:r>
            <a:r>
              <a:rPr kumimoji="1" lang="en-US" altLang="zh-CN" sz="2400" dirty="0"/>
              <a:t> dev</a:t>
            </a:r>
            <a:r>
              <a:rPr kumimoji="1" lang="zh-CN" altLang="en-US" sz="2400" dirty="0"/>
              <a:t> 分支为基准点进行修复并且可以编译成功之后，得到的结果如下表所示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B2BACE-E471-0BFA-B400-339C086710C3}"/>
              </a:ext>
            </a:extLst>
          </p:cNvPr>
          <p:cNvSpPr txBox="1"/>
          <p:nvPr/>
        </p:nvSpPr>
        <p:spPr>
          <a:xfrm>
            <a:off x="2385646" y="2373923"/>
            <a:ext cx="1242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/>
              <a:t>6 </a:t>
            </a:r>
            <a:r>
              <a:rPr kumimoji="1" lang="zh-CN" altLang="en-US" sz="2400" dirty="0"/>
              <a:t>号结果是最快的，其次是 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 号结果，</a:t>
            </a:r>
            <a:r>
              <a:rPr kumimoji="1" lang="en-US" altLang="zh-CN" sz="2400" dirty="0"/>
              <a:t>9 </a:t>
            </a:r>
            <a:r>
              <a:rPr kumimoji="1" lang="zh-CN" altLang="en-US" sz="2400" dirty="0"/>
              <a:t>号结果次之，</a:t>
            </a:r>
            <a:r>
              <a:rPr kumimoji="1" lang="en-US" altLang="zh-CN" sz="2400" dirty="0"/>
              <a:t>7 </a:t>
            </a:r>
            <a:r>
              <a:rPr kumimoji="1" lang="zh-CN" altLang="en-US" sz="2400" dirty="0"/>
              <a:t>号分支是最慢的。</a:t>
            </a:r>
            <a:endParaRPr kumimoji="1" lang="en-US" altLang="zh-CN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292A2-3D66-7D09-3F61-B16F93508772}"/>
              </a:ext>
            </a:extLst>
          </p:cNvPr>
          <p:cNvSpPr txBox="1"/>
          <p:nvPr/>
        </p:nvSpPr>
        <p:spPr>
          <a:xfrm>
            <a:off x="2385646" y="2835588"/>
            <a:ext cx="143900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AutoNum type="arabicPeriod"/>
            </a:pPr>
            <a:r>
              <a:rPr kumimoji="1" lang="zh-CN" altLang="en-US" sz="2400" dirty="0"/>
              <a:t>最快的配置是 </a:t>
            </a:r>
            <a:r>
              <a:rPr kumimoji="1" lang="en-US" altLang="zh-CN" sz="2400" dirty="0"/>
              <a:t>1core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8jobs</a:t>
            </a:r>
            <a:r>
              <a:rPr kumimoji="1" lang="zh-CN" altLang="en-US" sz="2400" dirty="0"/>
              <a:t>。表明即使是在支持多核的情况下，多核和单核性能几乎</a:t>
            </a:r>
            <a:r>
              <a:rPr kumimoji="1" lang="zh-CN" altLang="en-US" sz="2400" b="1" dirty="0"/>
              <a:t>没差距</a:t>
            </a:r>
            <a:r>
              <a:rPr kumimoji="1" lang="zh-CN" altLang="en-US" sz="2400" dirty="0"/>
              <a:t>。</a:t>
            </a:r>
            <a:endParaRPr kumimoji="1" lang="en-US" altLang="zh-CN" sz="2400" dirty="0"/>
          </a:p>
          <a:p>
            <a:pPr marL="457200" indent="-457200" algn="l">
              <a:buAutoNum type="arabicPeriod"/>
            </a:pPr>
            <a:r>
              <a:rPr kumimoji="1" lang="zh-CN" altLang="en-US" sz="2400" dirty="0"/>
              <a:t>简单的分析：单核运行可以减少上下文切换，同步互斥锁的开销，</a:t>
            </a:r>
            <a:r>
              <a:rPr kumimoji="1" lang="en-US" altLang="zh-CN" sz="2400" dirty="0"/>
              <a:t>I/O </a:t>
            </a:r>
            <a:r>
              <a:rPr kumimoji="1" lang="zh-CN" altLang="en-US" sz="2400" dirty="0"/>
              <a:t>读写阻塞的开销等</a:t>
            </a:r>
            <a:endParaRPr kumimoji="1" lang="en-US" altLang="zh-CN" sz="2400" dirty="0"/>
          </a:p>
          <a:p>
            <a:pPr marL="457200" indent="-457200" algn="l">
              <a:buAutoNum type="arabicPeriod"/>
            </a:pPr>
            <a:r>
              <a:rPr kumimoji="1" lang="en-US" altLang="zh-CN" sz="2400" b="1" dirty="0"/>
              <a:t>7</a:t>
            </a:r>
            <a:r>
              <a:rPr kumimoji="1" lang="zh-CN" altLang="en-US" sz="2400" b="1" dirty="0"/>
              <a:t> 号 结果和 </a:t>
            </a:r>
            <a:r>
              <a:rPr kumimoji="1" lang="en-US" altLang="zh-CN" sz="2400" b="1" dirty="0"/>
              <a:t>8</a:t>
            </a:r>
            <a:r>
              <a:rPr kumimoji="1" lang="zh-CN" altLang="en-US" sz="2400" b="1" dirty="0"/>
              <a:t> 号</a:t>
            </a:r>
            <a:r>
              <a:rPr kumimoji="1" lang="zh-CN" altLang="en-US" sz="2400" dirty="0"/>
              <a:t>结果对比相差 </a:t>
            </a:r>
            <a:r>
              <a:rPr kumimoji="1" lang="en-US" altLang="zh-CN" sz="2400" dirty="0"/>
              <a:t>300s</a:t>
            </a:r>
            <a:r>
              <a:rPr kumimoji="1" lang="zh-CN" altLang="en-US" sz="2400" dirty="0"/>
              <a:t>，是因为 </a:t>
            </a:r>
            <a:r>
              <a:rPr kumimoji="1" lang="en-US" altLang="zh-CN" sz="2400" dirty="0"/>
              <a:t>8 </a:t>
            </a:r>
            <a:r>
              <a:rPr kumimoji="1" lang="zh-CN" altLang="en-US" sz="2400" dirty="0"/>
              <a:t>号结果在 </a:t>
            </a:r>
            <a:r>
              <a:rPr kumimoji="1" lang="en-US" altLang="zh-CN" sz="2400" dirty="0"/>
              <a:t>7 </a:t>
            </a:r>
            <a:r>
              <a:rPr kumimoji="1" lang="zh-CN" altLang="en-US" sz="2400" dirty="0"/>
              <a:t>号结果的基础下，修改了文件</a:t>
            </a:r>
            <a:r>
              <a:rPr kumimoji="1" lang="en-US" altLang="zh-CN" sz="2400" dirty="0"/>
              <a:t> I/O,</a:t>
            </a:r>
            <a:r>
              <a:rPr kumimoji="1" lang="zh-CN" altLang="en-US" sz="2400" dirty="0"/>
              <a:t>减少了元数据修改每次都会访问磁盘。</a:t>
            </a:r>
          </a:p>
        </p:txBody>
      </p:sp>
    </p:spTree>
    <p:extLst>
      <p:ext uri="{BB962C8B-B14F-4D97-AF65-F5344CB8AC3E}">
        <p14:creationId xmlns:p14="http://schemas.microsoft.com/office/powerpoint/2010/main" val="1559662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76099EF2-0BCE-9E4F-982A-089A6F4C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29">
            <a:extLst>
              <a:ext uri="{FF2B5EF4-FFF2-40B4-BE49-F238E27FC236}">
                <a16:creationId xmlns:a16="http://schemas.microsoft.com/office/drawing/2014/main" id="{1B897A5D-1D5A-A85D-9AFC-C6A36EDF9A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85774" y="-11115219"/>
            <a:ext cx="29679900" cy="297089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715C459-8BD5-E8E7-7460-01D9C0469DD3}"/>
              </a:ext>
            </a:extLst>
          </p:cNvPr>
          <p:cNvSpPr txBox="1"/>
          <p:nvPr/>
        </p:nvSpPr>
        <p:spPr>
          <a:xfrm>
            <a:off x="3692769" y="3743116"/>
            <a:ext cx="1025183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8800" dirty="0"/>
              <a:t>感谢聆听</a:t>
            </a:r>
            <a:endParaRPr kumimoji="1" lang="en-US" altLang="zh-CN" sz="8800" dirty="0"/>
          </a:p>
          <a:p>
            <a:pPr algn="ctr"/>
            <a:r>
              <a:rPr kumimoji="1" lang="zh-CN" altLang="en-US" sz="8800" dirty="0"/>
              <a:t>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449404967"/>
      </p:ext>
    </p:extLst>
  </p:cSld>
  <p:clrMapOvr>
    <a:masterClrMapping/>
  </p:clrMapOvr>
</p:sld>
</file>

<file path=ppt/theme/theme1.xml><?xml version="1.0" encoding="utf-8"?>
<a:theme xmlns:a="http://schemas.openxmlformats.org/drawingml/2006/main" name="Best Places to Go Backpacking">
  <a:themeElements>
    <a:clrScheme name="Office">
      <a:dk1>
        <a:srgbClr val="000000"/>
      </a:dk1>
      <a:lt1>
        <a:srgbClr val="FFFFFF"/>
      </a:lt1>
      <a:dk2>
        <a:srgbClr val="49616B"/>
      </a:dk2>
      <a:lt2>
        <a:srgbClr val="384A52"/>
      </a:lt2>
      <a:accent1>
        <a:srgbClr val="627F8B"/>
      </a:accent1>
      <a:accent2>
        <a:srgbClr val="B1BFC5"/>
      </a:accent2>
      <a:accent3>
        <a:srgbClr val="395F60"/>
      </a:accent3>
      <a:accent4>
        <a:srgbClr val="D1DAD9"/>
      </a:accent4>
      <a:accent5>
        <a:srgbClr val="D2DAD9"/>
      </a:accent5>
      <a:accent6>
        <a:srgbClr val="888888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6392</TotalTime>
  <Words>4208</Words>
  <Application>Microsoft Macintosh PowerPoint</Application>
  <PresentationFormat>自定义</PresentationFormat>
  <Paragraphs>398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SimHei</vt:lpstr>
      <vt:lpstr>Archivo Black</vt:lpstr>
      <vt:lpstr>Arial</vt:lpstr>
      <vt:lpstr>Consolas</vt:lpstr>
      <vt:lpstr>Calibri</vt:lpstr>
      <vt:lpstr>Montserrat</vt:lpstr>
      <vt:lpstr>Best Places to Go Backpacking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1301182193@qq.com</cp:lastModifiedBy>
  <cp:revision>26</cp:revision>
  <dcterms:modified xsi:type="dcterms:W3CDTF">2026-06-30T07:10:07Z</dcterms:modified>
</cp:coreProperties>
</file>